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c94975e0f74681" /><Relationship Type="http://schemas.openxmlformats.org/officeDocument/2006/relationships/extended-properties" Target="/docProps/app.xml" Id="R3defc9352d374a79" /><Relationship Type="http://schemas.openxmlformats.org/officeDocument/2006/relationships/officeDocument" Target="/ppt/presentation.xml" Id="R7946893daf8e4a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bcea4f1f184c19"/>
  </p:sldMasterIdLst>
  <p:notesMasterIdLst>
    <p:notesMasterId xmlns:r="http://schemas.openxmlformats.org/officeDocument/2006/relationships" r:id="R1d8b8d0e826e496a"/>
  </p:notesMasterIdLst>
  <p:sldIdLst>
    <p:sldId xmlns:r="http://schemas.openxmlformats.org/officeDocument/2006/relationships" id="256" r:id="R86ce957636c54b2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08148dba80460f" /><Relationship Type="http://schemas.openxmlformats.org/officeDocument/2006/relationships/slideMaster" Target="/ppt/slideMasters/slideMaster1.xml" Id="R7abcea4f1f184c19" /><Relationship Type="http://schemas.openxmlformats.org/officeDocument/2006/relationships/notesMaster" Target="/ppt/notesMasters/notesMaster1.xml" Id="R1d8b8d0e826e496a" /><Relationship Type="http://schemas.openxmlformats.org/officeDocument/2006/relationships/presProps" Target="/ppt/presProps.xml" Id="R5a49c5f9c77d4c29" /><Relationship Type="http://schemas.openxmlformats.org/officeDocument/2006/relationships/tableStyles" Target="/ppt/tableStyles.xml" Id="Ra54c1186570b41fc" /><Relationship Type="http://schemas.openxmlformats.org/officeDocument/2006/relationships/slide" Target="/ppt/slides/slide1.xml" Id="R86ce957636c54b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1706bff9c440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2657d3436c433c" /><Relationship Type="http://schemas.openxmlformats.org/officeDocument/2006/relationships/notesMaster" Target="/ppt/notesMasters/notesMaster1.xml" Id="R7c504e9dd63f4d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版结构图依据当前课题实现与用户确认内容重绘。上层采用状态、MAPPO模型、动作的统一层级；下层删除高斯采样等训练细节；阻力参数识别结果作为列车动力学模型输入。所有模块、文字和箭头均为可编辑原生PPT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76a7ad0e7a47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6ce6d0c6164b65" /><Relationship Type="http://schemas.openxmlformats.org/officeDocument/2006/relationships/slideLayout" Target="/ppt/slideLayouts/slideLayout1.xml" Id="R437761edabf34e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7761edabf34e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bef9b2965488c" /><Relationship Type="http://schemas.openxmlformats.org/officeDocument/2006/relationships/notesSlide" Target="/ppt/notesSlides/notesSlide1.xml" Id="R1715916b63b64a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upper-MAPPO">
            <a:extLst xmlns:a="http://schemas.openxmlformats.org/drawingml/2006/main">
              <a:ext uri="{FF2B5EF4-FFF2-40B4-BE49-F238E27FC236}">
                <a16:creationId xmlns:a16="http://schemas.microsoft.com/office/drawing/2014/main" id="{C1B26FCD-E8CD-4481-A5FA-6E8847E3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1000"/>
            <a:ext cx="10572750" cy="2152650"/>
          </a:xfrm>
          <a:prstGeom xmlns:a="http://schemas.openxmlformats.org/drawingml/2006/main" prst="roundRect">
            <a:avLst>
              <a:gd name="adj" fmla="val 9735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DDEFFF"/>
              </a:gs>
            </a:gsLst>
            <a:lin ang="0"/>
          </a:gradFill>
          <a:ln xmlns:a="http://schemas.openxmlformats.org/drawingml/2006/main" w="38100">
            <a:solidFill>
              <a:srgbClr val="1368AA"/>
            </a:solidFill>
            <a:prstDash val="solid"/>
          </a:ln>
        </p:spPr>
      </p:sp>
      <p:sp>
        <p:nvSpPr>
          <p:cNvPr id="2" name="upper-header">
            <a:extLst xmlns:a="http://schemas.openxmlformats.org/drawingml/2006/main">
              <a:ext uri="{FF2B5EF4-FFF2-40B4-BE49-F238E27FC236}">
                <a16:creationId xmlns:a16="http://schemas.microsoft.com/office/drawing/2014/main" id="{F2F6B1C8-5873-4D6F-8A75-2D51076A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19100"/>
            <a:ext cx="10496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433D9-CBEF-4ED8-AF18-02AEE7F5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720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上层：多列车时刻表规划（MAPPO）</a:t>
            </a:r>
          </a:p>
        </p:txBody>
      </p:sp>
      <p:sp>
        <p:nvSpPr>
          <p:cNvPr id="4" name="上层观测状态">
            <a:extLst xmlns:a="http://schemas.openxmlformats.org/drawingml/2006/main">
              <a:ext uri="{FF2B5EF4-FFF2-40B4-BE49-F238E27FC236}">
                <a16:creationId xmlns:a16="http://schemas.microsoft.com/office/drawing/2014/main" id="{73AB3C97-10CC-4F93-A299-A555DB7E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200150"/>
            <a:ext cx="3371850" cy="1066800"/>
          </a:xfrm>
          <a:prstGeom xmlns:a="http://schemas.openxmlformats.org/drawingml/2006/main" prst="roundRect">
            <a:avLst>
              <a:gd name="adj" fmla="val 12500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4FF"/>
              </a:gs>
            </a:gsLst>
            <a:lin ang="0"/>
          </a:gradFill>
          <a:ln xmlns:a="http://schemas.openxmlformats.org/drawingml/2006/main" w="19050">
            <a:solidFill>
              <a:srgbClr val="1368AA"/>
            </a:solidFill>
            <a:prstDash val="solid"/>
          </a:ln>
        </p:spPr>
      </p:sp>
      <p:sp>
        <p:nvSpPr>
          <p:cNvPr id="5" name="上层观测状态-header">
            <a:extLst xmlns:a="http://schemas.openxmlformats.org/drawingml/2006/main">
              <a:ext uri="{FF2B5EF4-FFF2-40B4-BE49-F238E27FC236}">
                <a16:creationId xmlns:a16="http://schemas.microsoft.com/office/drawing/2014/main" id="{0584D4AD-BEEC-43A8-AB36-86C2E0B5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上层观测状态-title">
            <a:extLst xmlns:a="http://schemas.openxmlformats.org/drawingml/2006/main">
              <a:ext uri="{FF2B5EF4-FFF2-40B4-BE49-F238E27FC236}">
                <a16:creationId xmlns:a16="http://schemas.microsoft.com/office/drawing/2014/main" id="{BC14BF5A-D1F1-4680-95A6-3BD680BD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2192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上层观测状态</a:t>
            </a:r>
          </a:p>
        </p:txBody>
      </p:sp>
      <p:sp>
        <p:nvSpPr>
          <p:cNvPr id="7" name="上层观测状态-body">
            <a:extLst xmlns:a="http://schemas.openxmlformats.org/drawingml/2006/main">
              <a:ext uri="{FF2B5EF4-FFF2-40B4-BE49-F238E27FC236}">
                <a16:creationId xmlns:a16="http://schemas.microsoft.com/office/drawing/2014/main" id="{0417DF8B-69BA-4459-A14A-5653DBF9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47825"/>
            <a:ext cx="3181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86806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当前到发时刻、前后车间隔</a:t>
            </a:r>
          </a:p>
          <a:p xmlns:a="http://schemas.openxmlformats.org/drawingml/2006/main">
            <a:pPr algn="ctr">
              <a:def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供电分区与能量状态</a:t>
            </a:r>
          </a:p>
          <a:p xmlns:a="http://schemas.openxmlformats.org/drawingml/2006/main">
            <a:pPr algn="ctr">
              <a:def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上一站间运行反馈</a:t>
            </a:r>
          </a:p>
        </p:txBody>
      </p:sp>
      <p:sp>
        <p:nvSpPr>
          <p:cNvPr id="8" name="MAPPO决策模型">
            <a:extLst xmlns:a="http://schemas.openxmlformats.org/drawingml/2006/main">
              <a:ext uri="{FF2B5EF4-FFF2-40B4-BE49-F238E27FC236}">
                <a16:creationId xmlns:a16="http://schemas.microsoft.com/office/drawing/2014/main" id="{7721AEFE-E880-49B8-BE9E-1C8693CA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200150"/>
            <a:ext cx="2381250" cy="1066800"/>
          </a:xfrm>
          <a:prstGeom xmlns:a="http://schemas.openxmlformats.org/drawingml/2006/main" prst="roundRect">
            <a:avLst>
              <a:gd name="adj" fmla="val 12500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4FF"/>
              </a:gs>
            </a:gsLst>
            <a:lin ang="0"/>
          </a:gradFill>
          <a:ln xmlns:a="http://schemas.openxmlformats.org/drawingml/2006/main" w="19050">
            <a:solidFill>
              <a:srgbClr val="1368AA"/>
            </a:solidFill>
            <a:prstDash val="solid"/>
          </a:ln>
        </p:spPr>
      </p:sp>
      <p:sp>
        <p:nvSpPr>
          <p:cNvPr id="9" name="MAPPO决策模型-header">
            <a:extLst xmlns:a="http://schemas.openxmlformats.org/drawingml/2006/main">
              <a:ext uri="{FF2B5EF4-FFF2-40B4-BE49-F238E27FC236}">
                <a16:creationId xmlns:a16="http://schemas.microsoft.com/office/drawing/2014/main" id="{30F401D2-05DE-407A-8652-A45A0FBD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219200"/>
            <a:ext cx="2343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APPO决策模型-title">
            <a:extLst xmlns:a="http://schemas.openxmlformats.org/drawingml/2006/main">
              <a:ext uri="{FF2B5EF4-FFF2-40B4-BE49-F238E27FC236}">
                <a16:creationId xmlns:a16="http://schemas.microsoft.com/office/drawing/2014/main" id="{969910F4-72FB-4538-86D0-F708375D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2192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MAPPO决策模型</a:t>
            </a:r>
          </a:p>
        </p:txBody>
      </p:sp>
      <p:sp>
        <p:nvSpPr>
          <p:cNvPr id="11" name="MAPPO决策模型-body">
            <a:extLst xmlns:a="http://schemas.openxmlformats.org/drawingml/2006/main">
              <a:ext uri="{FF2B5EF4-FFF2-40B4-BE49-F238E27FC236}">
                <a16:creationId xmlns:a16="http://schemas.microsoft.com/office/drawing/2014/main" id="{AF66CA04-BA7E-401A-BDFD-4CAEFAD5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478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分散 Actor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集中 Critic</a:t>
            </a:r>
          </a:p>
        </p:txBody>
      </p:sp>
      <p:sp>
        <p:nvSpPr>
          <p:cNvPr id="12" name="时刻表调整动作">
            <a:extLst xmlns:a="http://schemas.openxmlformats.org/drawingml/2006/main">
              <a:ext uri="{FF2B5EF4-FFF2-40B4-BE49-F238E27FC236}">
                <a16:creationId xmlns:a16="http://schemas.microsoft.com/office/drawing/2014/main" id="{27FD6FCD-8546-47FE-875B-D55ECB12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200150"/>
            <a:ext cx="3333750" cy="1066800"/>
          </a:xfrm>
          <a:prstGeom xmlns:a="http://schemas.openxmlformats.org/drawingml/2006/main" prst="roundRect">
            <a:avLst>
              <a:gd name="adj" fmla="val 12500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4FF"/>
              </a:gs>
            </a:gsLst>
            <a:lin ang="0"/>
          </a:gradFill>
          <a:ln xmlns:a="http://schemas.openxmlformats.org/drawingml/2006/main" w="19050">
            <a:solidFill>
              <a:srgbClr val="1368AA"/>
            </a:solidFill>
            <a:prstDash val="solid"/>
          </a:ln>
        </p:spPr>
      </p:sp>
      <p:sp>
        <p:nvSpPr>
          <p:cNvPr id="13" name="时刻表调整动作-header">
            <a:extLst xmlns:a="http://schemas.openxmlformats.org/drawingml/2006/main">
              <a:ext uri="{FF2B5EF4-FFF2-40B4-BE49-F238E27FC236}">
                <a16:creationId xmlns:a16="http://schemas.microsoft.com/office/drawing/2014/main" id="{69179A23-ED32-48F1-B8A4-8D14C1AD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219200"/>
            <a:ext cx="3295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时刻表调整动作-title">
            <a:extLst xmlns:a="http://schemas.openxmlformats.org/drawingml/2006/main">
              <a:ext uri="{FF2B5EF4-FFF2-40B4-BE49-F238E27FC236}">
                <a16:creationId xmlns:a16="http://schemas.microsoft.com/office/drawing/2014/main" id="{184BAD3A-8DA2-4E14-93A0-366591D3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1920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时刻表调整动作</a:t>
            </a:r>
          </a:p>
        </p:txBody>
      </p:sp>
      <p:sp>
        <p:nvSpPr>
          <p:cNvPr id="15" name="时刻表调整动作-body">
            <a:extLst xmlns:a="http://schemas.openxmlformats.org/drawingml/2006/main">
              <a:ext uri="{FF2B5EF4-FFF2-40B4-BE49-F238E27FC236}">
                <a16:creationId xmlns:a16="http://schemas.microsoft.com/office/drawing/2014/main" id="{04D868AE-8F06-4912-9B7E-E4972E21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4782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停站时间调整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形成新的发车时刻</a:t>
            </a:r>
          </a:p>
        </p:txBody>
      </p:sp>
      <p:cxnSp>
        <p:nvCxnSpPr>
          <p:cNvPr id="96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019800" y="17335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68AA"/>
            </a:solidFill>
            <a:prstDash val="solid"/>
            <a:tailEnd type="triangle" w="med" len="med"/>
          </a:ln>
        </p:spPr>
      </p:cxnSp>
      <p:cxnSp>
        <p:nvCxnSpPr>
          <p:cNvPr id="97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810625" y="17335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68AA"/>
            </a:solidFill>
            <a:prstDash val="solid"/>
            <a:tailEnd type="triangle" w="med" len="med"/>
          </a:ln>
        </p:spPr>
      </p:cxnSp>
      <p:sp>
        <p:nvSpPr>
          <p:cNvPr id="18" name="upper-state-to-model">
            <a:extLst xmlns:a="http://schemas.openxmlformats.org/drawingml/2006/main">
              <a:ext uri="{FF2B5EF4-FFF2-40B4-BE49-F238E27FC236}">
                <a16:creationId xmlns:a16="http://schemas.microsoft.com/office/drawing/2014/main" id="{5C7BD108-B896-495F-9431-F0FF621F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600200"/>
            <a:ext cx="304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68AA"/>
          </a:solidFill>
          <a:ln xmlns:a="http://schemas.openxmlformats.org/drawingml/2006/main" w="9525">
            <a:solidFill>
              <a:srgbClr val="1368AA"/>
            </a:solidFill>
            <a:prstDash val="solid"/>
          </a:ln>
        </p:spPr>
      </p:sp>
      <p:sp>
        <p:nvSpPr>
          <p:cNvPr id="19" name="upper-model-to-action">
            <a:extLst xmlns:a="http://schemas.openxmlformats.org/drawingml/2006/main">
              <a:ext uri="{FF2B5EF4-FFF2-40B4-BE49-F238E27FC236}">
                <a16:creationId xmlns:a16="http://schemas.microsoft.com/office/drawing/2014/main" id="{5C18EF74-5F82-4FCC-85C7-52C63BCB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00200"/>
            <a:ext cx="304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68AA"/>
          </a:solidFill>
          <a:ln xmlns:a="http://schemas.openxmlformats.org/drawingml/2006/main" w="9525">
            <a:solidFill>
              <a:srgbClr val="1368AA"/>
            </a:solidFill>
            <a:prstDash val="solid"/>
          </a:ln>
        </p:spPr>
      </p:sp>
      <p:sp>
        <p:nvSpPr>
          <p:cNvPr id="20" name="dispatch-arrow">
            <a:extLst xmlns:a="http://schemas.openxmlformats.org/drawingml/2006/main">
              <a:ext uri="{FF2B5EF4-FFF2-40B4-BE49-F238E27FC236}">
                <a16:creationId xmlns:a16="http://schemas.microsoft.com/office/drawing/2014/main" id="{E7D28049-E346-4085-AC00-8A2AE9B0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552450" cy="1485900"/>
          </a:xfrm>
          <a:prstGeom xmlns:a="http://schemas.openxmlformats.org/drawingml/2006/main" prst="downArrow">
            <a:avLst/>
          </a:prstGeom>
          <a:gradFill xmlns:a="http://schemas.openxmlformats.org/drawingml/2006/main">
            <a:gsLst>
              <a:gs pos="0">
                <a:srgbClr val="53B8F5"/>
              </a:gs>
              <a:gs pos="100000">
                <a:srgbClr val="1B88D8"/>
              </a:gs>
            </a:gsLst>
            <a:lin ang="5400000"/>
          </a:gradFill>
          <a:ln xmlns:a="http://schemas.openxmlformats.org/drawingml/2006/main" w="9525">
            <a:gradFill>
              <a:gsLst>
                <a:gs pos="0">
                  <a:srgbClr val="53B8F5"/>
                </a:gs>
                <a:gs pos="100000">
                  <a:srgbClr val="1B88D8"/>
                </a:gs>
              </a:gsLst>
              <a:lin ang="5400000"/>
            </a:gradFill>
            <a:prstDash val="solid"/>
          </a:ln>
        </p:spPr>
      </p:sp>
      <p:sp>
        <p:nvSpPr>
          <p:cNvPr id="21" name="dispatch-label">
            <a:extLst xmlns:a="http://schemas.openxmlformats.org/drawingml/2006/main">
              <a:ext uri="{FF2B5EF4-FFF2-40B4-BE49-F238E27FC236}">
                <a16:creationId xmlns:a16="http://schemas.microsoft.com/office/drawing/2014/main" id="{69FE34CE-8508-41DC-B0FC-B12D0313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14650"/>
            <a:ext cx="31051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4FAFF"/>
          </a:solidFill>
          <a:ln xmlns:a="http://schemas.openxmlformats.org/drawingml/2006/main" w="19050">
            <a:solidFill>
              <a:srgbClr val="2196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AE17F2-4CC3-4D6D-BD14-DECF4664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81325"/>
            <a:ext cx="2876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下发</a:t>
            </a:r>
          </a:p>
          <a:p xmlns:a="http://schemas.openxmlformats.org/drawingml/2006/main">
            <a:pPr algn="l">
              <a:defRPr sz="13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目标站间运行时间、停站时间与发车约束</a:t>
            </a:r>
          </a:p>
        </p:txBody>
      </p:sp>
      <p:sp>
        <p:nvSpPr>
          <p:cNvPr id="23" name="feedback-arrow">
            <a:extLst xmlns:a="http://schemas.openxmlformats.org/drawingml/2006/main">
              <a:ext uri="{FF2B5EF4-FFF2-40B4-BE49-F238E27FC236}">
                <a16:creationId xmlns:a16="http://schemas.microsoft.com/office/drawing/2014/main" id="{AEC50A0C-4D56-47C7-9855-FC0ECFE2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552450" cy="1447800"/>
          </a:xfrm>
          <a:prstGeom xmlns:a="http://schemas.openxmlformats.org/drawingml/2006/main" prst="upArrow">
            <a:avLst/>
          </a:prstGeom>
          <a:gradFill xmlns:a="http://schemas.openxmlformats.org/drawingml/2006/main">
            <a:gsLst>
              <a:gs pos="0">
                <a:srgbClr val="FFB15B"/>
              </a:gs>
              <a:gs pos="100000">
                <a:srgbClr val="F47B20"/>
              </a:gs>
            </a:gsLst>
            <a:lin ang="5400000"/>
          </a:gradFill>
          <a:ln xmlns:a="http://schemas.openxmlformats.org/drawingml/2006/main" w="9525">
            <a:gradFill>
              <a:gsLst>
                <a:gs pos="0">
                  <a:srgbClr val="FFB15B"/>
                </a:gs>
                <a:gs pos="100000">
                  <a:srgbClr val="F47B20"/>
                </a:gs>
              </a:gsLst>
              <a:lin ang="5400000"/>
            </a:gradFill>
            <a:prstDash val="solid"/>
          </a:ln>
        </p:spPr>
      </p:sp>
      <p:sp>
        <p:nvSpPr>
          <p:cNvPr id="24" name="feedback-label">
            <a:extLst xmlns:a="http://schemas.openxmlformats.org/drawingml/2006/main">
              <a:ext uri="{FF2B5EF4-FFF2-40B4-BE49-F238E27FC236}">
                <a16:creationId xmlns:a16="http://schemas.microsoft.com/office/drawing/2014/main" id="{4C060B3F-CB45-4B09-8D7B-98046E94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14650"/>
            <a:ext cx="31813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9050">
            <a:solidFill>
              <a:srgbClr val="F47B2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1DAECA-EDA7-4FC6-940D-D45B6C38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81325"/>
            <a:ext cx="2952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  <a:p xmlns:a="http://schemas.openxmlformats.org/drawingml/2006/main">
            <a:pPr algn="l">
              <a:defRPr sz="135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实际运行时间、牵引/再生能量、可行性与安全指标</a:t>
            </a:r>
          </a:p>
        </p:txBody>
      </p:sp>
      <p:sp>
        <p:nvSpPr>
          <p:cNvPr id="26" name="lower-SAC">
            <a:extLst xmlns:a="http://schemas.openxmlformats.org/drawingml/2006/main">
              <a:ext uri="{FF2B5EF4-FFF2-40B4-BE49-F238E27FC236}">
                <a16:creationId xmlns:a16="http://schemas.microsoft.com/office/drawing/2014/main" id="{CB46EC4C-8E6E-412B-ABF4-F60D8314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86250"/>
            <a:ext cx="11049000" cy="3810000"/>
          </a:xfrm>
          <a:prstGeom xmlns:a="http://schemas.openxmlformats.org/drawingml/2006/main" prst="roundRect">
            <a:avLst>
              <a:gd name="adj" fmla="val 5500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DDF8F2"/>
              </a:gs>
            </a:gsLst>
            <a:lin ang="0"/>
          </a:gradFill>
          <a:ln xmlns:a="http://schemas.openxmlformats.org/drawingml/2006/main" w="38100">
            <a:solidFill>
              <a:srgbClr val="07867F"/>
            </a:solidFill>
            <a:prstDash val="solid"/>
          </a:ln>
        </p:spPr>
      </p:sp>
      <p:sp>
        <p:nvSpPr>
          <p:cNvPr id="27" name="lower-header">
            <a:extLst xmlns:a="http://schemas.openxmlformats.org/drawingml/2006/main">
              <a:ext uri="{FF2B5EF4-FFF2-40B4-BE49-F238E27FC236}">
                <a16:creationId xmlns:a16="http://schemas.microsoft.com/office/drawing/2014/main" id="{B7355153-24C2-4DBE-8849-B65BA59C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2435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54BBFA-7189-4E35-9678-76A6B3EA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6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下层：共享 SAC 站间驾驶控制</a:t>
            </a:r>
          </a:p>
        </p:txBody>
      </p:sp>
      <p:sp>
        <p:nvSpPr>
          <p:cNvPr id="29" name="线路与列车环境">
            <a:extLst xmlns:a="http://schemas.openxmlformats.org/drawingml/2006/main">
              <a:ext uri="{FF2B5EF4-FFF2-40B4-BE49-F238E27FC236}">
                <a16:creationId xmlns:a16="http://schemas.microsoft.com/office/drawing/2014/main" id="{AE96B982-D4D1-48D1-97D7-3F888183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238750"/>
            <a:ext cx="1943100" cy="1581150"/>
          </a:xfrm>
          <a:prstGeom xmlns:a="http://schemas.openxmlformats.org/drawingml/2006/main" prst="roundRect">
            <a:avLst>
              <a:gd name="adj" fmla="val 843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AF7"/>
              </a:gs>
            </a:gsLst>
            <a:lin ang="0"/>
          </a:gradFill>
          <a:ln xmlns:a="http://schemas.openxmlformats.org/drawingml/2006/main" w="19050">
            <a:solidFill>
              <a:srgbClr val="07867F"/>
            </a:solidFill>
            <a:prstDash val="solid"/>
          </a:ln>
        </p:spPr>
      </p:sp>
      <p:sp>
        <p:nvSpPr>
          <p:cNvPr id="30" name="线路与列车环境-header">
            <a:extLst xmlns:a="http://schemas.openxmlformats.org/drawingml/2006/main">
              <a:ext uri="{FF2B5EF4-FFF2-40B4-BE49-F238E27FC236}">
                <a16:creationId xmlns:a16="http://schemas.microsoft.com/office/drawing/2014/main" id="{16F7919B-A3B9-4E28-AE76-7AD2C4FB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57800"/>
            <a:ext cx="190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线路与列车环境-title">
            <a:extLst xmlns:a="http://schemas.openxmlformats.org/drawingml/2006/main">
              <a:ext uri="{FF2B5EF4-FFF2-40B4-BE49-F238E27FC236}">
                <a16:creationId xmlns:a16="http://schemas.microsoft.com/office/drawing/2014/main" id="{215CA563-949E-4A6D-AD4F-0D672790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2578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线路与列车环境</a:t>
            </a:r>
          </a:p>
        </p:txBody>
      </p:sp>
      <p:sp>
        <p:nvSpPr>
          <p:cNvPr id="32" name="线路与列车环境-body">
            <a:extLst xmlns:a="http://schemas.openxmlformats.org/drawingml/2006/main">
              <a:ext uri="{FF2B5EF4-FFF2-40B4-BE49-F238E27FC236}">
                <a16:creationId xmlns:a16="http://schemas.microsoft.com/office/drawing/2014/main" id="{77411A55-0D59-48EE-A205-66B8B0AA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705475"/>
            <a:ext cx="1752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坡度、曲线、限速</a:t>
            </a:r>
          </a:p>
          <a:p xmlns:a="http://schemas.openxmlformats.org/drawingml/2006/main">
            <a:pPr algn="ctr">
              <a:def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列车质量</a:t>
            </a:r>
          </a:p>
          <a:p xmlns:a="http://schemas.openxmlformats.org/drawingml/2006/main">
            <a:pPr algn="ctr">
              <a:def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牵引/制动特性</a:t>
            </a:r>
          </a:p>
        </p:txBody>
      </p:sp>
      <p:sp>
        <p:nvSpPr>
          <p:cNvPr id="33" name="状态空间">
            <a:extLst xmlns:a="http://schemas.openxmlformats.org/drawingml/2006/main">
              <a:ext uri="{FF2B5EF4-FFF2-40B4-BE49-F238E27FC236}">
                <a16:creationId xmlns:a16="http://schemas.microsoft.com/office/drawing/2014/main" id="{76F2A04F-B55D-42F1-A725-82DDD542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238750"/>
            <a:ext cx="1952625" cy="1581150"/>
          </a:xfrm>
          <a:prstGeom xmlns:a="http://schemas.openxmlformats.org/drawingml/2006/main" prst="roundRect">
            <a:avLst>
              <a:gd name="adj" fmla="val 843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AF7"/>
              </a:gs>
            </a:gsLst>
            <a:lin ang="0"/>
          </a:gradFill>
          <a:ln xmlns:a="http://schemas.openxmlformats.org/drawingml/2006/main" w="19050">
            <a:solidFill>
              <a:srgbClr val="07867F"/>
            </a:solidFill>
            <a:prstDash val="solid"/>
          </a:ln>
        </p:spPr>
      </p:sp>
      <p:sp>
        <p:nvSpPr>
          <p:cNvPr id="34" name="状态空间-header">
            <a:extLst xmlns:a="http://schemas.openxmlformats.org/drawingml/2006/main">
              <a:ext uri="{FF2B5EF4-FFF2-40B4-BE49-F238E27FC236}">
                <a16:creationId xmlns:a16="http://schemas.microsoft.com/office/drawing/2014/main" id="{2A4E4308-EF39-4661-8861-00FFE5BB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57800"/>
            <a:ext cx="1914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状态空间-title">
            <a:extLst xmlns:a="http://schemas.openxmlformats.org/drawingml/2006/main">
              <a:ext uri="{FF2B5EF4-FFF2-40B4-BE49-F238E27FC236}">
                <a16:creationId xmlns:a16="http://schemas.microsoft.com/office/drawing/2014/main" id="{7D6AA27A-4372-46C1-B0DD-38D51B78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257800"/>
            <a:ext cx="1819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状态空间</a:t>
            </a:r>
          </a:p>
        </p:txBody>
      </p:sp>
      <p:sp>
        <p:nvSpPr>
          <p:cNvPr id="36" name="状态空间-body">
            <a:extLst xmlns:a="http://schemas.openxmlformats.org/drawingml/2006/main">
              <a:ext uri="{FF2B5EF4-FFF2-40B4-BE49-F238E27FC236}">
                <a16:creationId xmlns:a16="http://schemas.microsoft.com/office/drawing/2014/main" id="{8019CD49-B4EA-432A-8AED-BCA79C7B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705475"/>
            <a:ext cx="1762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速度、运行时间、位置</a:t>
            </a:r>
          </a:p>
          <a:p xmlns:a="http://schemas.openxmlformats.org/drawingml/2006/main">
            <a:pPr algn="ctr">
              <a:def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上一时刻执行控制力</a:t>
            </a:r>
          </a:p>
          <a:p xmlns:a="http://schemas.openxmlformats.org/drawingml/2006/main">
            <a:pPr algn="ctr">
              <a:def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质量、所处站间</a:t>
            </a:r>
          </a:p>
        </p:txBody>
      </p:sp>
      <p:sp>
        <p:nvSpPr>
          <p:cNvPr id="37" name="SAC驾驶策略">
            <a:extLst xmlns:a="http://schemas.openxmlformats.org/drawingml/2006/main">
              <a:ext uri="{FF2B5EF4-FFF2-40B4-BE49-F238E27FC236}">
                <a16:creationId xmlns:a16="http://schemas.microsoft.com/office/drawing/2014/main" id="{6B2714E0-945B-4803-B8B5-D580C115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238750"/>
            <a:ext cx="2114550" cy="1581150"/>
          </a:xfrm>
          <a:prstGeom xmlns:a="http://schemas.openxmlformats.org/drawingml/2006/main" prst="roundRect">
            <a:avLst>
              <a:gd name="adj" fmla="val 843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4FF"/>
              </a:gs>
            </a:gsLst>
            <a:lin ang="0"/>
          </a:gradFill>
          <a:ln xmlns:a="http://schemas.openxmlformats.org/drawingml/2006/main" w="19050">
            <a:solidFill>
              <a:srgbClr val="1368AA"/>
            </a:solidFill>
            <a:prstDash val="solid"/>
          </a:ln>
        </p:spPr>
      </p:sp>
      <p:sp>
        <p:nvSpPr>
          <p:cNvPr id="38" name="SAC驾驶策略-header">
            <a:extLst xmlns:a="http://schemas.openxmlformats.org/drawingml/2006/main">
              <a:ext uri="{FF2B5EF4-FFF2-40B4-BE49-F238E27FC236}">
                <a16:creationId xmlns:a16="http://schemas.microsoft.com/office/drawing/2014/main" id="{D7EC58BE-54E2-4F49-912F-E1D341DF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25780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AC驾驶策略-title">
            <a:extLst xmlns:a="http://schemas.openxmlformats.org/drawingml/2006/main">
              <a:ext uri="{FF2B5EF4-FFF2-40B4-BE49-F238E27FC236}">
                <a16:creationId xmlns:a16="http://schemas.microsoft.com/office/drawing/2014/main" id="{F32DF299-9321-4933-A08A-BFBAE27C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5780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SAC驾驶策略</a:t>
            </a:r>
          </a:p>
        </p:txBody>
      </p:sp>
      <p:sp>
        <p:nvSpPr>
          <p:cNvPr id="40" name="SAC驾驶策略-body">
            <a:extLst xmlns:a="http://schemas.openxmlformats.org/drawingml/2006/main">
              <a:ext uri="{FF2B5EF4-FFF2-40B4-BE49-F238E27FC236}">
                <a16:creationId xmlns:a16="http://schemas.microsoft.com/office/drawing/2014/main" id="{10BEEDD5-8212-4D57-A3AB-1262455A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705475"/>
            <a:ext cx="1924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Actor</a:t>
            </a:r>
          </a:p>
          <a:p xmlns:a="http://schemas.openxmlformats.org/drawingml/2006/main">
            <a:pPr algn="ctr">
              <a:def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双 Critic</a:t>
            </a:r>
          </a:p>
          <a:p xmlns:a="http://schemas.openxmlformats.org/drawingml/2006/main">
            <a:pPr algn="ctr">
              <a:def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经验回放池</a:t>
            </a:r>
          </a:p>
        </p:txBody>
      </p:sp>
      <p:sp>
        <p:nvSpPr>
          <p:cNvPr id="41" name="连续控制动作">
            <a:extLst xmlns:a="http://schemas.openxmlformats.org/drawingml/2006/main">
              <a:ext uri="{FF2B5EF4-FFF2-40B4-BE49-F238E27FC236}">
                <a16:creationId xmlns:a16="http://schemas.microsoft.com/office/drawing/2014/main" id="{645042CE-9B9F-425E-A18A-1A1B37AF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238750"/>
            <a:ext cx="1638300" cy="1581150"/>
          </a:xfrm>
          <a:prstGeom xmlns:a="http://schemas.openxmlformats.org/drawingml/2006/main" prst="roundRect">
            <a:avLst>
              <a:gd name="adj" fmla="val 843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AF7"/>
              </a:gs>
            </a:gsLst>
            <a:lin ang="0"/>
          </a:gradFill>
          <a:ln xmlns:a="http://schemas.openxmlformats.org/drawingml/2006/main" w="19050">
            <a:solidFill>
              <a:srgbClr val="07867F"/>
            </a:solidFill>
            <a:prstDash val="solid"/>
          </a:ln>
        </p:spPr>
      </p:sp>
      <p:sp>
        <p:nvSpPr>
          <p:cNvPr id="42" name="连续控制动作-header">
            <a:extLst xmlns:a="http://schemas.openxmlformats.org/drawingml/2006/main">
              <a:ext uri="{FF2B5EF4-FFF2-40B4-BE49-F238E27FC236}">
                <a16:creationId xmlns:a16="http://schemas.microsoft.com/office/drawing/2014/main" id="{05770C6B-7131-44F1-99DF-530CC449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257800"/>
            <a:ext cx="160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连续控制动作-title">
            <a:extLst xmlns:a="http://schemas.openxmlformats.org/drawingml/2006/main">
              <a:ext uri="{FF2B5EF4-FFF2-40B4-BE49-F238E27FC236}">
                <a16:creationId xmlns:a16="http://schemas.microsoft.com/office/drawing/2014/main" id="{D8D685FC-6C25-460C-91B2-F3CFB3CB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257800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连续控制动作</a:t>
            </a:r>
          </a:p>
        </p:txBody>
      </p:sp>
      <p:sp>
        <p:nvSpPr>
          <p:cNvPr id="44" name="连续控制动作-body">
            <a:extLst xmlns:a="http://schemas.openxmlformats.org/drawingml/2006/main">
              <a:ext uri="{FF2B5EF4-FFF2-40B4-BE49-F238E27FC236}">
                <a16:creationId xmlns:a16="http://schemas.microsoft.com/office/drawing/2014/main" id="{4D8B6196-1970-4AC0-9E14-73D0B441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705475"/>
            <a:ext cx="1447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牵引 / 惰行 /</a:t>
            </a:r>
          </a:p>
          <a:p xmlns:a="http://schemas.openxmlformats.org/drawingml/2006/main">
            <a:pPr algn="ctr">
              <a:def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制动力比例</a:t>
            </a:r>
          </a:p>
        </p:txBody>
      </p:sp>
      <p:sp>
        <p:nvSpPr>
          <p:cNvPr id="45" name="安全执行层">
            <a:extLst xmlns:a="http://schemas.openxmlformats.org/drawingml/2006/main">
              <a:ext uri="{FF2B5EF4-FFF2-40B4-BE49-F238E27FC236}">
                <a16:creationId xmlns:a16="http://schemas.microsoft.com/office/drawing/2014/main" id="{1A2D5AF7-8104-4775-B3D8-13603690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5238750"/>
            <a:ext cx="1981200" cy="1581150"/>
          </a:xfrm>
          <a:prstGeom xmlns:a="http://schemas.openxmlformats.org/drawingml/2006/main" prst="roundRect">
            <a:avLst>
              <a:gd name="adj" fmla="val 843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AF7"/>
              </a:gs>
            </a:gsLst>
            <a:lin ang="0"/>
          </a:gradFill>
          <a:ln xmlns:a="http://schemas.openxmlformats.org/drawingml/2006/main" w="19050">
            <a:solidFill>
              <a:srgbClr val="07867F"/>
            </a:solidFill>
            <a:prstDash val="solid"/>
          </a:ln>
        </p:spPr>
      </p:sp>
      <p:sp>
        <p:nvSpPr>
          <p:cNvPr id="46" name="安全执行层-header">
            <a:extLst xmlns:a="http://schemas.openxmlformats.org/drawingml/2006/main">
              <a:ext uri="{FF2B5EF4-FFF2-40B4-BE49-F238E27FC236}">
                <a16:creationId xmlns:a16="http://schemas.microsoft.com/office/drawing/2014/main" id="{11F4FAA8-E84B-4523-964D-E46C1C9F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525780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安全执行层-title">
            <a:extLst xmlns:a="http://schemas.openxmlformats.org/drawingml/2006/main">
              <a:ext uri="{FF2B5EF4-FFF2-40B4-BE49-F238E27FC236}">
                <a16:creationId xmlns:a16="http://schemas.microsoft.com/office/drawing/2014/main" id="{B592FE33-1AD3-4BDF-B107-5ADA1111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2578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安全执行层</a:t>
            </a:r>
          </a:p>
        </p:txBody>
      </p:sp>
      <p:sp>
        <p:nvSpPr>
          <p:cNvPr id="48" name="安全执行层-body">
            <a:extLst xmlns:a="http://schemas.openxmlformats.org/drawingml/2006/main">
              <a:ext uri="{FF2B5EF4-FFF2-40B4-BE49-F238E27FC236}">
                <a16:creationId xmlns:a16="http://schemas.microsoft.com/office/drawing/2014/main" id="{A79C4A46-7212-487B-A05B-34F535F1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5705475"/>
            <a:ext cx="1790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牵引/制动力、功率</a:t>
            </a:r>
          </a:p>
          <a:p xmlns:a="http://schemas.openxmlformats.org/drawingml/2006/main">
            <a:pPr algn="ctr">
              <a:def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加速度与限速约束</a:t>
            </a:r>
          </a:p>
          <a:p xmlns:a="http://schemas.openxmlformats.org/drawingml/2006/main">
            <a:pPr algn="ctr">
              <a:def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终点停车保护</a:t>
            </a:r>
          </a:p>
        </p:txBody>
      </p:sp>
      <p:cxnSp>
        <p:nvCxnSpPr>
          <p:cNvPr id="129" name=""/>
          <p:cNvCxnSpPr>
            <a:stCxn xmlns:a="http://schemas.openxmlformats.org/drawingml/2006/main" id="29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4286250" y="60293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7867F"/>
            </a:solidFill>
            <a:prstDash val="solid"/>
            <a:tailEnd type="triangle" w="med" len="med"/>
          </a:ln>
        </p:spPr>
      </p:cxnSp>
      <p:cxnSp>
        <p:nvCxnSpPr>
          <p:cNvPr id="130" name=""/>
          <p:cNvCxnSpPr>
            <a:stCxn xmlns:a="http://schemas.openxmlformats.org/drawingml/2006/main" id="33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6467475" y="60293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68AA"/>
            </a:solidFill>
            <a:prstDash val="solid"/>
            <a:tailEnd type="triangle" w="med" len="med"/>
          </a:ln>
        </p:spPr>
      </p:cxnSp>
      <p:cxnSp>
        <p:nvCxnSpPr>
          <p:cNvPr id="131" name=""/>
          <p:cNvCxnSpPr>
            <a:stCxn xmlns:a="http://schemas.openxmlformats.org/drawingml/2006/main" id="37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810625" y="60293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68AA"/>
            </a:solidFill>
            <a:prstDash val="solid"/>
            <a:tailEnd type="triangle" w="med" len="med"/>
          </a:ln>
        </p:spPr>
      </p:cxnSp>
      <p:cxnSp>
        <p:nvCxnSpPr>
          <p:cNvPr id="132" name=""/>
          <p:cNvCxnSpPr>
            <a:stCxn xmlns:a="http://schemas.openxmlformats.org/drawingml/2006/main" id="41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10677525" y="60293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7867F"/>
            </a:solidFill>
            <a:prstDash val="solid"/>
            <a:tailEnd type="triangle" w="med" len="med"/>
          </a:ln>
        </p:spPr>
      </p:cxnSp>
      <p:sp>
        <p:nvSpPr>
          <p:cNvPr id="53" name="lower-env-to-state">
            <a:extLst xmlns:a="http://schemas.openxmlformats.org/drawingml/2006/main">
              <a:ext uri="{FF2B5EF4-FFF2-40B4-BE49-F238E27FC236}">
                <a16:creationId xmlns:a16="http://schemas.microsoft.com/office/drawing/2014/main" id="{96EDD4D7-82FB-422F-8941-2CCB1CE2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886450"/>
            <a:ext cx="152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867F"/>
          </a:solidFill>
          <a:ln xmlns:a="http://schemas.openxmlformats.org/drawingml/2006/main" w="9525">
            <a:solidFill>
              <a:srgbClr val="07867F"/>
            </a:solidFill>
            <a:prstDash val="solid"/>
          </a:ln>
        </p:spPr>
      </p:sp>
      <p:sp>
        <p:nvSpPr>
          <p:cNvPr id="54" name="lower-state-to-policy">
            <a:extLst xmlns:a="http://schemas.openxmlformats.org/drawingml/2006/main">
              <a:ext uri="{FF2B5EF4-FFF2-40B4-BE49-F238E27FC236}">
                <a16:creationId xmlns:a16="http://schemas.microsoft.com/office/drawing/2014/main" id="{1FB20939-9B79-4BE7-89C6-1B685FD4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886450"/>
            <a:ext cx="152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68AA"/>
          </a:solidFill>
          <a:ln xmlns:a="http://schemas.openxmlformats.org/drawingml/2006/main" w="9525">
            <a:solidFill>
              <a:srgbClr val="1368AA"/>
            </a:solidFill>
            <a:prstDash val="solid"/>
          </a:ln>
        </p:spPr>
      </p:sp>
      <p:sp>
        <p:nvSpPr>
          <p:cNvPr id="55" name="lower-policy-to-action">
            <a:extLst xmlns:a="http://schemas.openxmlformats.org/drawingml/2006/main">
              <a:ext uri="{FF2B5EF4-FFF2-40B4-BE49-F238E27FC236}">
                <a16:creationId xmlns:a16="http://schemas.microsoft.com/office/drawing/2014/main" id="{893B52EC-423F-4EE5-993F-8A80F5EB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5886450"/>
            <a:ext cx="152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68AA"/>
          </a:solidFill>
          <a:ln xmlns:a="http://schemas.openxmlformats.org/drawingml/2006/main" w="9525">
            <a:solidFill>
              <a:srgbClr val="1368AA"/>
            </a:solidFill>
            <a:prstDash val="solid"/>
          </a:ln>
        </p:spPr>
      </p:sp>
      <p:sp>
        <p:nvSpPr>
          <p:cNvPr id="56" name="lower-action-to-safety">
            <a:extLst xmlns:a="http://schemas.openxmlformats.org/drawingml/2006/main">
              <a:ext uri="{FF2B5EF4-FFF2-40B4-BE49-F238E27FC236}">
                <a16:creationId xmlns:a16="http://schemas.microsoft.com/office/drawing/2014/main" id="{8298C0F5-E57C-48E9-A8E3-81479E62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886450"/>
            <a:ext cx="152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867F"/>
          </a:solidFill>
          <a:ln xmlns:a="http://schemas.openxmlformats.org/drawingml/2006/main" w="9525">
            <a:solidFill>
              <a:srgbClr val="07867F"/>
            </a:solidFill>
            <a:prstDash val="solid"/>
          </a:ln>
        </p:spPr>
      </p:sp>
      <p:sp>
        <p:nvSpPr>
          <p:cNvPr id="57" name="train-dynamics">
            <a:extLst xmlns:a="http://schemas.openxmlformats.org/drawingml/2006/main">
              <a:ext uri="{FF2B5EF4-FFF2-40B4-BE49-F238E27FC236}">
                <a16:creationId xmlns:a16="http://schemas.microsoft.com/office/drawing/2014/main" id="{1DEFBD17-DB19-4F09-88CE-5AF525BE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7162800"/>
            <a:ext cx="56197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4FFFC"/>
          </a:solidFill>
          <a:ln xmlns:a="http://schemas.openxmlformats.org/drawingml/2006/main" w="19050">
            <a:solidFill>
              <a:srgbClr val="07867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A66187F-265E-4B2B-9661-87A39151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2009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列车纵向动力学模型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3330372-57B4-45D4-9CB3-779A81C9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4676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牵引/制动力 · Davis阻力 · 坡度阻力 · 曲线阻力</a:t>
            </a:r>
          </a:p>
        </p:txBody>
      </p:sp>
      <p:cxnSp>
        <p:nvCxnSpPr>
          <p:cNvPr id="140" name=""/>
          <p:cNvCxnSpPr>
            <a:stCxn xmlns:a="http://schemas.openxmlformats.org/drawingml/2006/main" id="45" idx="2"/>
            <a:endCxn xmlns:a="http://schemas.openxmlformats.org/drawingml/2006/main" id="57" idx="3"/>
          </p:cNvCxnSpPr>
          <p:nvPr/>
        </p:nvCxnSpPr>
        <p:spPr>
          <a:xfrm xmlns:a="http://schemas.openxmlformats.org/drawingml/2006/main" flipH="1">
            <a:off x="10239375" y="6819900"/>
            <a:ext cx="1657350" cy="6858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28575">
            <a:solidFill>
              <a:srgbClr val="07867F"/>
            </a:solidFill>
            <a:prstDash val="solid"/>
            <a:tailEnd type="triangle" w="med" len="med"/>
          </a:ln>
        </p:spPr>
      </p:cxnSp>
      <p:cxnSp>
        <p:nvCxnSpPr>
          <p:cNvPr id="141" name=""/>
          <p:cNvCxnSpPr>
            <a:stCxn xmlns:a="http://schemas.openxmlformats.org/drawingml/2006/main" id="57" idx="0"/>
            <a:endCxn xmlns:a="http://schemas.openxmlformats.org/drawingml/2006/main" id="33" idx="2"/>
          </p:cNvCxnSpPr>
          <p:nvPr/>
        </p:nvCxnSpPr>
        <p:spPr>
          <a:xfrm xmlns:a="http://schemas.openxmlformats.org/drawingml/2006/main" flipH="1" flipV="1">
            <a:off x="5491163" y="6819900"/>
            <a:ext cx="1938338" cy="342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07867F"/>
            </a:solidFill>
            <a:prstDash val="solid"/>
            <a:tailEnd type="triangle" w="med" len="med"/>
          </a:ln>
        </p:spPr>
      </p:cxnSp>
      <p:cxnSp>
        <p:nvCxnSpPr>
          <p:cNvPr id="142" name=""/>
          <p:cNvCxnSpPr>
            <a:stCxn xmlns:a="http://schemas.openxmlformats.org/drawingml/2006/main" id="29" idx="2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3314700" y="6819900"/>
            <a:ext cx="1304925" cy="6858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07867F"/>
            </a:solidFill>
            <a:prstDash val="solid"/>
            <a:tailEnd type="triangle" w="med" len="med"/>
          </a:ln>
        </p:spPr>
      </p:cxnSp>
      <p:sp>
        <p:nvSpPr>
          <p:cNvPr id="63" name="foundation-data">
            <a:extLst xmlns:a="http://schemas.openxmlformats.org/drawingml/2006/main">
              <a:ext uri="{FF2B5EF4-FFF2-40B4-BE49-F238E27FC236}">
                <a16:creationId xmlns:a16="http://schemas.microsoft.com/office/drawing/2014/main" id="{82166E97-7FEA-4FEC-8044-EF92AACF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000375"/>
            <a:ext cx="1866900" cy="4857750"/>
          </a:xfrm>
          <a:prstGeom xmlns:a="http://schemas.openxmlformats.org/drawingml/2006/main" prst="roundRect">
            <a:avLst>
              <a:gd name="adj" fmla="val 8163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4FF"/>
              </a:gs>
            </a:gsLst>
            <a:lin ang="0"/>
          </a:gradFill>
          <a:ln xmlns:a="http://schemas.openxmlformats.org/drawingml/2006/main" w="19050">
            <a:solidFill>
              <a:srgbClr val="1368AA"/>
            </a:solidFill>
            <a:prstDash val="solid"/>
          </a:ln>
        </p:spPr>
      </p:sp>
      <p:sp>
        <p:nvSpPr>
          <p:cNvPr id="64" name="foundation-header">
            <a:extLst xmlns:a="http://schemas.openxmlformats.org/drawingml/2006/main">
              <a:ext uri="{FF2B5EF4-FFF2-40B4-BE49-F238E27FC236}">
                <a16:creationId xmlns:a16="http://schemas.microsoft.com/office/drawing/2014/main" id="{184AB2D3-A5D0-4890-A905-E25CD0C2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3019425"/>
            <a:ext cx="1828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61265A4-1153-4477-8C79-70010EED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0480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基础数据</a:t>
            </a:r>
          </a:p>
        </p:txBody>
      </p:sp>
      <p:sp>
        <p:nvSpPr>
          <p:cNvPr id="66" name="foundation-body">
            <a:extLst xmlns:a="http://schemas.openxmlformats.org/drawingml/2006/main">
              <a:ext uri="{FF2B5EF4-FFF2-40B4-BE49-F238E27FC236}">
                <a16:creationId xmlns:a16="http://schemas.microsoft.com/office/drawing/2014/main" id="{C0944261-441C-46AB-A774-5D5C56A3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733800"/>
            <a:ext cx="16002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既有时刻表与运行数据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线路坡度、曲线、限速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列车质量与牵引/制动特性</a:t>
            </a:r>
          </a:p>
        </p:txBody>
      </p:sp>
      <p:sp>
        <p:nvSpPr>
          <p:cNvPr id="67" name="identified-resistance">
            <a:extLst xmlns:a="http://schemas.openxmlformats.org/drawingml/2006/main">
              <a:ext uri="{FF2B5EF4-FFF2-40B4-BE49-F238E27FC236}">
                <a16:creationId xmlns:a16="http://schemas.microsoft.com/office/drawing/2014/main" id="{415CDA8F-3A5E-41CB-8C22-F758F5F8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743700"/>
            <a:ext cx="1619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9050">
            <a:solidFill>
              <a:srgbClr val="F47B2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79A8D51-280A-4D98-9ADF-FC4C6E42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800850"/>
            <a:ext cx="1485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阻力参数识别结果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ADB569D-67FF-4D4B-BD67-7002BBC9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12470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Davis A、B、C</a:t>
            </a:r>
          </a:p>
        </p:txBody>
      </p:sp>
      <p:sp>
        <p:nvSpPr>
          <p:cNvPr id="70" name="优化结果">
            <a:extLst xmlns:a="http://schemas.openxmlformats.org/drawingml/2006/main">
              <a:ext uri="{FF2B5EF4-FFF2-40B4-BE49-F238E27FC236}">
                <a16:creationId xmlns:a16="http://schemas.microsoft.com/office/drawing/2014/main" id="{01992A7C-1D09-465C-8A0F-B466872A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3143250"/>
            <a:ext cx="1847850" cy="2476500"/>
          </a:xfrm>
          <a:prstGeom xmlns:a="http://schemas.openxmlformats.org/drawingml/2006/main" prst="roundRect">
            <a:avLst>
              <a:gd name="adj" fmla="val 7216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4FF"/>
              </a:gs>
            </a:gsLst>
            <a:lin ang="0"/>
          </a:gradFill>
          <a:ln xmlns:a="http://schemas.openxmlformats.org/drawingml/2006/main" w="19050">
            <a:solidFill>
              <a:srgbClr val="1368AA"/>
            </a:solidFill>
            <a:prstDash val="solid"/>
          </a:ln>
        </p:spPr>
      </p:sp>
      <p:sp>
        <p:nvSpPr>
          <p:cNvPr id="71" name="优化结果-header">
            <a:extLst xmlns:a="http://schemas.openxmlformats.org/drawingml/2006/main">
              <a:ext uri="{FF2B5EF4-FFF2-40B4-BE49-F238E27FC236}">
                <a16:creationId xmlns:a16="http://schemas.microsoft.com/office/drawing/2014/main" id="{BBFFD160-AF8A-4879-B9E7-1429358B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1623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优化结果-title">
            <a:extLst xmlns:a="http://schemas.openxmlformats.org/drawingml/2006/main">
              <a:ext uri="{FF2B5EF4-FFF2-40B4-BE49-F238E27FC236}">
                <a16:creationId xmlns:a16="http://schemas.microsoft.com/office/drawing/2014/main" id="{A51BF1D8-07EC-48D0-A02A-B28325D5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31623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优化结果</a:t>
            </a:r>
          </a:p>
        </p:txBody>
      </p:sp>
      <p:sp>
        <p:nvSpPr>
          <p:cNvPr id="73" name="优化结果-body">
            <a:extLst xmlns:a="http://schemas.openxmlformats.org/drawingml/2006/main">
              <a:ext uri="{FF2B5EF4-FFF2-40B4-BE49-F238E27FC236}">
                <a16:creationId xmlns:a16="http://schemas.microsoft.com/office/drawing/2014/main" id="{013169C4-8E97-416A-B900-D064E852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3686175"/>
            <a:ext cx="16573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优化时刻表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（发车时间）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牵引能耗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再生制动利用率</a:t>
            </a:r>
          </a:p>
        </p:txBody>
      </p:sp>
      <p:cxnSp>
        <p:nvCxnSpPr>
          <p:cNvPr id="154" name=""/>
          <p:cNvCxnSpPr>
            <a:stCxn xmlns:a="http://schemas.openxmlformats.org/drawingml/2006/main" id="63" idx="0"/>
            <a:endCxn xmlns:a="http://schemas.openxmlformats.org/drawingml/2006/main" id="1" idx="1"/>
          </p:cNvCxnSpPr>
          <p:nvPr/>
        </p:nvCxnSpPr>
        <p:spPr>
          <a:xfrm xmlns:a="http://schemas.openxmlformats.org/drawingml/2006/main" flipV="1">
            <a:off x="1028700" y="1457325"/>
            <a:ext cx="1304925" cy="1543050"/>
          </a:xfrm>
          <a:prstGeom xmlns:a="http://schemas.openxmlformats.org/drawingml/2006/main" prst="bentConnector5">
            <a:avLst>
              <a:gd name="adj1" fmla="val 0"/>
              <a:gd name="adj2" fmla="val 14815"/>
              <a:gd name="adj3" fmla="val 82482"/>
            </a:avLst>
          </a:prstGeom>
          <a:ln xmlns:a="http://schemas.openxmlformats.org/drawingml/2006/main" w="38100">
            <a:solidFill>
              <a:srgbClr val="1368AA"/>
            </a:solidFill>
            <a:prstDash val="solid"/>
            <a:tailEnd type="triangle" w="med" len="med"/>
          </a:ln>
        </p:spPr>
      </p:cxnSp>
      <p:cxnSp>
        <p:nvCxnSpPr>
          <p:cNvPr id="155" name=""/>
          <p:cNvCxnSpPr>
            <a:stCxn xmlns:a="http://schemas.openxmlformats.org/drawingml/2006/main" id="63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1962150" y="5429250"/>
            <a:ext cx="38100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68AA"/>
            </a:solidFill>
            <a:prstDash val="solid"/>
            <a:tailEnd type="triangle" w="med" len="med"/>
          </a:ln>
        </p:spPr>
      </p:cxnSp>
      <p:cxnSp>
        <p:nvCxnSpPr>
          <p:cNvPr id="156" name=""/>
          <p:cNvCxnSpPr>
            <a:stCxn xmlns:a="http://schemas.openxmlformats.org/drawingml/2006/main" id="67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1838325" y="7181850"/>
            <a:ext cx="278130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47B20"/>
            </a:solidFill>
            <a:prstDash val="solid"/>
            <a:tailEnd type="triangle" w="med" len="me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CD9E390-F526-4D53-B512-7EFEF914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9342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识别参数输入动力学模型</a:t>
            </a:r>
          </a:p>
        </p:txBody>
      </p:sp>
      <p:sp>
        <p:nvSpPr>
          <p:cNvPr id="78" name="identified-parameters-to-dynamics">
            <a:extLst xmlns:a="http://schemas.openxmlformats.org/drawingml/2006/main">
              <a:ext uri="{FF2B5EF4-FFF2-40B4-BE49-F238E27FC236}">
                <a16:creationId xmlns:a16="http://schemas.microsoft.com/office/drawing/2014/main" id="{73C2B5CE-881B-42BF-ABD8-2C511386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343775"/>
            <a:ext cx="27336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9525">
            <a:solidFill>
              <a:srgbClr val="F47B20"/>
            </a:solidFill>
            <a:prstDash val="solid"/>
          </a:ln>
        </p:spPr>
      </p:sp>
      <p:cxnSp>
        <p:nvCxnSpPr>
          <p:cNvPr id="159" name=""/>
          <p:cNvCxnSpPr>
            <a:stCxn xmlns:a="http://schemas.openxmlformats.org/drawingml/2006/main" id="1" idx="3"/>
            <a:endCxn xmlns:a="http://schemas.openxmlformats.org/drawingml/2006/main" id="70" idx="0"/>
          </p:cNvCxnSpPr>
          <p:nvPr/>
        </p:nvCxnSpPr>
        <p:spPr>
          <a:xfrm xmlns:a="http://schemas.openxmlformats.org/drawingml/2006/main">
            <a:off x="12906375" y="1457325"/>
            <a:ext cx="1295400" cy="1685925"/>
          </a:xfrm>
          <a:prstGeom xmlns:a="http://schemas.openxmlformats.org/drawingml/2006/main" prst="bentConnector2">
            <a:avLst/>
          </a:prstGeom>
          <a:ln xmlns:a="http://schemas.openxmlformats.org/drawingml/2006/main" w="38100">
            <a:solidFill>
              <a:srgbClr val="1368AA"/>
            </a:solidFill>
            <a:prstDash val="solid"/>
            <a:tailEnd type="triangle" w="med" len="med"/>
          </a:ln>
        </p:spPr>
      </p:cxnSp>
      <p:cxnSp>
        <p:nvCxnSpPr>
          <p:cNvPr id="160" name=""/>
          <p:cNvCxnSpPr>
            <a:stCxn xmlns:a="http://schemas.openxmlformats.org/drawingml/2006/main" id="57" idx="3"/>
            <a:endCxn xmlns:a="http://schemas.openxmlformats.org/drawingml/2006/main" id="70" idx="2"/>
          </p:cNvCxnSpPr>
          <p:nvPr/>
        </p:nvCxnSpPr>
        <p:spPr>
          <a:xfrm xmlns:a="http://schemas.openxmlformats.org/drawingml/2006/main" flipV="1">
            <a:off x="10239375" y="5619750"/>
            <a:ext cx="3962400" cy="1885950"/>
          </a:xfrm>
          <a:prstGeom xmlns:a="http://schemas.openxmlformats.org/drawingml/2006/main" prst="bentConnector2">
            <a:avLst/>
          </a:prstGeom>
          <a:ln xmlns:a="http://schemas.openxmlformats.org/drawingml/2006/main" w="38100">
            <a:solidFill>
              <a:srgbClr val="1368AA"/>
            </a:solidFill>
            <a:prstDash val="soli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0884796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2026-09-27T09:24:30.9760000Z</dcterms:created>
  <dcterms:modified xsi:type="dcterms:W3CDTF">2026-09-27T09:24:30.9760000Z</dcterms:modified>
</coreProperties>
</file>