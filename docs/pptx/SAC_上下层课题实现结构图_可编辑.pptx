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0404cd58c044e5" /><Relationship Type="http://schemas.openxmlformats.org/officeDocument/2006/relationships/extended-properties" Target="/docProps/app.xml" Id="Rc6ed331e4a784e31" /><Relationship Type="http://schemas.openxmlformats.org/officeDocument/2006/relationships/officeDocument" Target="/ppt/presentation.xml" Id="R3f23afc4cc9e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c33657fccf4acd"/>
  </p:sldMasterIdLst>
  <p:notesMasterIdLst>
    <p:notesMasterId xmlns:r="http://schemas.openxmlformats.org/officeDocument/2006/relationships" r:id="Rb1038a2a17e34f2c"/>
  </p:notesMasterIdLst>
  <p:sldIdLst>
    <p:sldId xmlns:r="http://schemas.openxmlformats.org/officeDocument/2006/relationships" id="256" r:id="R9f9c6cdb142140e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98fcc860984315" /><Relationship Type="http://schemas.openxmlformats.org/officeDocument/2006/relationships/slideMaster" Target="/ppt/slideMasters/slideMaster1.xml" Id="R4bc33657fccf4acd" /><Relationship Type="http://schemas.openxmlformats.org/officeDocument/2006/relationships/notesMaster" Target="/ppt/notesMasters/notesMaster1.xml" Id="Rb1038a2a17e34f2c" /><Relationship Type="http://schemas.openxmlformats.org/officeDocument/2006/relationships/presProps" Target="/ppt/presProps.xml" Id="Rd7cfaaa6b0c4415d" /><Relationship Type="http://schemas.openxmlformats.org/officeDocument/2006/relationships/tableStyles" Target="/ppt/tableStyles.xml" Id="R0a070ce868f4497f" /><Relationship Type="http://schemas.openxmlformats.org/officeDocument/2006/relationships/slide" Target="/ppt/slides/slide1.xml" Id="R9f9c6cdb142140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2d54678eda47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76206d27cd48f8" /><Relationship Type="http://schemas.openxmlformats.org/officeDocument/2006/relationships/notesMaster" Target="/ppt/notesMasters/notesMaster1.xml" Id="R437aece4ced2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根据用户提供的 SAC_上下层课题实现结构图.png 重建。所有模块、文字和箭头均为可编辑原生PPT对象。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894a304e445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5f49aabf54d37" /><Relationship Type="http://schemas.openxmlformats.org/officeDocument/2006/relationships/slideLayout" Target="/ppt/slideLayouts/slideLayout1.xml" Id="R4be79981c23e47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e79981c23e47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87c1a513f4c71" /><Relationship Type="http://schemas.openxmlformats.org/officeDocument/2006/relationships/notesSlide" Target="/ppt/notesSlides/notesSlide1.xml" Id="R1ce8e93af3e545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upper-MAPPO">
            <a:extLst xmlns:a="http://schemas.openxmlformats.org/drawingml/2006/main">
              <a:ext uri="{FF2B5EF4-FFF2-40B4-BE49-F238E27FC236}">
                <a16:creationId xmlns:a16="http://schemas.microsoft.com/office/drawing/2014/main" id="{A498B852-925D-41B8-B378-BD77A489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"/>
            <a:ext cx="10287000" cy="209550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DEFFF"/>
              </a:gs>
            </a:gsLst>
            <a:lin ang="0"/>
          </a:gradFill>
          <a:ln xmlns:a="http://schemas.openxmlformats.org/drawingml/2006/main" w="38100">
            <a:solidFill>
              <a:srgbClr val="1368AA"/>
            </a:solidFill>
            <a:prstDash val="solid"/>
          </a:ln>
        </p:spPr>
      </p:sp>
      <p:sp>
        <p:nvSpPr>
          <p:cNvPr id="2" name="upper-header">
            <a:extLst xmlns:a="http://schemas.openxmlformats.org/drawingml/2006/main">
              <a:ext uri="{FF2B5EF4-FFF2-40B4-BE49-F238E27FC236}">
                <a16:creationId xmlns:a16="http://schemas.microsoft.com/office/drawing/2014/main" id="{D720B22A-7C11-4E3F-936C-9A150EFD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10210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61704-6ACB-4A06-BF5F-CFDB1CCB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上层：多列车时刻表规划（MAPPO）</a:t>
            </a:r>
          </a:p>
        </p:txBody>
      </p:sp>
      <p:sp>
        <p:nvSpPr>
          <p:cNvPr id="4" name="多列车智能体">
            <a:extLst xmlns:a="http://schemas.openxmlformats.org/drawingml/2006/main">
              <a:ext uri="{FF2B5EF4-FFF2-40B4-BE49-F238E27FC236}">
                <a16:creationId xmlns:a16="http://schemas.microsoft.com/office/drawing/2014/main" id="{1E990F3E-BB73-4424-A37C-4FCCC7F0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04925"/>
            <a:ext cx="2724150" cy="990600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5" name="多列车智能体-header">
            <a:extLst xmlns:a="http://schemas.openxmlformats.org/drawingml/2006/main">
              <a:ext uri="{FF2B5EF4-FFF2-40B4-BE49-F238E27FC236}">
                <a16:creationId xmlns:a16="http://schemas.microsoft.com/office/drawing/2014/main" id="{48552AED-5B33-45F0-A9C1-8B7E034C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239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多列车智能体-title">
            <a:extLst xmlns:a="http://schemas.openxmlformats.org/drawingml/2006/main">
              <a:ext uri="{FF2B5EF4-FFF2-40B4-BE49-F238E27FC236}">
                <a16:creationId xmlns:a16="http://schemas.microsoft.com/office/drawing/2014/main" id="{9B4C6866-8427-4C50-ACB4-B5C79A64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3239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多列车智能体</a:t>
            </a:r>
          </a:p>
        </p:txBody>
      </p:sp>
      <p:sp>
        <p:nvSpPr>
          <p:cNvPr id="7" name="多列车智能体-body">
            <a:extLst xmlns:a="http://schemas.openxmlformats.org/drawingml/2006/main">
              <a:ext uri="{FF2B5EF4-FFF2-40B4-BE49-F238E27FC236}">
                <a16:creationId xmlns:a16="http://schemas.microsoft.com/office/drawing/2014/main" id="{56A36112-5485-434E-9441-40BE11CB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6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独立 Actor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集中 Critic</a:t>
            </a:r>
          </a:p>
        </p:txBody>
      </p:sp>
      <p:sp>
        <p:nvSpPr>
          <p:cNvPr id="8" name="时刻表状态">
            <a:extLst xmlns:a="http://schemas.openxmlformats.org/drawingml/2006/main">
              <a:ext uri="{FF2B5EF4-FFF2-40B4-BE49-F238E27FC236}">
                <a16:creationId xmlns:a16="http://schemas.microsoft.com/office/drawing/2014/main" id="{163D5F41-CFDF-4F85-B626-EF1106CB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04925"/>
            <a:ext cx="3429000" cy="990600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9" name="时刻表状态-header">
            <a:extLst xmlns:a="http://schemas.openxmlformats.org/drawingml/2006/main">
              <a:ext uri="{FF2B5EF4-FFF2-40B4-BE49-F238E27FC236}">
                <a16:creationId xmlns:a16="http://schemas.microsoft.com/office/drawing/2014/main" id="{FA2D6CA6-A303-4165-9EAA-F871D830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323975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时刻表状态-title">
            <a:extLst xmlns:a="http://schemas.openxmlformats.org/drawingml/2006/main">
              <a:ext uri="{FF2B5EF4-FFF2-40B4-BE49-F238E27FC236}">
                <a16:creationId xmlns:a16="http://schemas.microsoft.com/office/drawing/2014/main" id="{4F203912-EF9E-4ED9-A289-E212F345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323975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时刻表状态</a:t>
            </a:r>
          </a:p>
        </p:txBody>
      </p:sp>
      <p:sp>
        <p:nvSpPr>
          <p:cNvPr id="11" name="时刻表状态-body">
            <a:extLst xmlns:a="http://schemas.openxmlformats.org/drawingml/2006/main">
              <a:ext uri="{FF2B5EF4-FFF2-40B4-BE49-F238E27FC236}">
                <a16:creationId xmlns:a16="http://schemas.microsoft.com/office/drawing/2014/main" id="{0C6851E3-07AF-4322-A8C4-23085E3C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7165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发车 / 到达 / 追踪间隔 / 供电分区</a:t>
            </a:r>
          </a:p>
        </p:txBody>
      </p:sp>
      <p:sp>
        <p:nvSpPr>
          <p:cNvPr id="12" name="上层动作">
            <a:extLst xmlns:a="http://schemas.openxmlformats.org/drawingml/2006/main">
              <a:ext uri="{FF2B5EF4-FFF2-40B4-BE49-F238E27FC236}">
                <a16:creationId xmlns:a16="http://schemas.microsoft.com/office/drawing/2014/main" id="{AE2BBDE0-A930-4089-BACD-D8E2A3DD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04925"/>
            <a:ext cx="3048000" cy="990600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13" name="上层动作-header">
            <a:extLst xmlns:a="http://schemas.openxmlformats.org/drawingml/2006/main">
              <a:ext uri="{FF2B5EF4-FFF2-40B4-BE49-F238E27FC236}">
                <a16:creationId xmlns:a16="http://schemas.microsoft.com/office/drawing/2014/main" id="{B2A4D058-A00E-4C9E-851C-02E6BEE3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323975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上层动作-title">
            <a:extLst xmlns:a="http://schemas.openxmlformats.org/drawingml/2006/main">
              <a:ext uri="{FF2B5EF4-FFF2-40B4-BE49-F238E27FC236}">
                <a16:creationId xmlns:a16="http://schemas.microsoft.com/office/drawing/2014/main" id="{88639560-5FA6-43BB-9FF8-7B8F13EB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3239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上层动作</a:t>
            </a:r>
          </a:p>
        </p:txBody>
      </p:sp>
      <p:sp>
        <p:nvSpPr>
          <p:cNvPr id="15" name="上层动作-body">
            <a:extLst xmlns:a="http://schemas.openxmlformats.org/drawingml/2006/main">
              <a:ext uri="{FF2B5EF4-FFF2-40B4-BE49-F238E27FC236}">
                <a16:creationId xmlns:a16="http://schemas.microsoft.com/office/drawing/2014/main" id="{AB5DC68D-C726-4D6B-8544-4386987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站间运行时间调整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停站时间调整</a:t>
            </a:r>
          </a:p>
        </p:txBody>
      </p:sp>
      <p:sp>
        <p:nvSpPr>
          <p:cNvPr id="16" name="dispatch-arrow">
            <a:extLst xmlns:a="http://schemas.openxmlformats.org/drawingml/2006/main">
              <a:ext uri="{FF2B5EF4-FFF2-40B4-BE49-F238E27FC236}">
                <a16:creationId xmlns:a16="http://schemas.microsoft.com/office/drawing/2014/main" id="{CF0A574E-1D62-439D-9F64-17BEF524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571500" cy="1562100"/>
          </a:xfrm>
          <a:prstGeom xmlns:a="http://schemas.openxmlformats.org/drawingml/2006/main" prst="downArrow">
            <a:avLst/>
          </a:prstGeom>
          <a:gradFill xmlns:a="http://schemas.openxmlformats.org/drawingml/2006/main">
            <a:gsLst>
              <a:gs pos="0">
                <a:srgbClr val="53B8F5"/>
              </a:gs>
              <a:gs pos="100000">
                <a:srgbClr val="1B88D8"/>
              </a:gs>
            </a:gsLst>
            <a:lin ang="5400000"/>
          </a:gradFill>
          <a:ln xmlns:a="http://schemas.openxmlformats.org/drawingml/2006/main" w="9525">
            <a:gradFill>
              <a:gsLst>
                <a:gs pos="0">
                  <a:srgbClr val="53B8F5"/>
                </a:gs>
                <a:gs pos="100000">
                  <a:srgbClr val="1B88D8"/>
                </a:gs>
              </a:gsLst>
              <a:lin ang="5400000"/>
            </a:gradFill>
            <a:prstDash val="solid"/>
          </a:ln>
        </p:spPr>
      </p:sp>
      <p:sp>
        <p:nvSpPr>
          <p:cNvPr id="17" name="dispatch-label">
            <a:extLst xmlns:a="http://schemas.openxmlformats.org/drawingml/2006/main">
              <a:ext uri="{FF2B5EF4-FFF2-40B4-BE49-F238E27FC236}">
                <a16:creationId xmlns:a16="http://schemas.microsoft.com/office/drawing/2014/main" id="{D331F713-CFC3-4A6F-9AEC-33819C2B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9900"/>
            <a:ext cx="2952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19050">
            <a:solidFill>
              <a:srgbClr val="2196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CC6AF-25B8-4FFF-A57A-DE8A3F1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5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下发</a:t>
            </a:r>
          </a:p>
          <a:p xmlns:a="http://schemas.openxmlformats.org/drawingml/2006/main">
            <a:pPr algn="l">
              <a:def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目标站间运行时间、停站时间、发车约束</a:t>
            </a:r>
          </a:p>
        </p:txBody>
      </p:sp>
      <p:sp>
        <p:nvSpPr>
          <p:cNvPr id="19" name="feedback-arrow">
            <a:extLst xmlns:a="http://schemas.openxmlformats.org/drawingml/2006/main">
              <a:ext uri="{FF2B5EF4-FFF2-40B4-BE49-F238E27FC236}">
                <a16:creationId xmlns:a16="http://schemas.microsoft.com/office/drawing/2014/main" id="{78049363-4742-4CA1-9FCB-6393DAA6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571500" cy="1504950"/>
          </a:xfrm>
          <a:prstGeom xmlns:a="http://schemas.openxmlformats.org/drawingml/2006/main" prst="upArrow">
            <a:avLst/>
          </a:prstGeom>
          <a:gradFill xmlns:a="http://schemas.openxmlformats.org/drawingml/2006/main">
            <a:gsLst>
              <a:gs pos="0">
                <a:srgbClr val="FFB15B"/>
              </a:gs>
              <a:gs pos="100000">
                <a:srgbClr val="F47B20"/>
              </a:gs>
            </a:gsLst>
            <a:lin ang="5400000"/>
          </a:gradFill>
          <a:ln xmlns:a="http://schemas.openxmlformats.org/drawingml/2006/main" w="9525">
            <a:gradFill>
              <a:gsLst>
                <a:gs pos="0">
                  <a:srgbClr val="FFB15B"/>
                </a:gs>
                <a:gs pos="100000">
                  <a:srgbClr val="F47B20"/>
                </a:gs>
              </a:gsLst>
              <a:lin ang="5400000"/>
            </a:gradFill>
            <a:prstDash val="solid"/>
          </a:ln>
        </p:spPr>
      </p:sp>
      <p:sp>
        <p:nvSpPr>
          <p:cNvPr id="20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F30DA6AE-0888-4068-B73E-471AF6CC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2952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9050">
            <a:solidFill>
              <a:srgbClr val="F47B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981F0-E546-4602-869E-6CA601A0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86100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5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  <a:p xmlns:a="http://schemas.openxmlformats.org/drawingml/2006/main">
            <a:pPr algn="l">
              <a:defRPr sz="14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实际运行时间、能耗、可行性、安全指标</a:t>
            </a:r>
          </a:p>
        </p:txBody>
      </p:sp>
      <p:sp>
        <p:nvSpPr>
          <p:cNvPr id="22" name="lower-SAC">
            <a:extLst xmlns:a="http://schemas.openxmlformats.org/drawingml/2006/main">
              <a:ext uri="{FF2B5EF4-FFF2-40B4-BE49-F238E27FC236}">
                <a16:creationId xmlns:a16="http://schemas.microsoft.com/office/drawing/2014/main" id="{B1D47278-795D-4279-BD02-F5F5725C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10668000" cy="3562350"/>
          </a:xfrm>
          <a:prstGeom xmlns:a="http://schemas.openxmlformats.org/drawingml/2006/main" prst="roundRect">
            <a:avLst>
              <a:gd name="adj" fmla="val 588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DF8F2"/>
              </a:gs>
            </a:gsLst>
            <a:lin ang="0"/>
          </a:gradFill>
          <a:ln xmlns:a="http://schemas.openxmlformats.org/drawingml/2006/main" w="38100">
            <a:solidFill>
              <a:srgbClr val="07867F"/>
            </a:solidFill>
            <a:prstDash val="solid"/>
          </a:ln>
        </p:spPr>
      </p:sp>
      <p:sp>
        <p:nvSpPr>
          <p:cNvPr id="23" name="lower-header">
            <a:extLst xmlns:a="http://schemas.openxmlformats.org/drawingml/2006/main">
              <a:ext uri="{FF2B5EF4-FFF2-40B4-BE49-F238E27FC236}">
                <a16:creationId xmlns:a16="http://schemas.microsoft.com/office/drawing/2014/main" id="{D1C6F88F-C786-4C67-BD06-878CCD1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57700"/>
            <a:ext cx="10591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0981F-233D-4ED5-BBFE-4AA79B4E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95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下层：共享 SAC 站间驾驶控制</a:t>
            </a:r>
          </a:p>
        </p:txBody>
      </p:sp>
      <p:sp>
        <p:nvSpPr>
          <p:cNvPr id="25" name="16维状态">
            <a:extLst xmlns:a="http://schemas.openxmlformats.org/drawingml/2006/main">
              <a:ext uri="{FF2B5EF4-FFF2-40B4-BE49-F238E27FC236}">
                <a16:creationId xmlns:a16="http://schemas.microsoft.com/office/drawing/2014/main" id="{464C3B33-BA79-44C5-B170-110F7E94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14950"/>
            <a:ext cx="1857375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26" name="16维状态-header">
            <a:extLst xmlns:a="http://schemas.openxmlformats.org/drawingml/2006/main">
              <a:ext uri="{FF2B5EF4-FFF2-40B4-BE49-F238E27FC236}">
                <a16:creationId xmlns:a16="http://schemas.microsoft.com/office/drawing/2014/main" id="{9E753284-8F01-4A4A-901A-470C1E59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0"/>
            <a:ext cx="18192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16维状态-title">
            <a:extLst xmlns:a="http://schemas.openxmlformats.org/drawingml/2006/main">
              <a:ext uri="{FF2B5EF4-FFF2-40B4-BE49-F238E27FC236}">
                <a16:creationId xmlns:a16="http://schemas.microsoft.com/office/drawing/2014/main" id="{A4C1F112-69F4-40A1-A272-972C2527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334000"/>
            <a:ext cx="1724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16维状态</a:t>
            </a:r>
          </a:p>
        </p:txBody>
      </p:sp>
      <p:sp>
        <p:nvSpPr>
          <p:cNvPr id="28" name="16维状态-body">
            <a:extLst xmlns:a="http://schemas.openxmlformats.org/drawingml/2006/main">
              <a:ext uri="{FF2B5EF4-FFF2-40B4-BE49-F238E27FC236}">
                <a16:creationId xmlns:a16="http://schemas.microsoft.com/office/drawing/2014/main" id="{DC68FEA1-AD9F-4F7E-A0BD-CAA867EF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00725"/>
            <a:ext cx="1628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速度、位置、时刻偏差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载重、坡度、限速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方向、站间编号</a:t>
            </a:r>
          </a:p>
        </p:txBody>
      </p:sp>
      <p:sp>
        <p:nvSpPr>
          <p:cNvPr id="29" name="SAC Actor">
            <a:extLst xmlns:a="http://schemas.openxmlformats.org/drawingml/2006/main">
              <a:ext uri="{FF2B5EF4-FFF2-40B4-BE49-F238E27FC236}">
                <a16:creationId xmlns:a16="http://schemas.microsoft.com/office/drawing/2014/main" id="{B1C04667-D0C9-41FD-92F8-DDD674B7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14950"/>
            <a:ext cx="213360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30" name="SAC Actor-header">
            <a:extLst xmlns:a="http://schemas.openxmlformats.org/drawingml/2006/main">
              <a:ext uri="{FF2B5EF4-FFF2-40B4-BE49-F238E27FC236}">
                <a16:creationId xmlns:a16="http://schemas.microsoft.com/office/drawing/2014/main" id="{69616783-EAC9-4A19-AB07-09D2946F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340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AC Actor-title">
            <a:extLst xmlns:a="http://schemas.openxmlformats.org/drawingml/2006/main">
              <a:ext uri="{FF2B5EF4-FFF2-40B4-BE49-F238E27FC236}">
                <a16:creationId xmlns:a16="http://schemas.microsoft.com/office/drawing/2014/main" id="{09FF8260-3C72-4F48-B707-3FB0525A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340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SAC Actor</a:t>
            </a:r>
          </a:p>
        </p:txBody>
      </p:sp>
      <p:sp>
        <p:nvSpPr>
          <p:cNvPr id="32" name="SAC Actor-body">
            <a:extLst xmlns:a="http://schemas.openxmlformats.org/drawingml/2006/main">
              <a:ext uri="{FF2B5EF4-FFF2-40B4-BE49-F238E27FC236}">
                <a16:creationId xmlns:a16="http://schemas.microsoft.com/office/drawing/2014/main" id="{4CC20FAF-FA40-44B3-BF11-F58E6E1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00725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5092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训练：高斯分布采样 μ, 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评估：策略均值 tanh(μ)</a:t>
            </a:r>
          </a:p>
        </p:txBody>
      </p:sp>
      <p:sp>
        <p:nvSpPr>
          <p:cNvPr id="33" name="连续动作">
            <a:extLst xmlns:a="http://schemas.openxmlformats.org/drawingml/2006/main">
              <a:ext uri="{FF2B5EF4-FFF2-40B4-BE49-F238E27FC236}">
                <a16:creationId xmlns:a16="http://schemas.microsoft.com/office/drawing/2014/main" id="{6E02C9CA-2B01-42EA-AD65-8EAD3E7F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14950"/>
            <a:ext cx="161925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34" name="连续动作-header">
            <a:extLst xmlns:a="http://schemas.openxmlformats.org/drawingml/2006/main">
              <a:ext uri="{FF2B5EF4-FFF2-40B4-BE49-F238E27FC236}">
                <a16:creationId xmlns:a16="http://schemas.microsoft.com/office/drawing/2014/main" id="{A545F722-55C6-4FB5-AF4E-4549FC43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1581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连续动作-title">
            <a:extLst xmlns:a="http://schemas.openxmlformats.org/drawingml/2006/main">
              <a:ext uri="{FF2B5EF4-FFF2-40B4-BE49-F238E27FC236}">
                <a16:creationId xmlns:a16="http://schemas.microsoft.com/office/drawing/2014/main" id="{6BFA4ABD-E0C1-46EF-8E73-9B2C9AF0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334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连续动作</a:t>
            </a:r>
          </a:p>
        </p:txBody>
      </p:sp>
      <p:sp>
        <p:nvSpPr>
          <p:cNvPr id="36" name="连续动作-body">
            <a:extLst xmlns:a="http://schemas.openxmlformats.org/drawingml/2006/main">
              <a:ext uri="{FF2B5EF4-FFF2-40B4-BE49-F238E27FC236}">
                <a16:creationId xmlns:a16="http://schemas.microsoft.com/office/drawing/2014/main" id="{8ED78A05-65F0-4CAD-A7CE-35590BCE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00725"/>
            <a:ext cx="1390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 / 制动比例</a:t>
            </a:r>
          </a:p>
        </p:txBody>
      </p:sp>
      <p:sp>
        <p:nvSpPr>
          <p:cNvPr id="37" name="安全执行层">
            <a:extLst xmlns:a="http://schemas.openxmlformats.org/drawingml/2006/main">
              <a:ext uri="{FF2B5EF4-FFF2-40B4-BE49-F238E27FC236}">
                <a16:creationId xmlns:a16="http://schemas.microsoft.com/office/drawing/2014/main" id="{1082F2E9-C69D-49AC-BA9C-E01FEF1E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14950"/>
            <a:ext cx="2000250" cy="2000250"/>
          </a:xfrm>
          <a:prstGeom xmlns:a="http://schemas.openxmlformats.org/drawingml/2006/main" prst="roundRect">
            <a:avLst>
              <a:gd name="adj" fmla="val 6667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38" name="安全执行层-header">
            <a:extLst xmlns:a="http://schemas.openxmlformats.org/drawingml/2006/main">
              <a:ext uri="{FF2B5EF4-FFF2-40B4-BE49-F238E27FC236}">
                <a16:creationId xmlns:a16="http://schemas.microsoft.com/office/drawing/2014/main" id="{AFDDCCAE-1719-478E-80C4-FB6C0E63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安全执行层-title">
            <a:extLst xmlns:a="http://schemas.openxmlformats.org/drawingml/2006/main">
              <a:ext uri="{FF2B5EF4-FFF2-40B4-BE49-F238E27FC236}">
                <a16:creationId xmlns:a16="http://schemas.microsoft.com/office/drawing/2014/main" id="{0577677E-B1AC-4224-9761-7D0455F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340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安全执行层</a:t>
            </a:r>
          </a:p>
        </p:txBody>
      </p:sp>
      <p:sp>
        <p:nvSpPr>
          <p:cNvPr id="40" name="安全执行层-body">
            <a:extLst xmlns:a="http://schemas.openxmlformats.org/drawingml/2006/main">
              <a:ext uri="{FF2B5EF4-FFF2-40B4-BE49-F238E27FC236}">
                <a16:creationId xmlns:a16="http://schemas.microsoft.com/office/drawing/2014/main" id="{C29A427A-FE80-4228-BD2A-A881F678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00725"/>
            <a:ext cx="1771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牵引、功率、制动力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及加速度硬约束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预测超速时最小安全投影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终点停车保护</a:t>
            </a:r>
          </a:p>
        </p:txBody>
      </p:sp>
      <p:sp>
        <p:nvSpPr>
          <p:cNvPr id="41" name="列车与线路环境">
            <a:extLst xmlns:a="http://schemas.openxmlformats.org/drawingml/2006/main">
              <a:ext uri="{FF2B5EF4-FFF2-40B4-BE49-F238E27FC236}">
                <a16:creationId xmlns:a16="http://schemas.microsoft.com/office/drawing/2014/main" id="{BB9151CE-4C3B-4262-9BEF-49C98DC5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14950"/>
            <a:ext cx="167640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42" name="列车与线路环境-header">
            <a:extLst xmlns:a="http://schemas.openxmlformats.org/drawingml/2006/main">
              <a:ext uri="{FF2B5EF4-FFF2-40B4-BE49-F238E27FC236}">
                <a16:creationId xmlns:a16="http://schemas.microsoft.com/office/drawing/2014/main" id="{6EC86224-ED9B-4973-A489-1CDCF66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3340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列车与线路环境-title">
            <a:extLst xmlns:a="http://schemas.openxmlformats.org/drawingml/2006/main">
              <a:ext uri="{FF2B5EF4-FFF2-40B4-BE49-F238E27FC236}">
                <a16:creationId xmlns:a16="http://schemas.microsoft.com/office/drawing/2014/main" id="{FF7D7FC8-E4C6-445C-8B5E-EE3860A3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53340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505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列车与线路环境</a:t>
            </a:r>
          </a:p>
        </p:txBody>
      </p:sp>
      <p:sp>
        <p:nvSpPr>
          <p:cNvPr id="44" name="列车与线路环境-body">
            <a:extLst xmlns:a="http://schemas.openxmlformats.org/drawingml/2006/main">
              <a:ext uri="{FF2B5EF4-FFF2-40B4-BE49-F238E27FC236}">
                <a16:creationId xmlns:a16="http://schemas.microsoft.com/office/drawing/2014/main" id="{AC1DB0A4-9D21-45F1-B079-B614384E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80072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Davis阻力、坡度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曲线、限速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纵向动力学</a:t>
            </a:r>
          </a:p>
        </p:txBody>
      </p:sp>
      <p:sp>
        <p:nvSpPr>
          <p:cNvPr id="45" name="critic-replay">
            <a:extLst xmlns:a="http://schemas.openxmlformats.org/drawingml/2006/main">
              <a:ext uri="{FF2B5EF4-FFF2-40B4-BE49-F238E27FC236}">
                <a16:creationId xmlns:a16="http://schemas.microsoft.com/office/drawing/2014/main" id="{EFD2B3E3-4D73-4F44-A0DD-E80E2E71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181850"/>
            <a:ext cx="2190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F2FF"/>
          </a:soli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9C15E8-3C85-4EBD-8164-FA84846D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2485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456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双 Critic + 经验回放池</a:t>
            </a:r>
          </a:p>
        </p:txBody>
      </p:sp>
      <p:cxnSp>
        <p:nvCxnSpPr>
          <p:cNvPr id="112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352925" y="61055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headEnd type="triangle" w="med" len="med"/>
          </a:ln>
        </p:spPr>
      </p:cxnSp>
      <p:cxnSp>
        <p:nvCxnSpPr>
          <p:cNvPr id="113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724650" y="6105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head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591550" y="6105525"/>
            <a:ext cx="2476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headEnd type="triangle" w="med" len="med"/>
          </a:ln>
        </p:spPr>
      </p:cxnSp>
      <p:cxnSp>
        <p:nvCxnSpPr>
          <p:cNvPr id="115" name=""/>
          <p:cNvCxnSpPr>
            <a:stCxn xmlns:a="http://schemas.openxmlformats.org/drawingml/2006/main" id="3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10839450" y="6105525"/>
            <a:ext cx="2476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headEnd type="triangle" w="med" len="med"/>
          </a:ln>
        </p:spPr>
      </p:cxnSp>
      <p:cxnSp>
        <p:nvCxnSpPr>
          <p:cNvPr id="116" name=""/>
          <p:cNvCxnSpPr>
            <a:stCxn xmlns:a="http://schemas.openxmlformats.org/drawingml/2006/main" id="29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5657850" y="6896100"/>
            <a:ext cx="9525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368AA"/>
            </a:solidFill>
            <a:prstDash val="solid"/>
            <a:headEnd type="triangle" w="med" len="med"/>
          </a:ln>
        </p:spPr>
      </p:cxnSp>
      <p:cxnSp>
        <p:nvCxnSpPr>
          <p:cNvPr id="117" name=""/>
          <p:cNvCxnSpPr>
            <a:stCxn xmlns:a="http://schemas.openxmlformats.org/drawingml/2006/main" id="45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H="1" flipV="1">
            <a:off x="5657850" y="6896100"/>
            <a:ext cx="9525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368AA"/>
            </a:solidFill>
            <a:prstDash val="solid"/>
            <a:headEnd type="triangl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DFA374-4814-4E23-8CD1-1F3ADCF0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9818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Q值估计与策略更新</a:t>
            </a:r>
          </a:p>
        </p:txBody>
      </p:sp>
      <p:sp>
        <p:nvSpPr>
          <p:cNvPr id="54" name="基础数据">
            <a:extLst xmlns:a="http://schemas.openxmlformats.org/drawingml/2006/main">
              <a:ext uri="{FF2B5EF4-FFF2-40B4-BE49-F238E27FC236}">
                <a16:creationId xmlns:a16="http://schemas.microsoft.com/office/drawing/2014/main" id="{A261736E-D93A-4E53-B754-DE944E65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257550"/>
            <a:ext cx="2000250" cy="1943100"/>
          </a:xfrm>
          <a:prstGeom xmlns:a="http://schemas.openxmlformats.org/drawingml/2006/main" prst="roundRect">
            <a:avLst>
              <a:gd name="adj" fmla="val 6863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55" name="基础数据-header">
            <a:extLst xmlns:a="http://schemas.openxmlformats.org/drawingml/2006/main">
              <a:ext uri="{FF2B5EF4-FFF2-40B4-BE49-F238E27FC236}">
                <a16:creationId xmlns:a16="http://schemas.microsoft.com/office/drawing/2014/main" id="{A576FC17-87F6-43BE-BD2D-B8D6515E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27660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基础数据-title">
            <a:extLst xmlns:a="http://schemas.openxmlformats.org/drawingml/2006/main">
              <a:ext uri="{FF2B5EF4-FFF2-40B4-BE49-F238E27FC236}">
                <a16:creationId xmlns:a16="http://schemas.microsoft.com/office/drawing/2014/main" id="{01AB3115-EC73-4881-B9A8-2FDD2D92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32766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基础数据</a:t>
            </a:r>
          </a:p>
        </p:txBody>
      </p:sp>
      <p:sp>
        <p:nvSpPr>
          <p:cNvPr id="57" name="基础数据-body">
            <a:extLst xmlns:a="http://schemas.openxmlformats.org/drawingml/2006/main">
              <a:ext uri="{FF2B5EF4-FFF2-40B4-BE49-F238E27FC236}">
                <a16:creationId xmlns:a16="http://schemas.microsoft.com/office/drawing/2014/main" id="{DB181522-A049-4585-9768-07626CB0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771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真实时刻表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线路坡度 / 曲线 / 限速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列车质量与牵引特性</a:t>
            </a:r>
          </a:p>
        </p:txBody>
      </p:sp>
      <p:sp>
        <p:nvSpPr>
          <p:cNvPr id="58" name="结果">
            <a:extLst xmlns:a="http://schemas.openxmlformats.org/drawingml/2006/main">
              <a:ext uri="{FF2B5EF4-FFF2-40B4-BE49-F238E27FC236}">
                <a16:creationId xmlns:a16="http://schemas.microsoft.com/office/drawing/2014/main" id="{CE6531AD-DD68-4DA2-9E93-0908FEC0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295650"/>
            <a:ext cx="1981200" cy="2266950"/>
          </a:xfrm>
          <a:prstGeom xmlns:a="http://schemas.openxmlformats.org/drawingml/2006/main" prst="roundRect">
            <a:avLst>
              <a:gd name="adj" fmla="val 6731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59" name="结果-header">
            <a:extLst xmlns:a="http://schemas.openxmlformats.org/drawingml/2006/main">
              <a:ext uri="{FF2B5EF4-FFF2-40B4-BE49-F238E27FC236}">
                <a16:creationId xmlns:a16="http://schemas.microsoft.com/office/drawing/2014/main" id="{F4BBC318-BA74-4972-A94E-0624F1FD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3314700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结果-title">
            <a:extLst xmlns:a="http://schemas.openxmlformats.org/drawingml/2006/main">
              <a:ext uri="{FF2B5EF4-FFF2-40B4-BE49-F238E27FC236}">
                <a16:creationId xmlns:a16="http://schemas.microsoft.com/office/drawing/2014/main" id="{8B3325D0-E51A-45E6-9FEC-5BE4B8A4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33147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61" name="结果-body">
            <a:extLst xmlns:a="http://schemas.openxmlformats.org/drawingml/2006/main">
              <a:ext uri="{FF2B5EF4-FFF2-40B4-BE49-F238E27FC236}">
                <a16:creationId xmlns:a16="http://schemas.microsoft.com/office/drawing/2014/main" id="{289B1AE2-1706-43FE-83A2-67ED74D0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3838575"/>
            <a:ext cx="1752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优化时刻表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速度轨迹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 / 制动力曲线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能耗与可行率</a:t>
            </a:r>
          </a:p>
        </p:txBody>
      </p:sp>
      <p:cxnSp>
        <p:nvCxnSpPr>
          <p:cNvPr id="127" name=""/>
          <p:cNvCxnSpPr>
            <a:stCxn xmlns:a="http://schemas.openxmlformats.org/drawingml/2006/main" id="54" idx="0"/>
            <a:endCxn xmlns:a="http://schemas.openxmlformats.org/drawingml/2006/main" id="1" idx="1"/>
          </p:cNvCxnSpPr>
          <p:nvPr/>
        </p:nvCxnSpPr>
        <p:spPr>
          <a:xfrm xmlns:a="http://schemas.openxmlformats.org/drawingml/2006/main" flipV="1">
            <a:off x="1114425" y="1543050"/>
            <a:ext cx="1362075" cy="1714500"/>
          </a:xfrm>
          <a:prstGeom xmlns:a="http://schemas.openxmlformats.org/drawingml/2006/main" prst="bentConnector5">
            <a:avLst>
              <a:gd name="adj1" fmla="val 0"/>
              <a:gd name="adj2" fmla="val 13333"/>
              <a:gd name="adj3" fmla="val 83217"/>
            </a:avLst>
          </a:prstGeom>
          <a:ln xmlns:a="http://schemas.openxmlformats.org/drawingml/2006/main" w="38100">
            <a:solidFill>
              <a:srgbClr val="1368AA"/>
            </a:solidFill>
            <a:prstDash val="solid"/>
            <a:headEnd type="triangle" w="med" len="med"/>
          </a:ln>
        </p:spPr>
      </p:cxnSp>
      <p:cxnSp>
        <p:nvCxnSpPr>
          <p:cNvPr id="128" name=""/>
          <p:cNvCxnSpPr>
            <a:stCxn xmlns:a="http://schemas.openxmlformats.org/drawingml/2006/main" id="54" idx="2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114425" y="5200650"/>
            <a:ext cx="1381125" cy="9048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38100">
            <a:solidFill>
              <a:srgbClr val="1368AA"/>
            </a:solidFill>
            <a:prstDash val="solid"/>
            <a:headEnd type="triangle" w="med" len="med"/>
          </a:ln>
        </p:spPr>
      </p:cxnSp>
      <p:cxnSp>
        <p:nvCxnSpPr>
          <p:cNvPr id="129" name=""/>
          <p:cNvCxnSpPr>
            <a:stCxn xmlns:a="http://schemas.openxmlformats.org/drawingml/2006/main" id="1" idx="3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12763500" y="1543050"/>
            <a:ext cx="1371600" cy="1752600"/>
          </a:xfrm>
          <a:prstGeom xmlns:a="http://schemas.openxmlformats.org/drawingml/2006/main" prst="bentConnector2">
            <a:avLst/>
          </a:prstGeom>
          <a:ln xmlns:a="http://schemas.openxmlformats.org/drawingml/2006/main" w="38100">
            <a:solidFill>
              <a:srgbClr val="1368AA"/>
            </a:solidFill>
            <a:prstDash val="solid"/>
            <a:headEnd type="triangle" w="med" len="med"/>
          </a:ln>
        </p:spPr>
      </p:cxnSp>
      <p:cxnSp>
        <p:nvCxnSpPr>
          <p:cNvPr id="130" name=""/>
          <p:cNvCxnSpPr>
            <a:stCxn xmlns:a="http://schemas.openxmlformats.org/drawingml/2006/main" id="41" idx="3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V="1">
            <a:off x="12763500" y="5562600"/>
            <a:ext cx="1371600" cy="542925"/>
          </a:xfrm>
          <a:prstGeom xmlns:a="http://schemas.openxmlformats.org/drawingml/2006/main" prst="bentConnector2">
            <a:avLst/>
          </a:prstGeom>
          <a:ln xmlns:a="http://schemas.openxmlformats.org/drawingml/2006/main" w="38100">
            <a:solidFill>
              <a:srgbClr val="1368AA"/>
            </a:solidFill>
            <a:prstDash val="solid"/>
            <a:head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750953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2026-09-27T07:36:48.1250000Z</dcterms:created>
  <dcterms:modified xsi:type="dcterms:W3CDTF">2026-09-27T07:36:48.1250000Z</dcterms:modified>
</coreProperties>
</file>