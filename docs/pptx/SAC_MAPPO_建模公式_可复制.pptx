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7bf7809c7f647c8" /><Relationship Type="http://schemas.openxmlformats.org/officeDocument/2006/relationships/extended-properties" Target="/docProps/app.xml" Id="R2cdac8f6a9ff4044" /><Relationship Type="http://schemas.openxmlformats.org/officeDocument/2006/relationships/officeDocument" Target="/ppt/presentation.xml" Id="R22afe8167bfa49a5" /></Relationships>
</file>

<file path=ppt/presentation.xml><?xml version="1.0" encoding="utf-8"?>
<p:presentation xmlns:p="http://schemas.openxmlformats.org/presentationml/2006/main">
  <p:sldMasterIdLst>
    <p:sldMasterId xmlns:r="http://schemas.openxmlformats.org/officeDocument/2006/relationships" id="2147483648" r:id="Rf7c73c93fce04518"/>
  </p:sldMasterIdLst>
  <p:notesMasterIdLst>
    <p:notesMasterId xmlns:r="http://schemas.openxmlformats.org/officeDocument/2006/relationships" r:id="Rdfc4b93e8b634d10"/>
  </p:notesMasterIdLst>
  <p:sldIdLst>
    <p:sldId xmlns:r="http://schemas.openxmlformats.org/officeDocument/2006/relationships" id="256" r:id="R7421c4fa336e4c6d"/>
    <p:sldId xmlns:r="http://schemas.openxmlformats.org/officeDocument/2006/relationships" id="257" r:id="R0c05d57ac8ec4f57"/>
    <p:sldId xmlns:r="http://schemas.openxmlformats.org/officeDocument/2006/relationships" id="258" r:id="Rb6c20d4c1b064957"/>
    <p:sldId xmlns:r="http://schemas.openxmlformats.org/officeDocument/2006/relationships" id="259" r:id="R9a7cfb9dfea941c7"/>
    <p:sldId xmlns:r="http://schemas.openxmlformats.org/officeDocument/2006/relationships" id="260" r:id="R6d88c43357284558"/>
    <p:sldId xmlns:r="http://schemas.openxmlformats.org/officeDocument/2006/relationships" id="261" r:id="R8fb35e65f3df47c2"/>
    <p:sldId xmlns:r="http://schemas.openxmlformats.org/officeDocument/2006/relationships" id="262" r:id="R795fcf335fa540da"/>
    <p:sldId xmlns:r="http://schemas.openxmlformats.org/officeDocument/2006/relationships" id="263" r:id="R412ed9d3f11a41f0"/>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13fdcc50fbc4dd1" /><Relationship Type="http://schemas.openxmlformats.org/officeDocument/2006/relationships/slideMaster" Target="/ppt/slideMasters/slideMaster1.xml" Id="Rf7c73c93fce04518" /><Relationship Type="http://schemas.openxmlformats.org/officeDocument/2006/relationships/notesMaster" Target="/ppt/notesMasters/notesMaster1.xml" Id="Rdfc4b93e8b634d10" /><Relationship Type="http://schemas.openxmlformats.org/officeDocument/2006/relationships/presProps" Target="/ppt/presProps.xml" Id="R1b83300521b848fc" /><Relationship Type="http://schemas.openxmlformats.org/officeDocument/2006/relationships/tableStyles" Target="/ppt/tableStyles.xml" Id="Rff7d0cbf85814692" /><Relationship Type="http://schemas.openxmlformats.org/officeDocument/2006/relationships/slide" Target="/ppt/slides/slide1.xml" Id="R7421c4fa336e4c6d" /><Relationship Type="http://schemas.openxmlformats.org/officeDocument/2006/relationships/slide" Target="/ppt/slides/slide2.xml" Id="R0c05d57ac8ec4f57" /><Relationship Type="http://schemas.openxmlformats.org/officeDocument/2006/relationships/slide" Target="/ppt/slides/slide3.xml" Id="Rb6c20d4c1b064957" /><Relationship Type="http://schemas.openxmlformats.org/officeDocument/2006/relationships/slide" Target="/ppt/slides/slide4.xml" Id="R9a7cfb9dfea941c7" /><Relationship Type="http://schemas.openxmlformats.org/officeDocument/2006/relationships/slide" Target="/ppt/slides/slide5.xml" Id="R6d88c43357284558" /><Relationship Type="http://schemas.openxmlformats.org/officeDocument/2006/relationships/slide" Target="/ppt/slides/slide6.xml" Id="R8fb35e65f3df47c2" /><Relationship Type="http://schemas.openxmlformats.org/officeDocument/2006/relationships/slide" Target="/ppt/slides/slide7.xml" Id="R795fcf335fa540da" /><Relationship Type="http://schemas.openxmlformats.org/officeDocument/2006/relationships/slide" Target="/ppt/slides/slide8.xml" Id="R412ed9d3f11a41f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cb5271b60614bd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b0218f9189d4352" /><Relationship Type="http://schemas.openxmlformats.org/officeDocument/2006/relationships/notesMaster" Target="/ppt/notesMasters/notesMaster1.xml" Id="Rcb21eb2399f64ade" /></Relationships>
</file>

<file path=ppt/notesSlides/_rels/notesSlide2.xml.rels>&#65279;<?xml version="1.0" encoding="utf-8"?><Relationships xmlns="http://schemas.openxmlformats.org/package/2006/relationships"><Relationship Type="http://schemas.openxmlformats.org/officeDocument/2006/relationships/slide" Target="/ppt/slides/slide2.xml" Id="R8f4a72d31ef14ff4" /><Relationship Type="http://schemas.openxmlformats.org/officeDocument/2006/relationships/notesMaster" Target="/ppt/notesMasters/notesMaster1.xml" Id="Rbc97ca2680eb4d28" /></Relationships>
</file>

<file path=ppt/notesSlides/_rels/notesSlide3.xml.rels>&#65279;<?xml version="1.0" encoding="utf-8"?><Relationships xmlns="http://schemas.openxmlformats.org/package/2006/relationships"><Relationship Type="http://schemas.openxmlformats.org/officeDocument/2006/relationships/slide" Target="/ppt/slides/slide3.xml" Id="R6440eeb7fb914d71" /><Relationship Type="http://schemas.openxmlformats.org/officeDocument/2006/relationships/notesMaster" Target="/ppt/notesMasters/notesMaster1.xml" Id="R5bdc4df9edb147d8" /></Relationships>
</file>

<file path=ppt/notesSlides/_rels/notesSlide4.xml.rels>&#65279;<?xml version="1.0" encoding="utf-8"?><Relationships xmlns="http://schemas.openxmlformats.org/package/2006/relationships"><Relationship Type="http://schemas.openxmlformats.org/officeDocument/2006/relationships/slide" Target="/ppt/slides/slide4.xml" Id="R1e04aeef13e04ff2" /><Relationship Type="http://schemas.openxmlformats.org/officeDocument/2006/relationships/notesMaster" Target="/ppt/notesMasters/notesMaster1.xml" Id="R3372fd553d544e35" /></Relationships>
</file>

<file path=ppt/notesSlides/_rels/notesSlide5.xml.rels>&#65279;<?xml version="1.0" encoding="utf-8"?><Relationships xmlns="http://schemas.openxmlformats.org/package/2006/relationships"><Relationship Type="http://schemas.openxmlformats.org/officeDocument/2006/relationships/slide" Target="/ppt/slides/slide5.xml" Id="R3b7075c247a04ef4" /><Relationship Type="http://schemas.openxmlformats.org/officeDocument/2006/relationships/notesMaster" Target="/ppt/notesMasters/notesMaster1.xml" Id="R8367392213254930" /></Relationships>
</file>

<file path=ppt/notesSlides/_rels/notesSlide6.xml.rels>&#65279;<?xml version="1.0" encoding="utf-8"?><Relationships xmlns="http://schemas.openxmlformats.org/package/2006/relationships"><Relationship Type="http://schemas.openxmlformats.org/officeDocument/2006/relationships/slide" Target="/ppt/slides/slide6.xml" Id="Re79b4351accf4576" /><Relationship Type="http://schemas.openxmlformats.org/officeDocument/2006/relationships/notesMaster" Target="/ppt/notesMasters/notesMaster1.xml" Id="Re2d9d94843bc4d17" /></Relationships>
</file>

<file path=ppt/notesSlides/_rels/notesSlide7.xml.rels>&#65279;<?xml version="1.0" encoding="utf-8"?><Relationships xmlns="http://schemas.openxmlformats.org/package/2006/relationships"><Relationship Type="http://schemas.openxmlformats.org/officeDocument/2006/relationships/slide" Target="/ppt/slides/slide7.xml" Id="Rc6837383d3404c4d" /><Relationship Type="http://schemas.openxmlformats.org/officeDocument/2006/relationships/notesMaster" Target="/ppt/notesMasters/notesMaster1.xml" Id="R9c716bb137714ce4" /></Relationships>
</file>

<file path=ppt/notesSlides/_rels/notesSlide8.xml.rels>&#65279;<?xml version="1.0" encoding="utf-8"?><Relationships xmlns="http://schemas.openxmlformats.org/package/2006/relationships"><Relationship Type="http://schemas.openxmlformats.org/officeDocument/2006/relationships/slide" Target="/ppt/slides/slide8.xml" Id="R3187efa0d49e477d" /><Relationship Type="http://schemas.openxmlformats.org/officeDocument/2006/relationships/notesMaster" Target="/ppt/notesMasters/notesMaster1.xml" Id="R00432bffd73e42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公式依据当前项目代码：timetable/train_model.py；timetable/lower_control.py。公式与LaTeX源码均为可编辑文本。</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公式依据当前项目代码：timetable/lower_control.py；timetable/lower_continuous.py；timetable/train_model.py。公式与LaTeX源码均为可编辑文本。</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公式依据当前项目代码：timetable/lower_control.py。公式与LaTeX源码均为可编辑文本。</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公式依据当前项目代码：timetable/lower_continuous.py。公式与LaTeX源码均为可编辑文本。</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公式依据当前项目代码：timetable/online_hierarchical.py。公式与LaTeX源码均为可编辑文本。</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公式依据当前项目代码：timetable/online_hierarchical.py；timetable/mappo.py。公式与LaTeX源码均为可编辑文本。</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公式依据当前项目代码：timetable/mappo.py。公式与LaTeX源码均为可编辑文本。</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公式依据当前项目代码：timetable/online_hierarchical.py；timetable/lower_continuous.py；timetable/mappo.py。公式与LaTeX源码均为可编辑文本。</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156c004764f40e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5a5b399e22748d8" /><Relationship Type="http://schemas.openxmlformats.org/officeDocument/2006/relationships/slideLayout" Target="/ppt/slideLayouts/slideLayout1.xml" Id="Ra52cdf316e9c4ca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52cdf316e9c4ca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82fe63458b44a67" /><Relationship Type="http://schemas.openxmlformats.org/officeDocument/2006/relationships/notesSlide" Target="/ppt/notesSlides/notesSlide1.xml" Id="Rb2912d1b6b4c48d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6e8d08971634eef" /><Relationship Type="http://schemas.openxmlformats.org/officeDocument/2006/relationships/notesSlide" Target="/ppt/notesSlides/notesSlide2.xml" Id="R06e72768769249e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50dfe7a31f04f2c" /><Relationship Type="http://schemas.openxmlformats.org/officeDocument/2006/relationships/notesSlide" Target="/ppt/notesSlides/notesSlide3.xml" Id="R742fd2f30214408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62fbda94c324f46" /><Relationship Type="http://schemas.openxmlformats.org/officeDocument/2006/relationships/notesSlide" Target="/ppt/notesSlides/notesSlide4.xml" Id="Rafe1bdd16bfe4d5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c28bc5fd59b4925" /><Relationship Type="http://schemas.openxmlformats.org/officeDocument/2006/relationships/notesSlide" Target="/ppt/notesSlides/notesSlide5.xml" Id="Ra079c399a8ce42f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ac8be323f9349b0" /><Relationship Type="http://schemas.openxmlformats.org/officeDocument/2006/relationships/notesSlide" Target="/ppt/notesSlides/notesSlide6.xml" Id="R44c11a88399c49a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eeec846a96e40b4" /><Relationship Type="http://schemas.openxmlformats.org/officeDocument/2006/relationships/notesSlide" Target="/ppt/notesSlides/notesSlide7.xml" Id="Ra147f6eed006439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4a46401570e4be4" /><Relationship Type="http://schemas.openxmlformats.org/officeDocument/2006/relationships/notesSlide" Target="/ppt/notesSlides/notesSlide8.xml" Id="Rc9de7ed6075c4a2c" /></Relationships>
</file>

<file path=ppt/slides/slide1.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E0004CD-11DE-4169-8672-A2DD9CB22592}"/>
              </a:ext>
            </a:extLst>
          </p:cNvPr>
          <p:cNvSpPr>
            <a:spLocks xmlns:a="http://schemas.openxmlformats.org/drawingml/2006/main" noGrp="1"/>
          </p:cNvSpPr>
          <p:nvPr/>
        </p:nvSpPr>
        <p:spPr>
          <a:xfrm xmlns:a="http://schemas.openxmlformats.org/drawingml/2006/main">
            <a:off x="685800" y="381000"/>
            <a:ext cx="13868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2850" b="1">
                <a:solidFill>
                  <a:srgbClr val="0B2A53"/>
                </a:solidFill>
                <a:latin typeface="Microsoft YaHei"/>
                <a:ea typeface="Microsoft YaHei"/>
                <a:cs typeface="Microsoft YaHei"/>
              </a:defRPr>
            </a:pPr>
            <a:r>
              <a:rPr sz="2850" b="1">
                <a:solidFill>
                  <a:srgbClr val="0B2A53"/>
                </a:solidFill>
                <a:latin typeface="Microsoft YaHei"/>
                <a:ea typeface="Microsoft YaHei"/>
                <a:cs typeface="Microsoft YaHei"/>
              </a:rPr>
              <a:t>下层列车纵向动力学</a:t>
            </a:r>
          </a:p>
        </p:txBody>
      </p:sp>
      <p:sp>
        <p:nvSpPr>
          <p:cNvPr id="2" name="">
            <a:extLst xmlns:a="http://schemas.openxmlformats.org/drawingml/2006/main">
              <a:ext uri="{FF2B5EF4-FFF2-40B4-BE49-F238E27FC236}">
                <a16:creationId xmlns:a16="http://schemas.microsoft.com/office/drawing/2014/main" id="{C6537780-8ED8-4D26-9EDC-6C8955153265}"/>
              </a:ext>
            </a:extLst>
          </p:cNvPr>
          <p:cNvSpPr>
            <a:spLocks xmlns:a="http://schemas.openxmlformats.org/drawingml/2006/main" noGrp="1"/>
          </p:cNvSpPr>
          <p:nvPr/>
        </p:nvSpPr>
        <p:spPr>
          <a:xfrm xmlns:a="http://schemas.openxmlformats.org/drawingml/2006/main">
            <a:off x="685800" y="1000125"/>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1275" b="1">
                <a:solidFill>
                  <a:srgbClr val="07867F"/>
                </a:solidFill>
                <a:latin typeface="Microsoft YaHei"/>
                <a:ea typeface="Microsoft YaHei"/>
                <a:cs typeface="Microsoft YaHei"/>
              </a:defRPr>
            </a:pPr>
            <a:r>
              <a:rPr sz="1275" b="1">
                <a:solidFill>
                  <a:srgbClr val="07867F"/>
                </a:solidFill>
                <a:latin typeface="Microsoft YaHei"/>
                <a:ea typeface="Microsoft YaHei"/>
                <a:cs typeface="Microsoft YaHei"/>
              </a:rPr>
              <a:t>SAC下层控制</a:t>
            </a:r>
          </a:p>
        </p:txBody>
      </p:sp>
      <p:sp>
        <p:nvSpPr>
          <p:cNvPr id="3" name="">
            <a:extLst xmlns:a="http://schemas.openxmlformats.org/drawingml/2006/main">
              <a:ext uri="{FF2B5EF4-FFF2-40B4-BE49-F238E27FC236}">
                <a16:creationId xmlns:a16="http://schemas.microsoft.com/office/drawing/2014/main" id="{11D08E1E-F50B-407C-857E-AD3BA67AF7E4}"/>
              </a:ext>
            </a:extLst>
          </p:cNvPr>
          <p:cNvSpPr>
            <a:spLocks xmlns:a="http://schemas.openxmlformats.org/drawingml/2006/main" noGrp="1"/>
          </p:cNvSpPr>
          <p:nvPr/>
        </p:nvSpPr>
        <p:spPr>
          <a:xfrm xmlns:a="http://schemas.openxmlformats.org/drawingml/2006/main">
            <a:off x="685800" y="1381125"/>
            <a:ext cx="13868400" cy="0"/>
          </a:xfrm>
          <a:prstGeom xmlns:a="http://schemas.openxmlformats.org/drawingml/2006/main" prst="line">
            <a:avLst/>
          </a:prstGeom>
          <a:noFill xmlns:a="http://schemas.openxmlformats.org/drawingml/2006/main"/>
          <a:ln xmlns:a="http://schemas.openxmlformats.org/drawingml/2006/main" w="28575">
            <a:solidFill>
              <a:srgbClr val="07867F"/>
            </a:solidFill>
            <a:prstDash val="solid"/>
          </a:ln>
        </p:spPr>
      </p:sp>
      <p:sp>
        <p:nvSpPr>
          <p:cNvPr id="4" name="">
            <a:extLst xmlns:a="http://schemas.openxmlformats.org/drawingml/2006/main">
              <a:ext uri="{FF2B5EF4-FFF2-40B4-BE49-F238E27FC236}">
                <a16:creationId xmlns:a16="http://schemas.microsoft.com/office/drawing/2014/main" id="{010FFDE5-9ECC-48D3-923C-C275DB7D93EB}"/>
              </a:ext>
            </a:extLst>
          </p:cNvPr>
          <p:cNvSpPr>
            <a:spLocks xmlns:a="http://schemas.openxmlformats.org/drawingml/2006/main" noGrp="1"/>
          </p:cNvSpPr>
          <p:nvPr/>
        </p:nvSpPr>
        <p:spPr>
          <a:xfrm xmlns:a="http://schemas.openxmlformats.org/drawingml/2006/main">
            <a:off x="13811250" y="802005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14300" tIns="57150" rIns="114300" bIns="57150" anchor="ctr">
            <a:normAutofit fontScale="95238"/>
          </a:bodyPr>
          <a:lstStyle xmlns:a="http://schemas.openxmlformats.org/drawingml/2006/main"/>
          <a:p xmlns:a="http://schemas.openxmlformats.org/drawingml/2006/main">
            <a:pPr algn="r">
              <a:defRPr sz="1050" b="0">
                <a:solidFill>
                  <a:srgbClr val="526579"/>
                </a:solidFill>
                <a:latin typeface="Microsoft YaHei"/>
                <a:ea typeface="Microsoft YaHei"/>
                <a:cs typeface="Microsoft YaHei"/>
              </a:defRPr>
            </a:pPr>
            <a:r>
              <a:rPr sz="1050" b="0">
                <a:solidFill>
                  <a:srgbClr val="526579"/>
                </a:solidFill>
                <a:latin typeface="Microsoft YaHei"/>
                <a:ea typeface="Microsoft YaHei"/>
                <a:cs typeface="Microsoft YaHei"/>
              </a:rPr>
              <a:t>01</a:t>
            </a:r>
          </a:p>
        </p:txBody>
      </p:sp>
      <p:sp>
        <p:nvSpPr>
          <p:cNvPr id="5" name="">
            <a:extLst xmlns:a="http://schemas.openxmlformats.org/drawingml/2006/main">
              <a:ext uri="{FF2B5EF4-FFF2-40B4-BE49-F238E27FC236}">
                <a16:creationId xmlns:a16="http://schemas.microsoft.com/office/drawing/2014/main" id="{EF30B7FC-93C9-4B22-A7E1-D5A4ADB6C5EF}"/>
              </a:ext>
            </a:extLst>
          </p:cNvPr>
          <p:cNvSpPr>
            <a:spLocks xmlns:a="http://schemas.openxmlformats.org/drawingml/2006/main" noGrp="1"/>
          </p:cNvSpPr>
          <p:nvPr/>
        </p:nvSpPr>
        <p:spPr>
          <a:xfrm xmlns:a="http://schemas.openxmlformats.org/drawingml/2006/main">
            <a:off x="819150" y="16192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14300" tIns="57150" rIns="114300" bIns="57150" anchor="ctr">
            <a:normAutofit fontScale="91667"/>
          </a:bodyPr>
          <a:lstStyle xmlns:a="http://schemas.openxmlformats.org/drawingml/2006/main"/>
          <a:p xmlns:a="http://schemas.openxmlformats.org/drawingml/2006/main">
            <a:pPr algn="l">
              <a:defRPr sz="1500" b="1">
                <a:solidFill>
                  <a:srgbClr val="07867F"/>
                </a:solidFill>
                <a:latin typeface="Microsoft YaHei"/>
                <a:ea typeface="Microsoft YaHei"/>
                <a:cs typeface="Microsoft YaHei"/>
              </a:defRPr>
            </a:pPr>
            <a:r>
              <a:rPr sz="1500" b="1">
                <a:solidFill>
                  <a:srgbClr val="07867F"/>
                </a:solidFill>
                <a:latin typeface="Microsoft YaHei"/>
                <a:ea typeface="Microsoft YaHei"/>
                <a:cs typeface="Microsoft YaHei"/>
              </a:rPr>
              <a:t>运动方程</a:t>
            </a:r>
          </a:p>
        </p:txBody>
      </p:sp>
      <p:sp>
        <p:nvSpPr>
          <p:cNvPr id="6" name="">
            <a:extLst xmlns:a="http://schemas.openxmlformats.org/drawingml/2006/main">
              <a:ext uri="{FF2B5EF4-FFF2-40B4-BE49-F238E27FC236}">
                <a16:creationId xmlns:a16="http://schemas.microsoft.com/office/drawing/2014/main" id="{EAFB30CC-2C3C-494D-A6E8-0DB5B8BC4D58}"/>
              </a:ext>
            </a:extLst>
          </p:cNvPr>
          <p:cNvSpPr>
            <a:spLocks xmlns:a="http://schemas.openxmlformats.org/drawingml/2006/main" noGrp="1"/>
          </p:cNvSpPr>
          <p:nvPr/>
        </p:nvSpPr>
        <p:spPr>
          <a:xfrm xmlns:a="http://schemas.openxmlformats.org/drawingml/2006/main">
            <a:off x="819150" y="1981200"/>
            <a:ext cx="10096500" cy="85725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1430">
            <a:solidFill>
              <a:srgbClr val="C8D7E5"/>
            </a:solid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ctr">
              <a:defRPr sz="2250" b="0">
                <a:solidFill>
                  <a:srgbClr val="0B2A53"/>
                </a:solidFill>
                <a:latin typeface="Cambria Math"/>
                <a:ea typeface="Cambria Math"/>
                <a:cs typeface="Cambria Math"/>
              </a:defRPr>
            </a:pPr>
            <a:r>
              <a:rPr sz="2250" b="0">
                <a:solidFill>
                  <a:srgbClr val="0B2A53"/>
                </a:solidFill>
                <a:latin typeface="Cambria Math"/>
                <a:ea typeface="Cambria Math"/>
                <a:cs typeface="Cambria Math"/>
              </a:rPr>
              <a:t>dx/dt = v，      m·dv/dt = F − R(v,x)</a:t>
            </a:r>
          </a:p>
        </p:txBody>
      </p:sp>
      <p:sp>
        <p:nvSpPr>
          <p:cNvPr id="7" name="">
            <a:extLst xmlns:a="http://schemas.openxmlformats.org/drawingml/2006/main">
              <a:ext uri="{FF2B5EF4-FFF2-40B4-BE49-F238E27FC236}">
                <a16:creationId xmlns:a16="http://schemas.microsoft.com/office/drawing/2014/main" id="{402E6C53-616E-43E0-BDCD-F35598E487D0}"/>
              </a:ext>
            </a:extLst>
          </p:cNvPr>
          <p:cNvSpPr>
            <a:spLocks xmlns:a="http://schemas.openxmlformats.org/drawingml/2006/main" noGrp="1"/>
          </p:cNvSpPr>
          <p:nvPr/>
        </p:nvSpPr>
        <p:spPr>
          <a:xfrm xmlns:a="http://schemas.openxmlformats.org/drawingml/2006/main">
            <a:off x="11163300" y="1981200"/>
            <a:ext cx="3257550" cy="857250"/>
          </a:xfrm>
          <a:prstGeom xmlns:a="http://schemas.openxmlformats.org/drawingml/2006/main" prst="roundRect">
            <a:avLst>
              <a:gd name="adj" fmla="val 11111"/>
            </a:avLst>
          </a:prstGeom>
          <a:solidFill xmlns:a="http://schemas.openxmlformats.org/drawingml/2006/main">
            <a:srgbClr val="E9F9F6"/>
          </a:solidFill>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1275" b="0">
                <a:solidFill>
                  <a:srgbClr val="526579"/>
                </a:solidFill>
                <a:latin typeface="Microsoft YaHei"/>
                <a:ea typeface="Microsoft YaHei"/>
                <a:cs typeface="Microsoft YaHei"/>
              </a:defRPr>
            </a:pPr>
            <a:r>
              <a:rPr sz="1275" b="0">
                <a:solidFill>
                  <a:srgbClr val="526579"/>
                </a:solidFill>
                <a:latin typeface="Microsoft YaHei"/>
                <a:ea typeface="Microsoft YaHei"/>
                <a:cs typeface="Microsoft YaHei"/>
              </a:rPr>
              <a:t>x为位置，v为速度，F为执行力，m为列车质量。</a:t>
            </a:r>
          </a:p>
        </p:txBody>
      </p:sp>
      <p:sp>
        <p:nvSpPr>
          <p:cNvPr id="8" name="">
            <a:extLst xmlns:a="http://schemas.openxmlformats.org/drawingml/2006/main">
              <a:ext uri="{FF2B5EF4-FFF2-40B4-BE49-F238E27FC236}">
                <a16:creationId xmlns:a16="http://schemas.microsoft.com/office/drawing/2014/main" id="{4796BEE5-A811-492B-B778-8721A5041F32}"/>
              </a:ext>
            </a:extLst>
          </p:cNvPr>
          <p:cNvSpPr>
            <a:spLocks xmlns:a="http://schemas.openxmlformats.org/drawingml/2006/main" noGrp="1"/>
          </p:cNvSpPr>
          <p:nvPr/>
        </p:nvSpPr>
        <p:spPr>
          <a:xfrm xmlns:a="http://schemas.openxmlformats.org/drawingml/2006/main">
            <a:off x="819150" y="2914650"/>
            <a:ext cx="13601700" cy="409575"/>
          </a:xfrm>
          <a:prstGeom xmlns:a="http://schemas.openxmlformats.org/drawingml/2006/main" prst="roundRect">
            <a:avLst>
              <a:gd name="adj" fmla="val 23256"/>
            </a:avLst>
          </a:prstGeom>
          <a:solidFill xmlns:a="http://schemas.openxmlformats.org/drawingml/2006/main">
            <a:srgbClr val="F4F7FA"/>
          </a:solidFill>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1125" b="0">
                <a:solidFill>
                  <a:srgbClr val="526579"/>
                </a:solidFill>
                <a:latin typeface="Cambria Math"/>
                <a:ea typeface="Cambria Math"/>
                <a:cs typeface="Cambria Math"/>
              </a:defRPr>
            </a:pPr>
            <a:r>
              <a:rPr sz="1125" b="0">
                <a:solidFill>
                  <a:srgbClr val="526579"/>
                </a:solidFill>
                <a:latin typeface="Cambria Math"/>
                <a:ea typeface="Cambria Math"/>
                <a:cs typeface="Cambria Math"/>
              </a:rPr>
              <a:t>LaTeX：\dot{x}=v,\quad m\dot{v}=F-R(v,x)</a:t>
            </a:r>
          </a:p>
        </p:txBody>
      </p:sp>
      <p:sp>
        <p:nvSpPr>
          <p:cNvPr id="9" name="">
            <a:extLst xmlns:a="http://schemas.openxmlformats.org/drawingml/2006/main">
              <a:ext uri="{FF2B5EF4-FFF2-40B4-BE49-F238E27FC236}">
                <a16:creationId xmlns:a16="http://schemas.microsoft.com/office/drawing/2014/main" id="{8164D20A-6373-4B25-B557-2FD29623668C}"/>
              </a:ext>
            </a:extLst>
          </p:cNvPr>
          <p:cNvSpPr>
            <a:spLocks xmlns:a="http://schemas.openxmlformats.org/drawingml/2006/main" noGrp="1"/>
          </p:cNvSpPr>
          <p:nvPr/>
        </p:nvSpPr>
        <p:spPr>
          <a:xfrm xmlns:a="http://schemas.openxmlformats.org/drawingml/2006/main">
            <a:off x="819150" y="338137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14300" tIns="57150" rIns="114300" bIns="57150" anchor="ctr">
            <a:normAutofit fontScale="91667"/>
          </a:bodyPr>
          <a:lstStyle xmlns:a="http://schemas.openxmlformats.org/drawingml/2006/main"/>
          <a:p xmlns:a="http://schemas.openxmlformats.org/drawingml/2006/main">
            <a:pPr algn="l">
              <a:defRPr sz="1500" b="1">
                <a:solidFill>
                  <a:srgbClr val="07867F"/>
                </a:solidFill>
                <a:latin typeface="Microsoft YaHei"/>
                <a:ea typeface="Microsoft YaHei"/>
                <a:cs typeface="Microsoft YaHei"/>
              </a:defRPr>
            </a:pPr>
            <a:r>
              <a:rPr sz="1500" b="1">
                <a:solidFill>
                  <a:srgbClr val="07867F"/>
                </a:solidFill>
                <a:latin typeface="Microsoft YaHei"/>
                <a:ea typeface="Microsoft YaHei"/>
                <a:cs typeface="Microsoft YaHei"/>
              </a:rPr>
              <a:t>离散状态更新</a:t>
            </a:r>
          </a:p>
        </p:txBody>
      </p:sp>
      <p:sp>
        <p:nvSpPr>
          <p:cNvPr id="10" name="">
            <a:extLst xmlns:a="http://schemas.openxmlformats.org/drawingml/2006/main">
              <a:ext uri="{FF2B5EF4-FFF2-40B4-BE49-F238E27FC236}">
                <a16:creationId xmlns:a16="http://schemas.microsoft.com/office/drawing/2014/main" id="{441616C9-3734-4DD2-AEDB-FC8ABEF732B7}"/>
              </a:ext>
            </a:extLst>
          </p:cNvPr>
          <p:cNvSpPr>
            <a:spLocks xmlns:a="http://schemas.openxmlformats.org/drawingml/2006/main" noGrp="1"/>
          </p:cNvSpPr>
          <p:nvPr/>
        </p:nvSpPr>
        <p:spPr>
          <a:xfrm xmlns:a="http://schemas.openxmlformats.org/drawingml/2006/main">
            <a:off x="819150" y="3743325"/>
            <a:ext cx="10096500" cy="1066800"/>
          </a:xfrm>
          <a:prstGeom xmlns:a="http://schemas.openxmlformats.org/drawingml/2006/main" prst="roundRect">
            <a:avLst>
              <a:gd name="adj" fmla="val 8929"/>
            </a:avLst>
          </a:prstGeom>
          <a:solidFill xmlns:a="http://schemas.openxmlformats.org/drawingml/2006/main">
            <a:srgbClr val="FFFFFF"/>
          </a:solidFill>
          <a:ln xmlns:a="http://schemas.openxmlformats.org/drawingml/2006/main" w="11430">
            <a:solidFill>
              <a:srgbClr val="C8D7E5"/>
            </a:solid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ctr">
              <a:defRPr sz="2250" b="0">
                <a:solidFill>
                  <a:srgbClr val="0B2A53"/>
                </a:solidFill>
                <a:latin typeface="Cambria Math"/>
                <a:ea typeface="Cambria Math"/>
                <a:cs typeface="Cambria Math"/>
              </a:defRPr>
            </a:pPr>
            <a:r>
              <a:rPr sz="2250" b="0">
                <a:solidFill>
                  <a:srgbClr val="0B2A53"/>
                </a:solidFill>
                <a:latin typeface="Cambria Math"/>
                <a:ea typeface="Cambria Math"/>
                <a:cs typeface="Cambria Math"/>
              </a:rPr>
              <a:t>vₜ₊₁ = max[0, vₜ + (Fₜ − Rₜ)Δt/m]</a:t>
            </a:r>
          </a:p>
          <a:p xmlns:a="http://schemas.openxmlformats.org/drawingml/2006/main">
            <a:pPr algn="ctr">
              <a:defRPr sz="2250" b="0">
                <a:solidFill>
                  <a:srgbClr val="0B2A53"/>
                </a:solidFill>
                <a:latin typeface="Cambria Math"/>
                <a:ea typeface="Cambria Math"/>
                <a:cs typeface="Cambria Math"/>
              </a:defRPr>
            </a:pPr>
            <a:r>
              <a:rPr sz="2250" b="0">
                <a:solidFill>
                  <a:srgbClr val="0B2A53"/>
                </a:solidFill>
                <a:latin typeface="Cambria Math"/>
                <a:ea typeface="Cambria Math"/>
                <a:cs typeface="Cambria Math"/>
              </a:rPr>
              <a:t>xₜ₊₁ = xₜ + (vₜ + vₜ₊₁)Δt/2</a:t>
            </a:r>
          </a:p>
        </p:txBody>
      </p:sp>
      <p:sp>
        <p:nvSpPr>
          <p:cNvPr id="11" name="">
            <a:extLst xmlns:a="http://schemas.openxmlformats.org/drawingml/2006/main">
              <a:ext uri="{FF2B5EF4-FFF2-40B4-BE49-F238E27FC236}">
                <a16:creationId xmlns:a16="http://schemas.microsoft.com/office/drawing/2014/main" id="{F7C30505-801E-40B1-9E82-351AB102C567}"/>
              </a:ext>
            </a:extLst>
          </p:cNvPr>
          <p:cNvSpPr>
            <a:spLocks xmlns:a="http://schemas.openxmlformats.org/drawingml/2006/main" noGrp="1"/>
          </p:cNvSpPr>
          <p:nvPr/>
        </p:nvSpPr>
        <p:spPr>
          <a:xfrm xmlns:a="http://schemas.openxmlformats.org/drawingml/2006/main">
            <a:off x="11163300" y="3743325"/>
            <a:ext cx="3257550" cy="1066800"/>
          </a:xfrm>
          <a:prstGeom xmlns:a="http://schemas.openxmlformats.org/drawingml/2006/main" prst="roundRect">
            <a:avLst>
              <a:gd name="adj" fmla="val 8929"/>
            </a:avLst>
          </a:prstGeom>
          <a:solidFill xmlns:a="http://schemas.openxmlformats.org/drawingml/2006/main">
            <a:srgbClr val="E9F9F6"/>
          </a:solidFill>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1275" b="0">
                <a:solidFill>
                  <a:srgbClr val="526579"/>
                </a:solidFill>
                <a:latin typeface="Microsoft YaHei"/>
                <a:ea typeface="Microsoft YaHei"/>
                <a:cs typeface="Microsoft YaHei"/>
              </a:defRPr>
            </a:pPr>
            <a:r>
              <a:rPr sz="1275" b="0">
                <a:solidFill>
                  <a:srgbClr val="526579"/>
                </a:solidFill>
                <a:latin typeface="Microsoft YaHei"/>
                <a:ea typeface="Microsoft YaHei"/>
                <a:cs typeface="Microsoft YaHei"/>
              </a:rPr>
              <a:t>仿真采用匀加速度离散积分。</a:t>
            </a:r>
          </a:p>
        </p:txBody>
      </p:sp>
      <p:sp>
        <p:nvSpPr>
          <p:cNvPr id="12" name="">
            <a:extLst xmlns:a="http://schemas.openxmlformats.org/drawingml/2006/main">
              <a:ext uri="{FF2B5EF4-FFF2-40B4-BE49-F238E27FC236}">
                <a16:creationId xmlns:a16="http://schemas.microsoft.com/office/drawing/2014/main" id="{3C1C0FDF-92E8-4B48-B767-847DB2AA3D51}"/>
              </a:ext>
            </a:extLst>
          </p:cNvPr>
          <p:cNvSpPr>
            <a:spLocks xmlns:a="http://schemas.openxmlformats.org/drawingml/2006/main" noGrp="1"/>
          </p:cNvSpPr>
          <p:nvPr/>
        </p:nvSpPr>
        <p:spPr>
          <a:xfrm xmlns:a="http://schemas.openxmlformats.org/drawingml/2006/main">
            <a:off x="819150" y="4886325"/>
            <a:ext cx="13601700" cy="409575"/>
          </a:xfrm>
          <a:prstGeom xmlns:a="http://schemas.openxmlformats.org/drawingml/2006/main" prst="roundRect">
            <a:avLst>
              <a:gd name="adj" fmla="val 23256"/>
            </a:avLst>
          </a:prstGeom>
          <a:solidFill xmlns:a="http://schemas.openxmlformats.org/drawingml/2006/main">
            <a:srgbClr val="F4F7FA"/>
          </a:solidFill>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1125" b="0">
                <a:solidFill>
                  <a:srgbClr val="526579"/>
                </a:solidFill>
                <a:latin typeface="Cambria Math"/>
                <a:ea typeface="Cambria Math"/>
                <a:cs typeface="Cambria Math"/>
              </a:defRPr>
            </a:pPr>
            <a:r>
              <a:rPr sz="1125" b="0">
                <a:solidFill>
                  <a:srgbClr val="526579"/>
                </a:solidFill>
                <a:latin typeface="Cambria Math"/>
                <a:ea typeface="Cambria Math"/>
                <a:cs typeface="Cambria Math"/>
              </a:rPr>
              <a:t>LaTeX：v_{t+1}=\max\{0,v_t+\frac{F_t-R_t}{m}\Delta t\},\quad x_{t+1}=x_t+\frac{v_t+v_{t+1}}{2}\Delta t</a:t>
            </a:r>
          </a:p>
        </p:txBody>
      </p:sp>
      <p:sp>
        <p:nvSpPr>
          <p:cNvPr id="13" name="">
            <a:extLst xmlns:a="http://schemas.openxmlformats.org/drawingml/2006/main">
              <a:ext uri="{FF2B5EF4-FFF2-40B4-BE49-F238E27FC236}">
                <a16:creationId xmlns:a16="http://schemas.microsoft.com/office/drawing/2014/main" id="{4971F8BF-45E8-4807-813C-48793F7C4D9E}"/>
              </a:ext>
            </a:extLst>
          </p:cNvPr>
          <p:cNvSpPr>
            <a:spLocks xmlns:a="http://schemas.openxmlformats.org/drawingml/2006/main" noGrp="1"/>
          </p:cNvSpPr>
          <p:nvPr/>
        </p:nvSpPr>
        <p:spPr>
          <a:xfrm xmlns:a="http://schemas.openxmlformats.org/drawingml/2006/main">
            <a:off x="819150" y="538162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14300" tIns="57150" rIns="114300" bIns="57150" anchor="ctr">
            <a:normAutofit fontScale="91667"/>
          </a:bodyPr>
          <a:lstStyle xmlns:a="http://schemas.openxmlformats.org/drawingml/2006/main"/>
          <a:p xmlns:a="http://schemas.openxmlformats.org/drawingml/2006/main">
            <a:pPr algn="l">
              <a:defRPr sz="1500" b="1">
                <a:solidFill>
                  <a:srgbClr val="07867F"/>
                </a:solidFill>
                <a:latin typeface="Microsoft YaHei"/>
                <a:ea typeface="Microsoft YaHei"/>
                <a:cs typeface="Microsoft YaHei"/>
              </a:defRPr>
            </a:pPr>
            <a:r>
              <a:rPr sz="1500" b="1">
                <a:solidFill>
                  <a:srgbClr val="07867F"/>
                </a:solidFill>
                <a:latin typeface="Microsoft YaHei"/>
                <a:ea typeface="Microsoft YaHei"/>
                <a:cs typeface="Microsoft YaHei"/>
              </a:rPr>
              <a:t>线路总阻力</a:t>
            </a:r>
          </a:p>
        </p:txBody>
      </p:sp>
      <p:sp>
        <p:nvSpPr>
          <p:cNvPr id="14" name="">
            <a:extLst xmlns:a="http://schemas.openxmlformats.org/drawingml/2006/main">
              <a:ext uri="{FF2B5EF4-FFF2-40B4-BE49-F238E27FC236}">
                <a16:creationId xmlns:a16="http://schemas.microsoft.com/office/drawing/2014/main" id="{77D0E770-6003-4D4D-8193-D8F1FDF81683}"/>
              </a:ext>
            </a:extLst>
          </p:cNvPr>
          <p:cNvSpPr>
            <a:spLocks xmlns:a="http://schemas.openxmlformats.org/drawingml/2006/main" noGrp="1"/>
          </p:cNvSpPr>
          <p:nvPr/>
        </p:nvSpPr>
        <p:spPr>
          <a:xfrm xmlns:a="http://schemas.openxmlformats.org/drawingml/2006/main">
            <a:off x="819150" y="5743575"/>
            <a:ext cx="10096500" cy="1066800"/>
          </a:xfrm>
          <a:prstGeom xmlns:a="http://schemas.openxmlformats.org/drawingml/2006/main" prst="roundRect">
            <a:avLst>
              <a:gd name="adj" fmla="val 8929"/>
            </a:avLst>
          </a:prstGeom>
          <a:solidFill xmlns:a="http://schemas.openxmlformats.org/drawingml/2006/main">
            <a:srgbClr val="FFFFFF"/>
          </a:solidFill>
          <a:ln xmlns:a="http://schemas.openxmlformats.org/drawingml/2006/main" w="11430">
            <a:solidFill>
              <a:srgbClr val="C8D7E5"/>
            </a:solid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ctr">
              <a:defRPr sz="2250" b="0">
                <a:solidFill>
                  <a:srgbClr val="0B2A53"/>
                </a:solidFill>
                <a:latin typeface="Cambria Math"/>
                <a:ea typeface="Cambria Math"/>
                <a:cs typeface="Cambria Math"/>
              </a:defRPr>
            </a:pPr>
            <a:r>
              <a:rPr sz="2250" b="0">
                <a:solidFill>
                  <a:srgbClr val="0B2A53"/>
                </a:solidFill>
                <a:latin typeface="Cambria Math"/>
                <a:ea typeface="Cambria Math"/>
                <a:cs typeface="Cambria Math"/>
              </a:rPr>
              <a:t>R(v,x) = A + B(3.6v) + C(3.6v)² + mg·i(x)/1000 + mg·600/[1000R꜀(x)]</a:t>
            </a:r>
          </a:p>
        </p:txBody>
      </p:sp>
      <p:sp>
        <p:nvSpPr>
          <p:cNvPr id="15" name="">
            <a:extLst xmlns:a="http://schemas.openxmlformats.org/drawingml/2006/main">
              <a:ext uri="{FF2B5EF4-FFF2-40B4-BE49-F238E27FC236}">
                <a16:creationId xmlns:a16="http://schemas.microsoft.com/office/drawing/2014/main" id="{C4632EF6-943F-4BD9-AAF7-D218CFE5ABCA}"/>
              </a:ext>
            </a:extLst>
          </p:cNvPr>
          <p:cNvSpPr>
            <a:spLocks xmlns:a="http://schemas.openxmlformats.org/drawingml/2006/main" noGrp="1"/>
          </p:cNvSpPr>
          <p:nvPr/>
        </p:nvSpPr>
        <p:spPr>
          <a:xfrm xmlns:a="http://schemas.openxmlformats.org/drawingml/2006/main">
            <a:off x="11163300" y="5743575"/>
            <a:ext cx="3257550" cy="1066800"/>
          </a:xfrm>
          <a:prstGeom xmlns:a="http://schemas.openxmlformats.org/drawingml/2006/main" prst="roundRect">
            <a:avLst>
              <a:gd name="adj" fmla="val 8929"/>
            </a:avLst>
          </a:prstGeom>
          <a:solidFill xmlns:a="http://schemas.openxmlformats.org/drawingml/2006/main">
            <a:srgbClr val="E9F9F6"/>
          </a:solidFill>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1275" b="0">
                <a:solidFill>
                  <a:srgbClr val="526579"/>
                </a:solidFill>
                <a:latin typeface="Microsoft YaHei"/>
                <a:ea typeface="Microsoft YaHei"/>
                <a:cs typeface="Microsoft YaHei"/>
              </a:defRPr>
            </a:pPr>
            <a:r>
              <a:rPr sz="1275" b="0">
                <a:solidFill>
                  <a:srgbClr val="526579"/>
                </a:solidFill>
                <a:latin typeface="Microsoft YaHei"/>
                <a:ea typeface="Microsoft YaHei"/>
                <a:cs typeface="Microsoft YaHei"/>
              </a:rPr>
              <a:t>依次包含Davis基本阻力、坡度阻力和曲线阻力。</a:t>
            </a:r>
          </a:p>
        </p:txBody>
      </p:sp>
      <p:sp>
        <p:nvSpPr>
          <p:cNvPr id="16" name="">
            <a:extLst xmlns:a="http://schemas.openxmlformats.org/drawingml/2006/main">
              <a:ext uri="{FF2B5EF4-FFF2-40B4-BE49-F238E27FC236}">
                <a16:creationId xmlns:a16="http://schemas.microsoft.com/office/drawing/2014/main" id="{7383A0FF-ED4C-4DCC-998A-E702DBED8C0A}"/>
              </a:ext>
            </a:extLst>
          </p:cNvPr>
          <p:cNvSpPr>
            <a:spLocks xmlns:a="http://schemas.openxmlformats.org/drawingml/2006/main" noGrp="1"/>
          </p:cNvSpPr>
          <p:nvPr/>
        </p:nvSpPr>
        <p:spPr>
          <a:xfrm xmlns:a="http://schemas.openxmlformats.org/drawingml/2006/main">
            <a:off x="819150" y="6886575"/>
            <a:ext cx="13601700" cy="409575"/>
          </a:xfrm>
          <a:prstGeom xmlns:a="http://schemas.openxmlformats.org/drawingml/2006/main" prst="roundRect">
            <a:avLst>
              <a:gd name="adj" fmla="val 23256"/>
            </a:avLst>
          </a:prstGeom>
          <a:solidFill xmlns:a="http://schemas.openxmlformats.org/drawingml/2006/main">
            <a:srgbClr val="F4F7FA"/>
          </a:solidFill>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1125" b="0">
                <a:solidFill>
                  <a:srgbClr val="526579"/>
                </a:solidFill>
                <a:latin typeface="Cambria Math"/>
                <a:ea typeface="Cambria Math"/>
                <a:cs typeface="Cambria Math"/>
              </a:defRPr>
            </a:pPr>
            <a:r>
              <a:rPr sz="1125" b="0">
                <a:solidFill>
                  <a:srgbClr val="526579"/>
                </a:solidFill>
                <a:latin typeface="Cambria Math"/>
                <a:ea typeface="Cambria Math"/>
                <a:cs typeface="Cambria Math"/>
              </a:rPr>
              <a:t>LaTeX：R(v,x)=A+B(3.6v)+C(3.6v)^2+mg\frac{i(x)}{1000}+mg\frac{600}{1000R_c(x)}</a:t>
            </a:r>
          </a:p>
        </p:txBody>
      </p:sp>
    </p:spTree>
    <p:extLst>
      <p:ext uri="{BB962C8B-B14F-4D97-AF65-F5344CB8AC3E}">
        <p14:creationId xmlns:p14="http://schemas.microsoft.com/office/powerpoint/2010/main" val="1241171176"/>
      </p:ext>
    </p:extLst>
  </p:cSld>
</p:sld>
</file>

<file path=ppt/slides/slide2.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3874802-A910-45D1-A33D-0D91E272886F}"/>
              </a:ext>
            </a:extLst>
          </p:cNvPr>
          <p:cNvSpPr>
            <a:spLocks xmlns:a="http://schemas.openxmlformats.org/drawingml/2006/main" noGrp="1"/>
          </p:cNvSpPr>
          <p:nvPr/>
        </p:nvSpPr>
        <p:spPr>
          <a:xfrm xmlns:a="http://schemas.openxmlformats.org/drawingml/2006/main">
            <a:off x="685800" y="381000"/>
            <a:ext cx="13868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2850" b="1">
                <a:solidFill>
                  <a:srgbClr val="0B2A53"/>
                </a:solidFill>
                <a:latin typeface="Microsoft YaHei"/>
                <a:ea typeface="Microsoft YaHei"/>
                <a:cs typeface="Microsoft YaHei"/>
              </a:defRPr>
            </a:pPr>
            <a:r>
              <a:rPr sz="2850" b="1">
                <a:solidFill>
                  <a:srgbClr val="0B2A53"/>
                </a:solidFill>
                <a:latin typeface="Microsoft YaHei"/>
                <a:ea typeface="Microsoft YaHei"/>
                <a:cs typeface="Microsoft YaHei"/>
              </a:rPr>
              <a:t>SAC状态与连续动作</a:t>
            </a:r>
          </a:p>
        </p:txBody>
      </p:sp>
      <p:sp>
        <p:nvSpPr>
          <p:cNvPr id="2" name="">
            <a:extLst xmlns:a="http://schemas.openxmlformats.org/drawingml/2006/main">
              <a:ext uri="{FF2B5EF4-FFF2-40B4-BE49-F238E27FC236}">
                <a16:creationId xmlns:a16="http://schemas.microsoft.com/office/drawing/2014/main" id="{00E63533-39EA-4F6D-A2CF-8E31E2DAC45F}"/>
              </a:ext>
            </a:extLst>
          </p:cNvPr>
          <p:cNvSpPr>
            <a:spLocks xmlns:a="http://schemas.openxmlformats.org/drawingml/2006/main" noGrp="1"/>
          </p:cNvSpPr>
          <p:nvPr/>
        </p:nvSpPr>
        <p:spPr>
          <a:xfrm xmlns:a="http://schemas.openxmlformats.org/drawingml/2006/main">
            <a:off x="685800" y="1000125"/>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1275" b="1">
                <a:solidFill>
                  <a:srgbClr val="07867F"/>
                </a:solidFill>
                <a:latin typeface="Microsoft YaHei"/>
                <a:ea typeface="Microsoft YaHei"/>
                <a:cs typeface="Microsoft YaHei"/>
              </a:defRPr>
            </a:pPr>
            <a:r>
              <a:rPr sz="1275" b="1">
                <a:solidFill>
                  <a:srgbClr val="07867F"/>
                </a:solidFill>
                <a:latin typeface="Microsoft YaHei"/>
                <a:ea typeface="Microsoft YaHei"/>
                <a:cs typeface="Microsoft YaHei"/>
              </a:rPr>
              <a:t>SAC下层控制</a:t>
            </a:r>
          </a:p>
        </p:txBody>
      </p:sp>
      <p:sp>
        <p:nvSpPr>
          <p:cNvPr id="3" name="">
            <a:extLst xmlns:a="http://schemas.openxmlformats.org/drawingml/2006/main">
              <a:ext uri="{FF2B5EF4-FFF2-40B4-BE49-F238E27FC236}">
                <a16:creationId xmlns:a16="http://schemas.microsoft.com/office/drawing/2014/main" id="{14ABA9CC-1DE5-4B75-98AD-A5CE87C45E68}"/>
              </a:ext>
            </a:extLst>
          </p:cNvPr>
          <p:cNvSpPr>
            <a:spLocks xmlns:a="http://schemas.openxmlformats.org/drawingml/2006/main" noGrp="1"/>
          </p:cNvSpPr>
          <p:nvPr/>
        </p:nvSpPr>
        <p:spPr>
          <a:xfrm xmlns:a="http://schemas.openxmlformats.org/drawingml/2006/main">
            <a:off x="685800" y="1381125"/>
            <a:ext cx="13868400" cy="0"/>
          </a:xfrm>
          <a:prstGeom xmlns:a="http://schemas.openxmlformats.org/drawingml/2006/main" prst="line">
            <a:avLst/>
          </a:prstGeom>
          <a:noFill xmlns:a="http://schemas.openxmlformats.org/drawingml/2006/main"/>
          <a:ln xmlns:a="http://schemas.openxmlformats.org/drawingml/2006/main" w="28575">
            <a:solidFill>
              <a:srgbClr val="07867F"/>
            </a:solidFill>
            <a:prstDash val="solid"/>
          </a:ln>
        </p:spPr>
      </p:sp>
      <p:sp>
        <p:nvSpPr>
          <p:cNvPr id="4" name="">
            <a:extLst xmlns:a="http://schemas.openxmlformats.org/drawingml/2006/main">
              <a:ext uri="{FF2B5EF4-FFF2-40B4-BE49-F238E27FC236}">
                <a16:creationId xmlns:a16="http://schemas.microsoft.com/office/drawing/2014/main" id="{1629341A-4E56-4863-BD86-7D9DD2EB421A}"/>
              </a:ext>
            </a:extLst>
          </p:cNvPr>
          <p:cNvSpPr>
            <a:spLocks xmlns:a="http://schemas.openxmlformats.org/drawingml/2006/main" noGrp="1"/>
          </p:cNvSpPr>
          <p:nvPr/>
        </p:nvSpPr>
        <p:spPr>
          <a:xfrm xmlns:a="http://schemas.openxmlformats.org/drawingml/2006/main">
            <a:off x="13811250" y="802005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14300" tIns="57150" rIns="114300" bIns="57150" anchor="ctr">
            <a:normAutofit fontScale="95238"/>
          </a:bodyPr>
          <a:lstStyle xmlns:a="http://schemas.openxmlformats.org/drawingml/2006/main"/>
          <a:p xmlns:a="http://schemas.openxmlformats.org/drawingml/2006/main">
            <a:pPr algn="r">
              <a:defRPr sz="1050" b="0">
                <a:solidFill>
                  <a:srgbClr val="526579"/>
                </a:solidFill>
                <a:latin typeface="Microsoft YaHei"/>
                <a:ea typeface="Microsoft YaHei"/>
                <a:cs typeface="Microsoft YaHei"/>
              </a:defRPr>
            </a:pPr>
            <a:r>
              <a:rPr sz="1050" b="0">
                <a:solidFill>
                  <a:srgbClr val="526579"/>
                </a:solidFill>
                <a:latin typeface="Microsoft YaHei"/>
                <a:ea typeface="Microsoft YaHei"/>
                <a:cs typeface="Microsoft YaHei"/>
              </a:rPr>
              <a:t>02</a:t>
            </a:r>
          </a:p>
        </p:txBody>
      </p:sp>
      <p:sp>
        <p:nvSpPr>
          <p:cNvPr id="5" name="">
            <a:extLst xmlns:a="http://schemas.openxmlformats.org/drawingml/2006/main">
              <a:ext uri="{FF2B5EF4-FFF2-40B4-BE49-F238E27FC236}">
                <a16:creationId xmlns:a16="http://schemas.microsoft.com/office/drawing/2014/main" id="{818B273B-002A-4577-93B9-AFDD3789A886}"/>
              </a:ext>
            </a:extLst>
          </p:cNvPr>
          <p:cNvSpPr>
            <a:spLocks xmlns:a="http://schemas.openxmlformats.org/drawingml/2006/main" noGrp="1"/>
          </p:cNvSpPr>
          <p:nvPr/>
        </p:nvSpPr>
        <p:spPr>
          <a:xfrm xmlns:a="http://schemas.openxmlformats.org/drawingml/2006/main">
            <a:off x="819150" y="16192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14300" tIns="57150" rIns="114300" bIns="57150" anchor="ctr">
            <a:normAutofit fontScale="91667"/>
          </a:bodyPr>
          <a:lstStyle xmlns:a="http://schemas.openxmlformats.org/drawingml/2006/main"/>
          <a:p xmlns:a="http://schemas.openxmlformats.org/drawingml/2006/main">
            <a:pPr algn="l">
              <a:defRPr sz="1500" b="1">
                <a:solidFill>
                  <a:srgbClr val="07867F"/>
                </a:solidFill>
                <a:latin typeface="Microsoft YaHei"/>
                <a:ea typeface="Microsoft YaHei"/>
                <a:cs typeface="Microsoft YaHei"/>
              </a:defRPr>
            </a:pPr>
            <a:r>
              <a:rPr sz="1500" b="1">
                <a:solidFill>
                  <a:srgbClr val="07867F"/>
                </a:solidFill>
                <a:latin typeface="Microsoft YaHei"/>
                <a:ea typeface="Microsoft YaHei"/>
                <a:cs typeface="Microsoft YaHei"/>
              </a:rPr>
              <a:t>16维共享状态</a:t>
            </a:r>
          </a:p>
        </p:txBody>
      </p:sp>
      <p:sp>
        <p:nvSpPr>
          <p:cNvPr id="6" name="">
            <a:extLst xmlns:a="http://schemas.openxmlformats.org/drawingml/2006/main">
              <a:ext uri="{FF2B5EF4-FFF2-40B4-BE49-F238E27FC236}">
                <a16:creationId xmlns:a16="http://schemas.microsoft.com/office/drawing/2014/main" id="{D67B67E3-C0B7-4273-B731-BA5A6DCA70AC}"/>
              </a:ext>
            </a:extLst>
          </p:cNvPr>
          <p:cNvSpPr>
            <a:spLocks xmlns:a="http://schemas.openxmlformats.org/drawingml/2006/main" noGrp="1"/>
          </p:cNvSpPr>
          <p:nvPr/>
        </p:nvSpPr>
        <p:spPr>
          <a:xfrm xmlns:a="http://schemas.openxmlformats.org/drawingml/2006/main">
            <a:off x="819150" y="1981200"/>
            <a:ext cx="10096500" cy="876300"/>
          </a:xfrm>
          <a:prstGeom xmlns:a="http://schemas.openxmlformats.org/drawingml/2006/main" prst="roundRect">
            <a:avLst>
              <a:gd name="adj" fmla="val 10870"/>
            </a:avLst>
          </a:prstGeom>
          <a:solidFill xmlns:a="http://schemas.openxmlformats.org/drawingml/2006/main">
            <a:srgbClr val="FFFFFF"/>
          </a:solidFill>
          <a:ln xmlns:a="http://schemas.openxmlformats.org/drawingml/2006/main" w="11430">
            <a:solidFill>
              <a:srgbClr val="C8D7E5"/>
            </a:solid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ctr">
              <a:defRPr sz="2250" b="0">
                <a:solidFill>
                  <a:srgbClr val="0B2A53"/>
                </a:solidFill>
                <a:latin typeface="Cambria Math"/>
                <a:ea typeface="Cambria Math"/>
                <a:cs typeface="Cambria Math"/>
              </a:defRPr>
            </a:pPr>
            <a:r>
              <a:rPr sz="2250" b="0">
                <a:solidFill>
                  <a:srgbClr val="0B2A53"/>
                </a:solidFill>
                <a:latin typeface="Cambria Math"/>
                <a:ea typeface="Cambria Math"/>
                <a:cs typeface="Cambria Math"/>
              </a:rPr>
              <a:t>sₜᴸ = [sₜᵐᵒᵗⁱᵒⁿ, sₜˢᶜʰᵉᵈᵘˡᵉ, sₜᵗʳᵃⁱⁿ, sₜˡⁱⁿᵉ, sₜᶜᵒⁿᵗᵉˣᵗ]</a:t>
            </a:r>
          </a:p>
        </p:txBody>
      </p:sp>
      <p:sp>
        <p:nvSpPr>
          <p:cNvPr id="7" name="">
            <a:extLst xmlns:a="http://schemas.openxmlformats.org/drawingml/2006/main">
              <a:ext uri="{FF2B5EF4-FFF2-40B4-BE49-F238E27FC236}">
                <a16:creationId xmlns:a16="http://schemas.microsoft.com/office/drawing/2014/main" id="{F78A9268-5248-4B3E-8E8C-2B77CD6A8BFC}"/>
              </a:ext>
            </a:extLst>
          </p:cNvPr>
          <p:cNvSpPr>
            <a:spLocks xmlns:a="http://schemas.openxmlformats.org/drawingml/2006/main" noGrp="1"/>
          </p:cNvSpPr>
          <p:nvPr/>
        </p:nvSpPr>
        <p:spPr>
          <a:xfrm xmlns:a="http://schemas.openxmlformats.org/drawingml/2006/main">
            <a:off x="11163300" y="1981200"/>
            <a:ext cx="3257550" cy="876300"/>
          </a:xfrm>
          <a:prstGeom xmlns:a="http://schemas.openxmlformats.org/drawingml/2006/main" prst="roundRect">
            <a:avLst>
              <a:gd name="adj" fmla="val 10870"/>
            </a:avLst>
          </a:prstGeom>
          <a:solidFill xmlns:a="http://schemas.openxmlformats.org/drawingml/2006/main">
            <a:srgbClr val="E9F9F6"/>
          </a:solidFill>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1275" b="0">
                <a:solidFill>
                  <a:srgbClr val="526579"/>
                </a:solidFill>
                <a:latin typeface="Microsoft YaHei"/>
                <a:ea typeface="Microsoft YaHei"/>
                <a:cs typeface="Microsoft YaHei"/>
              </a:defRPr>
            </a:pPr>
            <a:r>
              <a:rPr sz="1275" b="0">
                <a:solidFill>
                  <a:srgbClr val="526579"/>
                </a:solidFill>
                <a:latin typeface="Microsoft YaHei"/>
                <a:ea typeface="Microsoft YaHei"/>
                <a:cs typeface="Microsoft YaHei"/>
              </a:rPr>
              <a:t>状态包含运动、时刻、载重、线路条件以及上下行和站间编号。</a:t>
            </a:r>
          </a:p>
        </p:txBody>
      </p:sp>
      <p:sp>
        <p:nvSpPr>
          <p:cNvPr id="8" name="">
            <a:extLst xmlns:a="http://schemas.openxmlformats.org/drawingml/2006/main">
              <a:ext uri="{FF2B5EF4-FFF2-40B4-BE49-F238E27FC236}">
                <a16:creationId xmlns:a16="http://schemas.microsoft.com/office/drawing/2014/main" id="{F1671094-32F5-42E5-9B38-6F1E4BE5489A}"/>
              </a:ext>
            </a:extLst>
          </p:cNvPr>
          <p:cNvSpPr>
            <a:spLocks xmlns:a="http://schemas.openxmlformats.org/drawingml/2006/main" noGrp="1"/>
          </p:cNvSpPr>
          <p:nvPr/>
        </p:nvSpPr>
        <p:spPr>
          <a:xfrm xmlns:a="http://schemas.openxmlformats.org/drawingml/2006/main">
            <a:off x="819150" y="2933700"/>
            <a:ext cx="13601700" cy="409575"/>
          </a:xfrm>
          <a:prstGeom xmlns:a="http://schemas.openxmlformats.org/drawingml/2006/main" prst="roundRect">
            <a:avLst>
              <a:gd name="adj" fmla="val 23256"/>
            </a:avLst>
          </a:prstGeom>
          <a:solidFill xmlns:a="http://schemas.openxmlformats.org/drawingml/2006/main">
            <a:srgbClr val="F4F7FA"/>
          </a:solidFill>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1125" b="0">
                <a:solidFill>
                  <a:srgbClr val="526579"/>
                </a:solidFill>
                <a:latin typeface="Cambria Math"/>
                <a:ea typeface="Cambria Math"/>
                <a:cs typeface="Cambria Math"/>
              </a:defRPr>
            </a:pPr>
            <a:r>
              <a:rPr sz="1125" b="0">
                <a:solidFill>
                  <a:srgbClr val="526579"/>
                </a:solidFill>
                <a:latin typeface="Cambria Math"/>
                <a:ea typeface="Cambria Math"/>
                <a:cs typeface="Cambria Math"/>
              </a:rPr>
              <a:t>LaTeX：s_t^L=[s_t^{motion},s_t^{schedule},s_t^{train},s_t^{line},s_t^{context}]</a:t>
            </a:r>
          </a:p>
        </p:txBody>
      </p:sp>
      <p:sp>
        <p:nvSpPr>
          <p:cNvPr id="9" name="">
            <a:extLst xmlns:a="http://schemas.openxmlformats.org/drawingml/2006/main">
              <a:ext uri="{FF2B5EF4-FFF2-40B4-BE49-F238E27FC236}">
                <a16:creationId xmlns:a16="http://schemas.microsoft.com/office/drawing/2014/main" id="{06155873-3C64-40E1-935F-08850B8A8468}"/>
              </a:ext>
            </a:extLst>
          </p:cNvPr>
          <p:cNvSpPr>
            <a:spLocks xmlns:a="http://schemas.openxmlformats.org/drawingml/2006/main" noGrp="1"/>
          </p:cNvSpPr>
          <p:nvPr/>
        </p:nvSpPr>
        <p:spPr>
          <a:xfrm xmlns:a="http://schemas.openxmlformats.org/drawingml/2006/main">
            <a:off x="819150" y="34290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14300" tIns="57150" rIns="114300" bIns="57150" anchor="ctr">
            <a:normAutofit fontScale="91667"/>
          </a:bodyPr>
          <a:lstStyle xmlns:a="http://schemas.openxmlformats.org/drawingml/2006/main"/>
          <a:p xmlns:a="http://schemas.openxmlformats.org/drawingml/2006/main">
            <a:pPr algn="l">
              <a:defRPr sz="1500" b="1">
                <a:solidFill>
                  <a:srgbClr val="07867F"/>
                </a:solidFill>
                <a:latin typeface="Microsoft YaHei"/>
                <a:ea typeface="Microsoft YaHei"/>
                <a:cs typeface="Microsoft YaHei"/>
              </a:defRPr>
            </a:pPr>
            <a:r>
              <a:rPr sz="1500" b="1">
                <a:solidFill>
                  <a:srgbClr val="07867F"/>
                </a:solidFill>
                <a:latin typeface="Microsoft YaHei"/>
                <a:ea typeface="Microsoft YaHei"/>
                <a:cs typeface="Microsoft YaHei"/>
              </a:rPr>
              <a:t>时刻进度偏差</a:t>
            </a:r>
          </a:p>
        </p:txBody>
      </p:sp>
      <p:sp>
        <p:nvSpPr>
          <p:cNvPr id="10" name="">
            <a:extLst xmlns:a="http://schemas.openxmlformats.org/drawingml/2006/main">
              <a:ext uri="{FF2B5EF4-FFF2-40B4-BE49-F238E27FC236}">
                <a16:creationId xmlns:a16="http://schemas.microsoft.com/office/drawing/2014/main" id="{4EF0080B-02F3-4FD3-8A29-C14F3B5C99D5}"/>
              </a:ext>
            </a:extLst>
          </p:cNvPr>
          <p:cNvSpPr>
            <a:spLocks xmlns:a="http://schemas.openxmlformats.org/drawingml/2006/main" noGrp="1"/>
          </p:cNvSpPr>
          <p:nvPr/>
        </p:nvSpPr>
        <p:spPr>
          <a:xfrm xmlns:a="http://schemas.openxmlformats.org/drawingml/2006/main">
            <a:off x="819150" y="3790950"/>
            <a:ext cx="10096500" cy="876300"/>
          </a:xfrm>
          <a:prstGeom xmlns:a="http://schemas.openxmlformats.org/drawingml/2006/main" prst="roundRect">
            <a:avLst>
              <a:gd name="adj" fmla="val 10870"/>
            </a:avLst>
          </a:prstGeom>
          <a:solidFill xmlns:a="http://schemas.openxmlformats.org/drawingml/2006/main">
            <a:srgbClr val="FFFFFF"/>
          </a:solidFill>
          <a:ln xmlns:a="http://schemas.openxmlformats.org/drawingml/2006/main" w="11430">
            <a:solidFill>
              <a:srgbClr val="C8D7E5"/>
            </a:solid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ctr">
              <a:defRPr sz="2250" b="0">
                <a:solidFill>
                  <a:srgbClr val="0B2A53"/>
                </a:solidFill>
                <a:latin typeface="Cambria Math"/>
                <a:ea typeface="Cambria Math"/>
                <a:cs typeface="Cambria Math"/>
              </a:defRPr>
            </a:pPr>
            <a:r>
              <a:rPr sz="2250" b="0">
                <a:solidFill>
                  <a:srgbClr val="0B2A53"/>
                </a:solidFill>
                <a:latin typeface="Cambria Math"/>
                <a:ea typeface="Cambria Math"/>
                <a:cs typeface="Cambria Math"/>
              </a:rPr>
              <a:t>eₜˢᶜʰ = Tᵗᵃʳ · |xₜ/L − t/Tᵗᵃʳ|</a:t>
            </a:r>
          </a:p>
        </p:txBody>
      </p:sp>
      <p:sp>
        <p:nvSpPr>
          <p:cNvPr id="11" name="">
            <a:extLst xmlns:a="http://schemas.openxmlformats.org/drawingml/2006/main">
              <a:ext uri="{FF2B5EF4-FFF2-40B4-BE49-F238E27FC236}">
                <a16:creationId xmlns:a16="http://schemas.microsoft.com/office/drawing/2014/main" id="{2B1B31F1-AC46-4945-BE86-01F4398214AB}"/>
              </a:ext>
            </a:extLst>
          </p:cNvPr>
          <p:cNvSpPr>
            <a:spLocks xmlns:a="http://schemas.openxmlformats.org/drawingml/2006/main" noGrp="1"/>
          </p:cNvSpPr>
          <p:nvPr/>
        </p:nvSpPr>
        <p:spPr>
          <a:xfrm xmlns:a="http://schemas.openxmlformats.org/drawingml/2006/main">
            <a:off x="11163300" y="3790950"/>
            <a:ext cx="3257550" cy="876300"/>
          </a:xfrm>
          <a:prstGeom xmlns:a="http://schemas.openxmlformats.org/drawingml/2006/main" prst="roundRect">
            <a:avLst>
              <a:gd name="adj" fmla="val 10870"/>
            </a:avLst>
          </a:prstGeom>
          <a:solidFill xmlns:a="http://schemas.openxmlformats.org/drawingml/2006/main">
            <a:srgbClr val="E9F9F6"/>
          </a:solidFill>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1275" b="0">
                <a:solidFill>
                  <a:srgbClr val="526579"/>
                </a:solidFill>
                <a:latin typeface="Microsoft YaHei"/>
                <a:ea typeface="Microsoft YaHei"/>
                <a:cs typeface="Microsoft YaHei"/>
              </a:defRPr>
            </a:pPr>
            <a:r>
              <a:rPr sz="1275" b="0">
                <a:solidFill>
                  <a:srgbClr val="526579"/>
                </a:solidFill>
                <a:latin typeface="Microsoft YaHei"/>
                <a:ea typeface="Microsoft YaHei"/>
                <a:cs typeface="Microsoft YaHei"/>
              </a:rPr>
              <a:t>将空间进度和时间进度之差转换为秒级偏差。</a:t>
            </a:r>
          </a:p>
        </p:txBody>
      </p:sp>
      <p:sp>
        <p:nvSpPr>
          <p:cNvPr id="12" name="">
            <a:extLst xmlns:a="http://schemas.openxmlformats.org/drawingml/2006/main">
              <a:ext uri="{FF2B5EF4-FFF2-40B4-BE49-F238E27FC236}">
                <a16:creationId xmlns:a16="http://schemas.microsoft.com/office/drawing/2014/main" id="{BF50D82E-3097-4177-B752-0319BFEB9A6D}"/>
              </a:ext>
            </a:extLst>
          </p:cNvPr>
          <p:cNvSpPr>
            <a:spLocks xmlns:a="http://schemas.openxmlformats.org/drawingml/2006/main" noGrp="1"/>
          </p:cNvSpPr>
          <p:nvPr/>
        </p:nvSpPr>
        <p:spPr>
          <a:xfrm xmlns:a="http://schemas.openxmlformats.org/drawingml/2006/main">
            <a:off x="819150" y="4743450"/>
            <a:ext cx="13601700" cy="409575"/>
          </a:xfrm>
          <a:prstGeom xmlns:a="http://schemas.openxmlformats.org/drawingml/2006/main" prst="roundRect">
            <a:avLst>
              <a:gd name="adj" fmla="val 23256"/>
            </a:avLst>
          </a:prstGeom>
          <a:solidFill xmlns:a="http://schemas.openxmlformats.org/drawingml/2006/main">
            <a:srgbClr val="F4F7FA"/>
          </a:solidFill>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1125" b="0">
                <a:solidFill>
                  <a:srgbClr val="526579"/>
                </a:solidFill>
                <a:latin typeface="Cambria Math"/>
                <a:ea typeface="Cambria Math"/>
                <a:cs typeface="Cambria Math"/>
              </a:defRPr>
            </a:pPr>
            <a:r>
              <a:rPr sz="1125" b="0">
                <a:solidFill>
                  <a:srgbClr val="526579"/>
                </a:solidFill>
                <a:latin typeface="Cambria Math"/>
                <a:ea typeface="Cambria Math"/>
                <a:cs typeface="Cambria Math"/>
              </a:rPr>
              <a:t>LaTeX：e_t^{sch}=T^{tar}\left|\frac{x_t}{L}-\frac{t}{T^{tar}}\right|</a:t>
            </a:r>
          </a:p>
        </p:txBody>
      </p:sp>
      <p:sp>
        <p:nvSpPr>
          <p:cNvPr id="13" name="">
            <a:extLst xmlns:a="http://schemas.openxmlformats.org/drawingml/2006/main">
              <a:ext uri="{FF2B5EF4-FFF2-40B4-BE49-F238E27FC236}">
                <a16:creationId xmlns:a16="http://schemas.microsoft.com/office/drawing/2014/main" id="{99CBA8C8-4C67-47CF-9F9A-719173E1E349}"/>
              </a:ext>
            </a:extLst>
          </p:cNvPr>
          <p:cNvSpPr>
            <a:spLocks xmlns:a="http://schemas.openxmlformats.org/drawingml/2006/main" noGrp="1"/>
          </p:cNvSpPr>
          <p:nvPr/>
        </p:nvSpPr>
        <p:spPr>
          <a:xfrm xmlns:a="http://schemas.openxmlformats.org/drawingml/2006/main">
            <a:off x="819150" y="52387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14300" tIns="57150" rIns="114300" bIns="57150" anchor="ctr">
            <a:normAutofit fontScale="91667"/>
          </a:bodyPr>
          <a:lstStyle xmlns:a="http://schemas.openxmlformats.org/drawingml/2006/main"/>
          <a:p xmlns:a="http://schemas.openxmlformats.org/drawingml/2006/main">
            <a:pPr algn="l">
              <a:defRPr sz="1500" b="1">
                <a:solidFill>
                  <a:srgbClr val="07867F"/>
                </a:solidFill>
                <a:latin typeface="Microsoft YaHei"/>
                <a:ea typeface="Microsoft YaHei"/>
                <a:cs typeface="Microsoft YaHei"/>
              </a:defRPr>
            </a:pPr>
            <a:r>
              <a:rPr sz="1500" b="1">
                <a:solidFill>
                  <a:srgbClr val="07867F"/>
                </a:solidFill>
                <a:latin typeface="Microsoft YaHei"/>
                <a:ea typeface="Microsoft YaHei"/>
                <a:cs typeface="Microsoft YaHei"/>
              </a:rPr>
              <a:t>动作与牵引特性</a:t>
            </a:r>
          </a:p>
        </p:txBody>
      </p:sp>
      <p:sp>
        <p:nvSpPr>
          <p:cNvPr id="14" name="">
            <a:extLst xmlns:a="http://schemas.openxmlformats.org/drawingml/2006/main">
              <a:ext uri="{FF2B5EF4-FFF2-40B4-BE49-F238E27FC236}">
                <a16:creationId xmlns:a16="http://schemas.microsoft.com/office/drawing/2014/main" id="{2B82EF7C-587B-4A5A-9ADD-A746324B3F8D}"/>
              </a:ext>
            </a:extLst>
          </p:cNvPr>
          <p:cNvSpPr>
            <a:spLocks xmlns:a="http://schemas.openxmlformats.org/drawingml/2006/main" noGrp="1"/>
          </p:cNvSpPr>
          <p:nvPr/>
        </p:nvSpPr>
        <p:spPr>
          <a:xfrm xmlns:a="http://schemas.openxmlformats.org/drawingml/2006/main">
            <a:off x="819150" y="5600700"/>
            <a:ext cx="10096500" cy="1257300"/>
          </a:xfrm>
          <a:prstGeom xmlns:a="http://schemas.openxmlformats.org/drawingml/2006/main" prst="roundRect">
            <a:avLst>
              <a:gd name="adj" fmla="val 7576"/>
            </a:avLst>
          </a:prstGeom>
          <a:solidFill xmlns:a="http://schemas.openxmlformats.org/drawingml/2006/main">
            <a:srgbClr val="FFFFFF"/>
          </a:solidFill>
          <a:ln xmlns:a="http://schemas.openxmlformats.org/drawingml/2006/main" w="11430">
            <a:solidFill>
              <a:srgbClr val="C8D7E5"/>
            </a:solid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ctr">
              <a:defRPr sz="2250" b="0">
                <a:solidFill>
                  <a:srgbClr val="0B2A53"/>
                </a:solidFill>
                <a:latin typeface="Cambria Math"/>
                <a:ea typeface="Cambria Math"/>
                <a:cs typeface="Cambria Math"/>
              </a:defRPr>
            </a:pPr>
            <a:r>
              <a:rPr sz="2250" b="0">
                <a:solidFill>
                  <a:srgbClr val="0B2A53"/>
                </a:solidFill>
                <a:latin typeface="Cambria Math"/>
                <a:ea typeface="Cambria Math"/>
                <a:cs typeface="Cambria Math"/>
              </a:rPr>
              <a:t>Fᵗʳₘₐₓ(v) = min(Fₘₐₓ, Pₘₐₓ/max(v,ε))</a:t>
            </a:r>
          </a:p>
          <a:p xmlns:a="http://schemas.openxmlformats.org/drawingml/2006/main">
            <a:pPr algn="ctr">
              <a:defRPr sz="2250" b="0">
                <a:solidFill>
                  <a:srgbClr val="0B2A53"/>
                </a:solidFill>
                <a:latin typeface="Cambria Math"/>
                <a:ea typeface="Cambria Math"/>
                <a:cs typeface="Cambria Math"/>
              </a:defRPr>
            </a:pPr>
            <a:r>
              <a:rPr sz="2250" b="0">
                <a:solidFill>
                  <a:srgbClr val="0B2A53"/>
                </a:solidFill>
                <a:latin typeface="Cambria Math"/>
                <a:ea typeface="Cambria Math"/>
                <a:cs typeface="Cambria Math"/>
              </a:rPr>
              <a:t>Fᵖʳᵒᵖ = a·Fᵗʳₘₐₓ(v), a≥0；   Fᵖʳᵒᵖ = a·Fᵇʳₘₐₓ, a&lt;0</a:t>
            </a:r>
          </a:p>
        </p:txBody>
      </p:sp>
      <p:sp>
        <p:nvSpPr>
          <p:cNvPr id="15" name="">
            <a:extLst xmlns:a="http://schemas.openxmlformats.org/drawingml/2006/main">
              <a:ext uri="{FF2B5EF4-FFF2-40B4-BE49-F238E27FC236}">
                <a16:creationId xmlns:a16="http://schemas.microsoft.com/office/drawing/2014/main" id="{6B397575-11D2-41EF-93BF-0E725993CFDD}"/>
              </a:ext>
            </a:extLst>
          </p:cNvPr>
          <p:cNvSpPr>
            <a:spLocks xmlns:a="http://schemas.openxmlformats.org/drawingml/2006/main" noGrp="1"/>
          </p:cNvSpPr>
          <p:nvPr/>
        </p:nvSpPr>
        <p:spPr>
          <a:xfrm xmlns:a="http://schemas.openxmlformats.org/drawingml/2006/main">
            <a:off x="11163300" y="5600700"/>
            <a:ext cx="3257550" cy="1257300"/>
          </a:xfrm>
          <a:prstGeom xmlns:a="http://schemas.openxmlformats.org/drawingml/2006/main" prst="roundRect">
            <a:avLst>
              <a:gd name="adj" fmla="val 7576"/>
            </a:avLst>
          </a:prstGeom>
          <a:solidFill xmlns:a="http://schemas.openxmlformats.org/drawingml/2006/main">
            <a:srgbClr val="E9F9F6"/>
          </a:solidFill>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1275" b="0">
                <a:solidFill>
                  <a:srgbClr val="526579"/>
                </a:solidFill>
                <a:latin typeface="Microsoft YaHei"/>
                <a:ea typeface="Microsoft YaHei"/>
                <a:cs typeface="Microsoft YaHei"/>
              </a:defRPr>
            </a:pPr>
            <a:r>
              <a:rPr sz="1275" b="0">
                <a:solidFill>
                  <a:srgbClr val="526579"/>
                </a:solidFill>
                <a:latin typeface="Microsoft YaHei"/>
                <a:ea typeface="Microsoft YaHei"/>
                <a:cs typeface="Microsoft YaHei"/>
              </a:rPr>
              <a:t>actor输出a∈[−1,1]。正值牵引，负值制动。</a:t>
            </a:r>
          </a:p>
        </p:txBody>
      </p:sp>
      <p:sp>
        <p:nvSpPr>
          <p:cNvPr id="16" name="">
            <a:extLst xmlns:a="http://schemas.openxmlformats.org/drawingml/2006/main">
              <a:ext uri="{FF2B5EF4-FFF2-40B4-BE49-F238E27FC236}">
                <a16:creationId xmlns:a16="http://schemas.microsoft.com/office/drawing/2014/main" id="{E5008DA7-B2E4-4647-9B42-1BC079FC68CB}"/>
              </a:ext>
            </a:extLst>
          </p:cNvPr>
          <p:cNvSpPr>
            <a:spLocks xmlns:a="http://schemas.openxmlformats.org/drawingml/2006/main" noGrp="1"/>
          </p:cNvSpPr>
          <p:nvPr/>
        </p:nvSpPr>
        <p:spPr>
          <a:xfrm xmlns:a="http://schemas.openxmlformats.org/drawingml/2006/main">
            <a:off x="819150" y="6934200"/>
            <a:ext cx="13601700" cy="409575"/>
          </a:xfrm>
          <a:prstGeom xmlns:a="http://schemas.openxmlformats.org/drawingml/2006/main" prst="roundRect">
            <a:avLst>
              <a:gd name="adj" fmla="val 23256"/>
            </a:avLst>
          </a:prstGeom>
          <a:solidFill xmlns:a="http://schemas.openxmlformats.org/drawingml/2006/main">
            <a:srgbClr val="F4F7FA"/>
          </a:solidFill>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1125" b="0">
                <a:solidFill>
                  <a:srgbClr val="526579"/>
                </a:solidFill>
                <a:latin typeface="Cambria Math"/>
                <a:ea typeface="Cambria Math"/>
                <a:cs typeface="Cambria Math"/>
              </a:defRPr>
            </a:pPr>
            <a:r>
              <a:rPr sz="1125" b="0">
                <a:solidFill>
                  <a:srgbClr val="526579"/>
                </a:solidFill>
                <a:latin typeface="Cambria Math"/>
                <a:ea typeface="Cambria Math"/>
                <a:cs typeface="Cambria Math"/>
              </a:rPr>
              <a:t>LaTeX：F_{tr,max}(v)=\min(F_{max},\frac{P_{max}}{\max(v,\varepsilon)}),\quad F^{prop}=\begin{cases}aF_{tr,max}(v),&amp;a\ge0\\aF_{br,max},&amp;a&lt;0\end{cases}</a:t>
            </a:r>
          </a:p>
        </p:txBody>
      </p:sp>
    </p:spTree>
    <p:extLst>
      <p:ext uri="{BB962C8B-B14F-4D97-AF65-F5344CB8AC3E}">
        <p14:creationId xmlns:p14="http://schemas.microsoft.com/office/powerpoint/2010/main" val="1165250986"/>
      </p:ext>
    </p:extLst>
  </p:cSld>
</p:sld>
</file>

<file path=ppt/slides/slide3.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B1D3608-DF20-4F4D-9287-8F1825C5BBB3}"/>
              </a:ext>
            </a:extLst>
          </p:cNvPr>
          <p:cNvSpPr>
            <a:spLocks xmlns:a="http://schemas.openxmlformats.org/drawingml/2006/main" noGrp="1"/>
          </p:cNvSpPr>
          <p:nvPr/>
        </p:nvSpPr>
        <p:spPr>
          <a:xfrm xmlns:a="http://schemas.openxmlformats.org/drawingml/2006/main">
            <a:off x="685800" y="381000"/>
            <a:ext cx="13868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2850" b="1">
                <a:solidFill>
                  <a:srgbClr val="0B2A53"/>
                </a:solidFill>
                <a:latin typeface="Microsoft YaHei"/>
                <a:ea typeface="Microsoft YaHei"/>
                <a:cs typeface="Microsoft YaHei"/>
              </a:defRPr>
            </a:pPr>
            <a:r>
              <a:rPr sz="2850" b="1">
                <a:solidFill>
                  <a:srgbClr val="0B2A53"/>
                </a:solidFill>
                <a:latin typeface="Microsoft YaHei"/>
                <a:ea typeface="Microsoft YaHei"/>
                <a:cs typeface="Microsoft YaHei"/>
              </a:rPr>
              <a:t>安全投影与下层奖励</a:t>
            </a:r>
          </a:p>
        </p:txBody>
      </p:sp>
      <p:sp>
        <p:nvSpPr>
          <p:cNvPr id="2" name="">
            <a:extLst xmlns:a="http://schemas.openxmlformats.org/drawingml/2006/main">
              <a:ext uri="{FF2B5EF4-FFF2-40B4-BE49-F238E27FC236}">
                <a16:creationId xmlns:a16="http://schemas.microsoft.com/office/drawing/2014/main" id="{50841339-9039-419C-939C-7E07773E3AE9}"/>
              </a:ext>
            </a:extLst>
          </p:cNvPr>
          <p:cNvSpPr>
            <a:spLocks xmlns:a="http://schemas.openxmlformats.org/drawingml/2006/main" noGrp="1"/>
          </p:cNvSpPr>
          <p:nvPr/>
        </p:nvSpPr>
        <p:spPr>
          <a:xfrm xmlns:a="http://schemas.openxmlformats.org/drawingml/2006/main">
            <a:off x="685800" y="1000125"/>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1275" b="1">
                <a:solidFill>
                  <a:srgbClr val="07867F"/>
                </a:solidFill>
                <a:latin typeface="Microsoft YaHei"/>
                <a:ea typeface="Microsoft YaHei"/>
                <a:cs typeface="Microsoft YaHei"/>
              </a:defRPr>
            </a:pPr>
            <a:r>
              <a:rPr sz="1275" b="1">
                <a:solidFill>
                  <a:srgbClr val="07867F"/>
                </a:solidFill>
                <a:latin typeface="Microsoft YaHei"/>
                <a:ea typeface="Microsoft YaHei"/>
                <a:cs typeface="Microsoft YaHei"/>
              </a:rPr>
              <a:t>SAC下层控制</a:t>
            </a:r>
          </a:p>
        </p:txBody>
      </p:sp>
      <p:sp>
        <p:nvSpPr>
          <p:cNvPr id="3" name="">
            <a:extLst xmlns:a="http://schemas.openxmlformats.org/drawingml/2006/main">
              <a:ext uri="{FF2B5EF4-FFF2-40B4-BE49-F238E27FC236}">
                <a16:creationId xmlns:a16="http://schemas.microsoft.com/office/drawing/2014/main" id="{4DDB7836-04C4-436A-B667-F2EF2F640B57}"/>
              </a:ext>
            </a:extLst>
          </p:cNvPr>
          <p:cNvSpPr>
            <a:spLocks xmlns:a="http://schemas.openxmlformats.org/drawingml/2006/main" noGrp="1"/>
          </p:cNvSpPr>
          <p:nvPr/>
        </p:nvSpPr>
        <p:spPr>
          <a:xfrm xmlns:a="http://schemas.openxmlformats.org/drawingml/2006/main">
            <a:off x="685800" y="1381125"/>
            <a:ext cx="13868400" cy="0"/>
          </a:xfrm>
          <a:prstGeom xmlns:a="http://schemas.openxmlformats.org/drawingml/2006/main" prst="line">
            <a:avLst/>
          </a:prstGeom>
          <a:noFill xmlns:a="http://schemas.openxmlformats.org/drawingml/2006/main"/>
          <a:ln xmlns:a="http://schemas.openxmlformats.org/drawingml/2006/main" w="28575">
            <a:solidFill>
              <a:srgbClr val="07867F"/>
            </a:solidFill>
            <a:prstDash val="solid"/>
          </a:ln>
        </p:spPr>
      </p:sp>
      <p:sp>
        <p:nvSpPr>
          <p:cNvPr id="4" name="">
            <a:extLst xmlns:a="http://schemas.openxmlformats.org/drawingml/2006/main">
              <a:ext uri="{FF2B5EF4-FFF2-40B4-BE49-F238E27FC236}">
                <a16:creationId xmlns:a16="http://schemas.microsoft.com/office/drawing/2014/main" id="{AB6C87B4-0EE4-4B54-91E8-8398285F939C}"/>
              </a:ext>
            </a:extLst>
          </p:cNvPr>
          <p:cNvSpPr>
            <a:spLocks xmlns:a="http://schemas.openxmlformats.org/drawingml/2006/main" noGrp="1"/>
          </p:cNvSpPr>
          <p:nvPr/>
        </p:nvSpPr>
        <p:spPr>
          <a:xfrm xmlns:a="http://schemas.openxmlformats.org/drawingml/2006/main">
            <a:off x="13811250" y="802005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14300" tIns="57150" rIns="114300" bIns="57150" anchor="ctr">
            <a:normAutofit fontScale="95238"/>
          </a:bodyPr>
          <a:lstStyle xmlns:a="http://schemas.openxmlformats.org/drawingml/2006/main"/>
          <a:p xmlns:a="http://schemas.openxmlformats.org/drawingml/2006/main">
            <a:pPr algn="r">
              <a:defRPr sz="1050" b="0">
                <a:solidFill>
                  <a:srgbClr val="526579"/>
                </a:solidFill>
                <a:latin typeface="Microsoft YaHei"/>
                <a:ea typeface="Microsoft YaHei"/>
                <a:cs typeface="Microsoft YaHei"/>
              </a:defRPr>
            </a:pPr>
            <a:r>
              <a:rPr sz="1050" b="0">
                <a:solidFill>
                  <a:srgbClr val="526579"/>
                </a:solidFill>
                <a:latin typeface="Microsoft YaHei"/>
                <a:ea typeface="Microsoft YaHei"/>
                <a:cs typeface="Microsoft YaHei"/>
              </a:rPr>
              <a:t>03</a:t>
            </a:r>
          </a:p>
        </p:txBody>
      </p:sp>
      <p:sp>
        <p:nvSpPr>
          <p:cNvPr id="5" name="">
            <a:extLst xmlns:a="http://schemas.openxmlformats.org/drawingml/2006/main">
              <a:ext uri="{FF2B5EF4-FFF2-40B4-BE49-F238E27FC236}">
                <a16:creationId xmlns:a16="http://schemas.microsoft.com/office/drawing/2014/main" id="{278336FA-CCEB-48D4-81F0-332626FFD2FD}"/>
              </a:ext>
            </a:extLst>
          </p:cNvPr>
          <p:cNvSpPr>
            <a:spLocks xmlns:a="http://schemas.openxmlformats.org/drawingml/2006/main" noGrp="1"/>
          </p:cNvSpPr>
          <p:nvPr/>
        </p:nvSpPr>
        <p:spPr>
          <a:xfrm xmlns:a="http://schemas.openxmlformats.org/drawingml/2006/main">
            <a:off x="819150" y="16192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14300" tIns="57150" rIns="114300" bIns="57150" anchor="ctr">
            <a:normAutofit fontScale="91667"/>
          </a:bodyPr>
          <a:lstStyle xmlns:a="http://schemas.openxmlformats.org/drawingml/2006/main"/>
          <a:p xmlns:a="http://schemas.openxmlformats.org/drawingml/2006/main">
            <a:pPr algn="l">
              <a:defRPr sz="1500" b="1">
                <a:solidFill>
                  <a:srgbClr val="07867F"/>
                </a:solidFill>
                <a:latin typeface="Microsoft YaHei"/>
                <a:ea typeface="Microsoft YaHei"/>
                <a:cs typeface="Microsoft YaHei"/>
              </a:defRPr>
            </a:pPr>
            <a:r>
              <a:rPr sz="1500" b="1">
                <a:solidFill>
                  <a:srgbClr val="07867F"/>
                </a:solidFill>
                <a:latin typeface="Microsoft YaHei"/>
                <a:ea typeface="Microsoft YaHei"/>
                <a:cs typeface="Microsoft YaHei"/>
              </a:rPr>
              <a:t>最小干预安全投影</a:t>
            </a:r>
          </a:p>
        </p:txBody>
      </p:sp>
      <p:sp>
        <p:nvSpPr>
          <p:cNvPr id="6" name="">
            <a:extLst xmlns:a="http://schemas.openxmlformats.org/drawingml/2006/main">
              <a:ext uri="{FF2B5EF4-FFF2-40B4-BE49-F238E27FC236}">
                <a16:creationId xmlns:a16="http://schemas.microsoft.com/office/drawing/2014/main" id="{837EA89B-2E49-4747-A090-C2703C302ECE}"/>
              </a:ext>
            </a:extLst>
          </p:cNvPr>
          <p:cNvSpPr>
            <a:spLocks xmlns:a="http://schemas.openxmlformats.org/drawingml/2006/main" noGrp="1"/>
          </p:cNvSpPr>
          <p:nvPr/>
        </p:nvSpPr>
        <p:spPr>
          <a:xfrm xmlns:a="http://schemas.openxmlformats.org/drawingml/2006/main">
            <a:off x="819150" y="1981200"/>
            <a:ext cx="10096500" cy="971550"/>
          </a:xfrm>
          <a:prstGeom xmlns:a="http://schemas.openxmlformats.org/drawingml/2006/main" prst="roundRect">
            <a:avLst>
              <a:gd name="adj" fmla="val 9804"/>
            </a:avLst>
          </a:prstGeom>
          <a:solidFill xmlns:a="http://schemas.openxmlformats.org/drawingml/2006/main">
            <a:srgbClr val="FFFFFF"/>
          </a:solidFill>
          <a:ln xmlns:a="http://schemas.openxmlformats.org/drawingml/2006/main" w="11430">
            <a:solidFill>
              <a:srgbClr val="C8D7E5"/>
            </a:solid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ctr">
              <a:defRPr sz="2250" b="0">
                <a:solidFill>
                  <a:srgbClr val="0B2A53"/>
                </a:solidFill>
                <a:latin typeface="Cambria Math"/>
                <a:ea typeface="Cambria Math"/>
                <a:cs typeface="Cambria Math"/>
              </a:defRPr>
            </a:pPr>
            <a:r>
              <a:rPr sz="2250" b="0">
                <a:solidFill>
                  <a:srgbClr val="0B2A53"/>
                </a:solidFill>
                <a:latin typeface="Cambria Math"/>
                <a:ea typeface="Cambria Math"/>
                <a:cs typeface="Cambria Math"/>
              </a:rPr>
              <a:t>Fₜᵉˣᵉᶜ = Π𝒞₍ₛₜ₎(Fₜᵖʳᵒᵖ) = arg min |F − Fₜᵖʳᵒᵖ|，  F∈𝒞(sₜ)</a:t>
            </a:r>
          </a:p>
        </p:txBody>
      </p:sp>
      <p:sp>
        <p:nvSpPr>
          <p:cNvPr id="7" name="">
            <a:extLst xmlns:a="http://schemas.openxmlformats.org/drawingml/2006/main">
              <a:ext uri="{FF2B5EF4-FFF2-40B4-BE49-F238E27FC236}">
                <a16:creationId xmlns:a16="http://schemas.microsoft.com/office/drawing/2014/main" id="{87478A4F-A68E-4351-8C5A-CD38E7C55E06}"/>
              </a:ext>
            </a:extLst>
          </p:cNvPr>
          <p:cNvSpPr>
            <a:spLocks xmlns:a="http://schemas.openxmlformats.org/drawingml/2006/main" noGrp="1"/>
          </p:cNvSpPr>
          <p:nvPr/>
        </p:nvSpPr>
        <p:spPr>
          <a:xfrm xmlns:a="http://schemas.openxmlformats.org/drawingml/2006/main">
            <a:off x="11163300" y="1981200"/>
            <a:ext cx="3257550" cy="971550"/>
          </a:xfrm>
          <a:prstGeom xmlns:a="http://schemas.openxmlformats.org/drawingml/2006/main" prst="roundRect">
            <a:avLst>
              <a:gd name="adj" fmla="val 9804"/>
            </a:avLst>
          </a:prstGeom>
          <a:solidFill xmlns:a="http://schemas.openxmlformats.org/drawingml/2006/main">
            <a:srgbClr val="E9F9F6"/>
          </a:solidFill>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1275" b="0">
                <a:solidFill>
                  <a:srgbClr val="526579"/>
                </a:solidFill>
                <a:latin typeface="Microsoft YaHei"/>
                <a:ea typeface="Microsoft YaHei"/>
                <a:cs typeface="Microsoft YaHei"/>
              </a:defRPr>
            </a:pPr>
            <a:r>
              <a:rPr sz="1275" b="0">
                <a:solidFill>
                  <a:srgbClr val="526579"/>
                </a:solidFill>
                <a:latin typeface="Microsoft YaHei"/>
                <a:ea typeface="Microsoft YaHei"/>
                <a:cs typeface="Microsoft YaHei"/>
              </a:rPr>
              <a:t>安全集合包含限速、牵引功率、制动力、加速度和终点停车约束。</a:t>
            </a:r>
          </a:p>
        </p:txBody>
      </p:sp>
      <p:sp>
        <p:nvSpPr>
          <p:cNvPr id="8" name="">
            <a:extLst xmlns:a="http://schemas.openxmlformats.org/drawingml/2006/main">
              <a:ext uri="{FF2B5EF4-FFF2-40B4-BE49-F238E27FC236}">
                <a16:creationId xmlns:a16="http://schemas.microsoft.com/office/drawing/2014/main" id="{AA9CC2A3-D919-423F-AD67-627183ECA776}"/>
              </a:ext>
            </a:extLst>
          </p:cNvPr>
          <p:cNvSpPr>
            <a:spLocks xmlns:a="http://schemas.openxmlformats.org/drawingml/2006/main" noGrp="1"/>
          </p:cNvSpPr>
          <p:nvPr/>
        </p:nvSpPr>
        <p:spPr>
          <a:xfrm xmlns:a="http://schemas.openxmlformats.org/drawingml/2006/main">
            <a:off x="819150" y="3028950"/>
            <a:ext cx="13601700" cy="409575"/>
          </a:xfrm>
          <a:prstGeom xmlns:a="http://schemas.openxmlformats.org/drawingml/2006/main" prst="roundRect">
            <a:avLst>
              <a:gd name="adj" fmla="val 23256"/>
            </a:avLst>
          </a:prstGeom>
          <a:solidFill xmlns:a="http://schemas.openxmlformats.org/drawingml/2006/main">
            <a:srgbClr val="F4F7FA"/>
          </a:solidFill>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1125" b="0">
                <a:solidFill>
                  <a:srgbClr val="526579"/>
                </a:solidFill>
                <a:latin typeface="Cambria Math"/>
                <a:ea typeface="Cambria Math"/>
                <a:cs typeface="Cambria Math"/>
              </a:defRPr>
            </a:pPr>
            <a:r>
              <a:rPr sz="1125" b="0">
                <a:solidFill>
                  <a:srgbClr val="526579"/>
                </a:solidFill>
                <a:latin typeface="Cambria Math"/>
                <a:ea typeface="Cambria Math"/>
                <a:cs typeface="Cambria Math"/>
              </a:rPr>
              <a:t>LaTeX：F_t^{exec}=\Pi_{\mathcal C(s_t)}(F_t^{prop})=\arg\min_{F\in\mathcal C(s_t)}|F-F_t^{prop}|</a:t>
            </a:r>
          </a:p>
        </p:txBody>
      </p:sp>
      <p:sp>
        <p:nvSpPr>
          <p:cNvPr id="9" name="">
            <a:extLst xmlns:a="http://schemas.openxmlformats.org/drawingml/2006/main">
              <a:ext uri="{FF2B5EF4-FFF2-40B4-BE49-F238E27FC236}">
                <a16:creationId xmlns:a16="http://schemas.microsoft.com/office/drawing/2014/main" id="{839728F4-A199-433C-B15C-068C4BA0F7E4}"/>
              </a:ext>
            </a:extLst>
          </p:cNvPr>
          <p:cNvSpPr>
            <a:spLocks xmlns:a="http://schemas.openxmlformats.org/drawingml/2006/main" noGrp="1"/>
          </p:cNvSpPr>
          <p:nvPr/>
        </p:nvSpPr>
        <p:spPr>
          <a:xfrm xmlns:a="http://schemas.openxmlformats.org/drawingml/2006/main">
            <a:off x="819150" y="35242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14300" tIns="57150" rIns="114300" bIns="57150" anchor="ctr">
            <a:normAutofit fontScale="91667"/>
          </a:bodyPr>
          <a:lstStyle xmlns:a="http://schemas.openxmlformats.org/drawingml/2006/main"/>
          <a:p xmlns:a="http://schemas.openxmlformats.org/drawingml/2006/main">
            <a:pPr algn="l">
              <a:defRPr sz="1500" b="1">
                <a:solidFill>
                  <a:srgbClr val="07867F"/>
                </a:solidFill>
                <a:latin typeface="Microsoft YaHei"/>
                <a:ea typeface="Microsoft YaHei"/>
                <a:cs typeface="Microsoft YaHei"/>
              </a:defRPr>
            </a:pPr>
            <a:r>
              <a:rPr sz="1500" b="1">
                <a:solidFill>
                  <a:srgbClr val="07867F"/>
                </a:solidFill>
                <a:latin typeface="Microsoft YaHei"/>
                <a:ea typeface="Microsoft YaHei"/>
                <a:cs typeface="Microsoft YaHei"/>
              </a:rPr>
              <a:t>四类奖励</a:t>
            </a:r>
          </a:p>
        </p:txBody>
      </p:sp>
      <p:sp>
        <p:nvSpPr>
          <p:cNvPr id="10" name="">
            <a:extLst xmlns:a="http://schemas.openxmlformats.org/drawingml/2006/main">
              <a:ext uri="{FF2B5EF4-FFF2-40B4-BE49-F238E27FC236}">
                <a16:creationId xmlns:a16="http://schemas.microsoft.com/office/drawing/2014/main" id="{7E4178FC-0145-4DFD-9CC6-3C63418CD14C}"/>
              </a:ext>
            </a:extLst>
          </p:cNvPr>
          <p:cNvSpPr>
            <a:spLocks xmlns:a="http://schemas.openxmlformats.org/drawingml/2006/main" noGrp="1"/>
          </p:cNvSpPr>
          <p:nvPr/>
        </p:nvSpPr>
        <p:spPr>
          <a:xfrm xmlns:a="http://schemas.openxmlformats.org/drawingml/2006/main">
            <a:off x="819150" y="3886200"/>
            <a:ext cx="10096500" cy="876300"/>
          </a:xfrm>
          <a:prstGeom xmlns:a="http://schemas.openxmlformats.org/drawingml/2006/main" prst="roundRect">
            <a:avLst>
              <a:gd name="adj" fmla="val 10870"/>
            </a:avLst>
          </a:prstGeom>
          <a:solidFill xmlns:a="http://schemas.openxmlformats.org/drawingml/2006/main">
            <a:srgbClr val="FFFFFF"/>
          </a:solidFill>
          <a:ln xmlns:a="http://schemas.openxmlformats.org/drawingml/2006/main" w="11430">
            <a:solidFill>
              <a:srgbClr val="C8D7E5"/>
            </a:solid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ctr">
              <a:defRPr sz="2250" b="0">
                <a:solidFill>
                  <a:srgbClr val="0B2A53"/>
                </a:solidFill>
                <a:latin typeface="Cambria Math"/>
                <a:ea typeface="Cambria Math"/>
                <a:cs typeface="Cambria Math"/>
              </a:defRPr>
            </a:pPr>
            <a:r>
              <a:rPr sz="2250" b="0">
                <a:solidFill>
                  <a:srgbClr val="0B2A53"/>
                </a:solidFill>
                <a:latin typeface="Cambria Math"/>
                <a:ea typeface="Cambria Math"/>
                <a:cs typeface="Cambria Math"/>
              </a:rPr>
              <a:t>rₜᴸ = rₜᵗⁱᵐᵉ + rₜᵉⁿᵉʳᵍʸ + rₜᶜᵒᵐᶠᵒʳᵗ + rₜˢᵃᶠᵉᵗʸ</a:t>
            </a:r>
          </a:p>
        </p:txBody>
      </p:sp>
      <p:sp>
        <p:nvSpPr>
          <p:cNvPr id="11" name="">
            <a:extLst xmlns:a="http://schemas.openxmlformats.org/drawingml/2006/main">
              <a:ext uri="{FF2B5EF4-FFF2-40B4-BE49-F238E27FC236}">
                <a16:creationId xmlns:a16="http://schemas.microsoft.com/office/drawing/2014/main" id="{FCE8F676-7196-4E17-AEF2-CEDB0453EB3E}"/>
              </a:ext>
            </a:extLst>
          </p:cNvPr>
          <p:cNvSpPr>
            <a:spLocks xmlns:a="http://schemas.openxmlformats.org/drawingml/2006/main" noGrp="1"/>
          </p:cNvSpPr>
          <p:nvPr/>
        </p:nvSpPr>
        <p:spPr>
          <a:xfrm xmlns:a="http://schemas.openxmlformats.org/drawingml/2006/main">
            <a:off x="11163300" y="3886200"/>
            <a:ext cx="3257550" cy="876300"/>
          </a:xfrm>
          <a:prstGeom xmlns:a="http://schemas.openxmlformats.org/drawingml/2006/main" prst="roundRect">
            <a:avLst>
              <a:gd name="adj" fmla="val 10870"/>
            </a:avLst>
          </a:prstGeom>
          <a:solidFill xmlns:a="http://schemas.openxmlformats.org/drawingml/2006/main">
            <a:srgbClr val="E9F9F6"/>
          </a:solidFill>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1275" b="0">
                <a:solidFill>
                  <a:srgbClr val="526579"/>
                </a:solidFill>
                <a:latin typeface="Microsoft YaHei"/>
                <a:ea typeface="Microsoft YaHei"/>
                <a:cs typeface="Microsoft YaHei"/>
              </a:defRPr>
            </a:pPr>
            <a:r>
              <a:rPr sz="1275" b="0">
                <a:solidFill>
                  <a:srgbClr val="526579"/>
                </a:solidFill>
                <a:latin typeface="Microsoft YaHei"/>
                <a:ea typeface="Microsoft YaHei"/>
                <a:cs typeface="Microsoft YaHei"/>
              </a:rPr>
              <a:t>准点是主要目标。能耗和舒适性用于同等可行方案之间的优化。</a:t>
            </a:r>
          </a:p>
        </p:txBody>
      </p:sp>
      <p:sp>
        <p:nvSpPr>
          <p:cNvPr id="12" name="">
            <a:extLst xmlns:a="http://schemas.openxmlformats.org/drawingml/2006/main">
              <a:ext uri="{FF2B5EF4-FFF2-40B4-BE49-F238E27FC236}">
                <a16:creationId xmlns:a16="http://schemas.microsoft.com/office/drawing/2014/main" id="{069AC308-20D1-4806-A72F-B9CEAFA027BA}"/>
              </a:ext>
            </a:extLst>
          </p:cNvPr>
          <p:cNvSpPr>
            <a:spLocks xmlns:a="http://schemas.openxmlformats.org/drawingml/2006/main" noGrp="1"/>
          </p:cNvSpPr>
          <p:nvPr/>
        </p:nvSpPr>
        <p:spPr>
          <a:xfrm xmlns:a="http://schemas.openxmlformats.org/drawingml/2006/main">
            <a:off x="819150" y="4838700"/>
            <a:ext cx="13601700" cy="409575"/>
          </a:xfrm>
          <a:prstGeom xmlns:a="http://schemas.openxmlformats.org/drawingml/2006/main" prst="roundRect">
            <a:avLst>
              <a:gd name="adj" fmla="val 23256"/>
            </a:avLst>
          </a:prstGeom>
          <a:solidFill xmlns:a="http://schemas.openxmlformats.org/drawingml/2006/main">
            <a:srgbClr val="F4F7FA"/>
          </a:solidFill>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1125" b="0">
                <a:solidFill>
                  <a:srgbClr val="526579"/>
                </a:solidFill>
                <a:latin typeface="Cambria Math"/>
                <a:ea typeface="Cambria Math"/>
                <a:cs typeface="Cambria Math"/>
              </a:defRPr>
            </a:pPr>
            <a:r>
              <a:rPr sz="1125" b="0">
                <a:solidFill>
                  <a:srgbClr val="526579"/>
                </a:solidFill>
                <a:latin typeface="Cambria Math"/>
                <a:ea typeface="Cambria Math"/>
                <a:cs typeface="Cambria Math"/>
              </a:rPr>
              <a:t>LaTeX：r_t^L=r_t^{time}+r_t^{energy}+r_t^{comfort}+r_t^{safety}</a:t>
            </a:r>
          </a:p>
        </p:txBody>
      </p:sp>
      <p:sp>
        <p:nvSpPr>
          <p:cNvPr id="13" name="">
            <a:extLst xmlns:a="http://schemas.openxmlformats.org/drawingml/2006/main">
              <a:ext uri="{FF2B5EF4-FFF2-40B4-BE49-F238E27FC236}">
                <a16:creationId xmlns:a16="http://schemas.microsoft.com/office/drawing/2014/main" id="{CE376ED1-7DA6-45E8-A634-54557B760F3E}"/>
              </a:ext>
            </a:extLst>
          </p:cNvPr>
          <p:cNvSpPr>
            <a:spLocks xmlns:a="http://schemas.openxmlformats.org/drawingml/2006/main" noGrp="1"/>
          </p:cNvSpPr>
          <p:nvPr/>
        </p:nvSpPr>
        <p:spPr>
          <a:xfrm xmlns:a="http://schemas.openxmlformats.org/drawingml/2006/main">
            <a:off x="819150" y="53340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14300" tIns="57150" rIns="114300" bIns="57150" anchor="ctr">
            <a:normAutofit fontScale="91667"/>
          </a:bodyPr>
          <a:lstStyle xmlns:a="http://schemas.openxmlformats.org/drawingml/2006/main"/>
          <a:p xmlns:a="http://schemas.openxmlformats.org/drawingml/2006/main">
            <a:pPr algn="l">
              <a:defRPr sz="1500" b="1">
                <a:solidFill>
                  <a:srgbClr val="07867F"/>
                </a:solidFill>
                <a:latin typeface="Microsoft YaHei"/>
                <a:ea typeface="Microsoft YaHei"/>
                <a:cs typeface="Microsoft YaHei"/>
              </a:defRPr>
            </a:pPr>
            <a:r>
              <a:rPr sz="1500" b="1">
                <a:solidFill>
                  <a:srgbClr val="07867F"/>
                </a:solidFill>
                <a:latin typeface="Microsoft YaHei"/>
                <a:ea typeface="Microsoft YaHei"/>
                <a:cs typeface="Microsoft YaHei"/>
              </a:rPr>
              <a:t>奖励分量示例</a:t>
            </a:r>
          </a:p>
        </p:txBody>
      </p:sp>
      <p:sp>
        <p:nvSpPr>
          <p:cNvPr id="14" name="">
            <a:extLst xmlns:a="http://schemas.openxmlformats.org/drawingml/2006/main">
              <a:ext uri="{FF2B5EF4-FFF2-40B4-BE49-F238E27FC236}">
                <a16:creationId xmlns:a16="http://schemas.microsoft.com/office/drawing/2014/main" id="{0E22FD2E-834A-4D60-A261-FFE8A63C7452}"/>
              </a:ext>
            </a:extLst>
          </p:cNvPr>
          <p:cNvSpPr>
            <a:spLocks xmlns:a="http://schemas.openxmlformats.org/drawingml/2006/main" noGrp="1"/>
          </p:cNvSpPr>
          <p:nvPr/>
        </p:nvSpPr>
        <p:spPr>
          <a:xfrm xmlns:a="http://schemas.openxmlformats.org/drawingml/2006/main">
            <a:off x="819150" y="5695950"/>
            <a:ext cx="10096500" cy="13335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430">
            <a:solidFill>
              <a:srgbClr val="C8D7E5"/>
            </a:solid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ctr">
              <a:defRPr sz="2250" b="0">
                <a:solidFill>
                  <a:srgbClr val="0B2A53"/>
                </a:solidFill>
                <a:latin typeface="Cambria Math"/>
                <a:ea typeface="Cambria Math"/>
                <a:cs typeface="Cambria Math"/>
              </a:defRPr>
            </a:pPr>
            <a:r>
              <a:rPr sz="2250" b="0">
                <a:solidFill>
                  <a:srgbClr val="0B2A53"/>
                </a:solidFill>
                <a:latin typeface="Cambria Math"/>
                <a:ea typeface="Cambria Math"/>
                <a:cs typeface="Cambria Math"/>
              </a:rPr>
              <a:t>rₜᵉⁿᵉʳᵍʸ = −wᴱ·ΔEₜ/Eʳᵉᶠ</a:t>
            </a:r>
          </a:p>
          <a:p xmlns:a="http://schemas.openxmlformats.org/drawingml/2006/main">
            <a:pPr algn="ctr">
              <a:defRPr sz="2250" b="0">
                <a:solidFill>
                  <a:srgbClr val="0B2A53"/>
                </a:solidFill>
                <a:latin typeface="Cambria Math"/>
                <a:ea typeface="Cambria Math"/>
                <a:cs typeface="Cambria Math"/>
              </a:defRPr>
            </a:pPr>
            <a:r>
              <a:rPr sz="2250" b="0">
                <a:solidFill>
                  <a:srgbClr val="0B2A53"/>
                </a:solidFill>
                <a:latin typeface="Cambria Math"/>
                <a:ea typeface="Cambria Math"/>
                <a:cs typeface="Cambria Math"/>
              </a:rPr>
              <a:t>rₜᶜᵒᵐᶠᵒʳᵗ = −wᴶ|jₜ|Δt</a:t>
            </a:r>
          </a:p>
          <a:p xmlns:a="http://schemas.openxmlformats.org/drawingml/2006/main">
            <a:pPr algn="ctr">
              <a:defRPr sz="2250" b="0">
                <a:solidFill>
                  <a:srgbClr val="0B2A53"/>
                </a:solidFill>
                <a:latin typeface="Cambria Math"/>
                <a:ea typeface="Cambria Math"/>
                <a:cs typeface="Cambria Math"/>
              </a:defRPr>
            </a:pPr>
            <a:r>
              <a:rPr sz="2250" b="0">
                <a:solidFill>
                  <a:srgbClr val="0B2A53"/>
                </a:solidFill>
                <a:latin typeface="Cambria Math"/>
                <a:ea typeface="Cambria Math"/>
                <a:cs typeface="Cambria Math"/>
              </a:rPr>
              <a:t>rₜˢᵃᶠᵉᵗʸ = −wˢ·𝟙(Fₜᵉˣᵉᶜ ≠ Fₜᵖʳᵒᵖ)</a:t>
            </a:r>
          </a:p>
        </p:txBody>
      </p:sp>
      <p:sp>
        <p:nvSpPr>
          <p:cNvPr id="15" name="">
            <a:extLst xmlns:a="http://schemas.openxmlformats.org/drawingml/2006/main">
              <a:ext uri="{FF2B5EF4-FFF2-40B4-BE49-F238E27FC236}">
                <a16:creationId xmlns:a16="http://schemas.microsoft.com/office/drawing/2014/main" id="{B8267DBD-62F2-482B-B328-9F8F6B81765F}"/>
              </a:ext>
            </a:extLst>
          </p:cNvPr>
          <p:cNvSpPr>
            <a:spLocks xmlns:a="http://schemas.openxmlformats.org/drawingml/2006/main" noGrp="1"/>
          </p:cNvSpPr>
          <p:nvPr/>
        </p:nvSpPr>
        <p:spPr>
          <a:xfrm xmlns:a="http://schemas.openxmlformats.org/drawingml/2006/main">
            <a:off x="11163300" y="5695950"/>
            <a:ext cx="3257550" cy="1333500"/>
          </a:xfrm>
          <a:prstGeom xmlns:a="http://schemas.openxmlformats.org/drawingml/2006/main" prst="roundRect">
            <a:avLst>
              <a:gd name="adj" fmla="val 7143"/>
            </a:avLst>
          </a:prstGeom>
          <a:solidFill xmlns:a="http://schemas.openxmlformats.org/drawingml/2006/main">
            <a:srgbClr val="E9F9F6"/>
          </a:solidFill>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1275" b="0">
                <a:solidFill>
                  <a:srgbClr val="526579"/>
                </a:solidFill>
                <a:latin typeface="Microsoft YaHei"/>
                <a:ea typeface="Microsoft YaHei"/>
                <a:cs typeface="Microsoft YaHei"/>
              </a:defRPr>
            </a:pPr>
            <a:r>
              <a:rPr sz="1275" b="0">
                <a:solidFill>
                  <a:srgbClr val="526579"/>
                </a:solidFill>
                <a:latin typeface="Microsoft YaHei"/>
                <a:ea typeface="Microsoft YaHei"/>
                <a:cs typeface="Microsoft YaHei"/>
              </a:rPr>
              <a:t>安全层纠正动作后，惩罚归因于actor提出的原始动作。</a:t>
            </a:r>
          </a:p>
        </p:txBody>
      </p:sp>
      <p:sp>
        <p:nvSpPr>
          <p:cNvPr id="16" name="">
            <a:extLst xmlns:a="http://schemas.openxmlformats.org/drawingml/2006/main">
              <a:ext uri="{FF2B5EF4-FFF2-40B4-BE49-F238E27FC236}">
                <a16:creationId xmlns:a16="http://schemas.microsoft.com/office/drawing/2014/main" id="{C81EDB41-2C09-46C6-AD28-989B696AB98E}"/>
              </a:ext>
            </a:extLst>
          </p:cNvPr>
          <p:cNvSpPr>
            <a:spLocks xmlns:a="http://schemas.openxmlformats.org/drawingml/2006/main" noGrp="1"/>
          </p:cNvSpPr>
          <p:nvPr/>
        </p:nvSpPr>
        <p:spPr>
          <a:xfrm xmlns:a="http://schemas.openxmlformats.org/drawingml/2006/main">
            <a:off x="819150" y="7105650"/>
            <a:ext cx="13601700" cy="409575"/>
          </a:xfrm>
          <a:prstGeom xmlns:a="http://schemas.openxmlformats.org/drawingml/2006/main" prst="roundRect">
            <a:avLst>
              <a:gd name="adj" fmla="val 23256"/>
            </a:avLst>
          </a:prstGeom>
          <a:solidFill xmlns:a="http://schemas.openxmlformats.org/drawingml/2006/main">
            <a:srgbClr val="F4F7FA"/>
          </a:solidFill>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1125" b="0">
                <a:solidFill>
                  <a:srgbClr val="526579"/>
                </a:solidFill>
                <a:latin typeface="Cambria Math"/>
                <a:ea typeface="Cambria Math"/>
                <a:cs typeface="Cambria Math"/>
              </a:defRPr>
            </a:pPr>
            <a:r>
              <a:rPr sz="1125" b="0">
                <a:solidFill>
                  <a:srgbClr val="526579"/>
                </a:solidFill>
                <a:latin typeface="Cambria Math"/>
                <a:ea typeface="Cambria Math"/>
                <a:cs typeface="Cambria Math"/>
              </a:rPr>
              <a:t>LaTeX：r_t^{energy}=-w_E\frac{\Delta E_t}{E_{ref}},\quad r_t^{comfort}=-w_J|j_t|\Delta t,\quad r_t^{safety}=-w_S\mathbf1(F_t^{exec}\ne F_t^{prop})</a:t>
            </a:r>
          </a:p>
        </p:txBody>
      </p:sp>
    </p:spTree>
    <p:extLst>
      <p:ext uri="{BB962C8B-B14F-4D97-AF65-F5344CB8AC3E}">
        <p14:creationId xmlns:p14="http://schemas.microsoft.com/office/powerpoint/2010/main" val="77558544"/>
      </p:ext>
    </p:extLst>
  </p:cSld>
</p:sld>
</file>

<file path=ppt/slides/slide4.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638BA34-19F1-4AA3-8605-EE0DF980D2B7}"/>
              </a:ext>
            </a:extLst>
          </p:cNvPr>
          <p:cNvSpPr>
            <a:spLocks xmlns:a="http://schemas.openxmlformats.org/drawingml/2006/main" noGrp="1"/>
          </p:cNvSpPr>
          <p:nvPr/>
        </p:nvSpPr>
        <p:spPr>
          <a:xfrm xmlns:a="http://schemas.openxmlformats.org/drawingml/2006/main">
            <a:off x="685800" y="381000"/>
            <a:ext cx="13868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2850" b="1">
                <a:solidFill>
                  <a:srgbClr val="0B2A53"/>
                </a:solidFill>
                <a:latin typeface="Microsoft YaHei"/>
                <a:ea typeface="Microsoft YaHei"/>
                <a:cs typeface="Microsoft YaHei"/>
              </a:defRPr>
            </a:pPr>
            <a:r>
              <a:rPr sz="2850" b="1">
                <a:solidFill>
                  <a:srgbClr val="0B2A53"/>
                </a:solidFill>
                <a:latin typeface="Microsoft YaHei"/>
                <a:ea typeface="Microsoft YaHei"/>
                <a:cs typeface="Microsoft YaHei"/>
              </a:rPr>
              <a:t>Soft Actor-Critic更新公式</a:t>
            </a:r>
          </a:p>
        </p:txBody>
      </p:sp>
      <p:sp>
        <p:nvSpPr>
          <p:cNvPr id="2" name="">
            <a:extLst xmlns:a="http://schemas.openxmlformats.org/drawingml/2006/main">
              <a:ext uri="{FF2B5EF4-FFF2-40B4-BE49-F238E27FC236}">
                <a16:creationId xmlns:a16="http://schemas.microsoft.com/office/drawing/2014/main" id="{7DB2D7B6-77F0-491C-B29C-46311348BBFF}"/>
              </a:ext>
            </a:extLst>
          </p:cNvPr>
          <p:cNvSpPr>
            <a:spLocks xmlns:a="http://schemas.openxmlformats.org/drawingml/2006/main" noGrp="1"/>
          </p:cNvSpPr>
          <p:nvPr/>
        </p:nvSpPr>
        <p:spPr>
          <a:xfrm xmlns:a="http://schemas.openxmlformats.org/drawingml/2006/main">
            <a:off x="685800" y="1000125"/>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1275" b="1">
                <a:solidFill>
                  <a:srgbClr val="07867F"/>
                </a:solidFill>
                <a:latin typeface="Microsoft YaHei"/>
                <a:ea typeface="Microsoft YaHei"/>
                <a:cs typeface="Microsoft YaHei"/>
              </a:defRPr>
            </a:pPr>
            <a:r>
              <a:rPr sz="1275" b="1">
                <a:solidFill>
                  <a:srgbClr val="07867F"/>
                </a:solidFill>
                <a:latin typeface="Microsoft YaHei"/>
                <a:ea typeface="Microsoft YaHei"/>
                <a:cs typeface="Microsoft YaHei"/>
              </a:rPr>
              <a:t>SAC下层控制</a:t>
            </a:r>
          </a:p>
        </p:txBody>
      </p:sp>
      <p:sp>
        <p:nvSpPr>
          <p:cNvPr id="3" name="">
            <a:extLst xmlns:a="http://schemas.openxmlformats.org/drawingml/2006/main">
              <a:ext uri="{FF2B5EF4-FFF2-40B4-BE49-F238E27FC236}">
                <a16:creationId xmlns:a16="http://schemas.microsoft.com/office/drawing/2014/main" id="{06D468A4-EE8D-4909-BA68-ABDE91191C74}"/>
              </a:ext>
            </a:extLst>
          </p:cNvPr>
          <p:cNvSpPr>
            <a:spLocks xmlns:a="http://schemas.openxmlformats.org/drawingml/2006/main" noGrp="1"/>
          </p:cNvSpPr>
          <p:nvPr/>
        </p:nvSpPr>
        <p:spPr>
          <a:xfrm xmlns:a="http://schemas.openxmlformats.org/drawingml/2006/main">
            <a:off x="685800" y="1381125"/>
            <a:ext cx="13868400" cy="0"/>
          </a:xfrm>
          <a:prstGeom xmlns:a="http://schemas.openxmlformats.org/drawingml/2006/main" prst="line">
            <a:avLst/>
          </a:prstGeom>
          <a:noFill xmlns:a="http://schemas.openxmlformats.org/drawingml/2006/main"/>
          <a:ln xmlns:a="http://schemas.openxmlformats.org/drawingml/2006/main" w="28575">
            <a:solidFill>
              <a:srgbClr val="07867F"/>
            </a:solidFill>
            <a:prstDash val="solid"/>
          </a:ln>
        </p:spPr>
      </p:sp>
      <p:sp>
        <p:nvSpPr>
          <p:cNvPr id="4" name="">
            <a:extLst xmlns:a="http://schemas.openxmlformats.org/drawingml/2006/main">
              <a:ext uri="{FF2B5EF4-FFF2-40B4-BE49-F238E27FC236}">
                <a16:creationId xmlns:a16="http://schemas.microsoft.com/office/drawing/2014/main" id="{1645686C-4517-43D1-A48E-1E3FAAE82E8B}"/>
              </a:ext>
            </a:extLst>
          </p:cNvPr>
          <p:cNvSpPr>
            <a:spLocks xmlns:a="http://schemas.openxmlformats.org/drawingml/2006/main" noGrp="1"/>
          </p:cNvSpPr>
          <p:nvPr/>
        </p:nvSpPr>
        <p:spPr>
          <a:xfrm xmlns:a="http://schemas.openxmlformats.org/drawingml/2006/main">
            <a:off x="13811250" y="802005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14300" tIns="57150" rIns="114300" bIns="57150" anchor="ctr">
            <a:normAutofit fontScale="95238"/>
          </a:bodyPr>
          <a:lstStyle xmlns:a="http://schemas.openxmlformats.org/drawingml/2006/main"/>
          <a:p xmlns:a="http://schemas.openxmlformats.org/drawingml/2006/main">
            <a:pPr algn="r">
              <a:defRPr sz="1050" b="0">
                <a:solidFill>
                  <a:srgbClr val="526579"/>
                </a:solidFill>
                <a:latin typeface="Microsoft YaHei"/>
                <a:ea typeface="Microsoft YaHei"/>
                <a:cs typeface="Microsoft YaHei"/>
              </a:defRPr>
            </a:pPr>
            <a:r>
              <a:rPr sz="1050" b="0">
                <a:solidFill>
                  <a:srgbClr val="526579"/>
                </a:solidFill>
                <a:latin typeface="Microsoft YaHei"/>
                <a:ea typeface="Microsoft YaHei"/>
                <a:cs typeface="Microsoft YaHei"/>
              </a:rPr>
              <a:t>04</a:t>
            </a:r>
          </a:p>
        </p:txBody>
      </p:sp>
      <p:sp>
        <p:nvSpPr>
          <p:cNvPr id="5" name="">
            <a:extLst xmlns:a="http://schemas.openxmlformats.org/drawingml/2006/main">
              <a:ext uri="{FF2B5EF4-FFF2-40B4-BE49-F238E27FC236}">
                <a16:creationId xmlns:a16="http://schemas.microsoft.com/office/drawing/2014/main" id="{A6202B16-0F5D-4B6C-8F4B-8D0EFBD0FEA5}"/>
              </a:ext>
            </a:extLst>
          </p:cNvPr>
          <p:cNvSpPr>
            <a:spLocks xmlns:a="http://schemas.openxmlformats.org/drawingml/2006/main" noGrp="1"/>
          </p:cNvSpPr>
          <p:nvPr/>
        </p:nvSpPr>
        <p:spPr>
          <a:xfrm xmlns:a="http://schemas.openxmlformats.org/drawingml/2006/main">
            <a:off x="819150" y="157162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14300" tIns="57150" rIns="114300" bIns="57150" anchor="ctr">
            <a:normAutofit fontScale="91667"/>
          </a:bodyPr>
          <a:lstStyle xmlns:a="http://schemas.openxmlformats.org/drawingml/2006/main"/>
          <a:p xmlns:a="http://schemas.openxmlformats.org/drawingml/2006/main">
            <a:pPr algn="l">
              <a:defRPr sz="1500" b="1">
                <a:solidFill>
                  <a:srgbClr val="07867F"/>
                </a:solidFill>
                <a:latin typeface="Microsoft YaHei"/>
                <a:ea typeface="Microsoft YaHei"/>
                <a:cs typeface="Microsoft YaHei"/>
              </a:defRPr>
            </a:pPr>
            <a:r>
              <a:rPr sz="1500" b="1">
                <a:solidFill>
                  <a:srgbClr val="07867F"/>
                </a:solidFill>
                <a:latin typeface="Microsoft YaHei"/>
                <a:ea typeface="Microsoft YaHei"/>
                <a:cs typeface="Microsoft YaHei"/>
              </a:rPr>
              <a:t>策略重参数化</a:t>
            </a:r>
          </a:p>
        </p:txBody>
      </p:sp>
      <p:sp>
        <p:nvSpPr>
          <p:cNvPr id="6" name="">
            <a:extLst xmlns:a="http://schemas.openxmlformats.org/drawingml/2006/main">
              <a:ext uri="{FF2B5EF4-FFF2-40B4-BE49-F238E27FC236}">
                <a16:creationId xmlns:a16="http://schemas.microsoft.com/office/drawing/2014/main" id="{A81F4700-3D86-46E8-BEDB-A6A94A089B69}"/>
              </a:ext>
            </a:extLst>
          </p:cNvPr>
          <p:cNvSpPr>
            <a:spLocks xmlns:a="http://schemas.openxmlformats.org/drawingml/2006/main" noGrp="1"/>
          </p:cNvSpPr>
          <p:nvPr/>
        </p:nvSpPr>
        <p:spPr>
          <a:xfrm xmlns:a="http://schemas.openxmlformats.org/drawingml/2006/main">
            <a:off x="819150" y="1933575"/>
            <a:ext cx="10096500" cy="828675"/>
          </a:xfrm>
          <a:prstGeom xmlns:a="http://schemas.openxmlformats.org/drawingml/2006/main" prst="roundRect">
            <a:avLst>
              <a:gd name="adj" fmla="val 11494"/>
            </a:avLst>
          </a:prstGeom>
          <a:solidFill xmlns:a="http://schemas.openxmlformats.org/drawingml/2006/main">
            <a:srgbClr val="FFFFFF"/>
          </a:solidFill>
          <a:ln xmlns:a="http://schemas.openxmlformats.org/drawingml/2006/main" w="11430">
            <a:solidFill>
              <a:srgbClr val="C8D7E5"/>
            </a:solid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ctr">
              <a:defRPr sz="2250" b="0">
                <a:solidFill>
                  <a:srgbClr val="0B2A53"/>
                </a:solidFill>
                <a:latin typeface="Cambria Math"/>
                <a:ea typeface="Cambria Math"/>
                <a:cs typeface="Cambria Math"/>
              </a:defRPr>
            </a:pPr>
            <a:r>
              <a:rPr sz="2250" b="0">
                <a:solidFill>
                  <a:srgbClr val="0B2A53"/>
                </a:solidFill>
                <a:latin typeface="Cambria Math"/>
                <a:ea typeface="Cambria Math"/>
                <a:cs typeface="Cambria Math"/>
              </a:rPr>
              <a:t>zₜ = μθ(sₜ) + σθ(sₜ)⊙ε，  ε∼𝒩(0,I)，  aₜ = tanh(zₜ)</a:t>
            </a:r>
          </a:p>
        </p:txBody>
      </p:sp>
      <p:sp>
        <p:nvSpPr>
          <p:cNvPr id="7" name="">
            <a:extLst xmlns:a="http://schemas.openxmlformats.org/drawingml/2006/main">
              <a:ext uri="{FF2B5EF4-FFF2-40B4-BE49-F238E27FC236}">
                <a16:creationId xmlns:a16="http://schemas.microsoft.com/office/drawing/2014/main" id="{D58390E0-B01E-4C04-B689-0A0990D4DAC3}"/>
              </a:ext>
            </a:extLst>
          </p:cNvPr>
          <p:cNvSpPr>
            <a:spLocks xmlns:a="http://schemas.openxmlformats.org/drawingml/2006/main" noGrp="1"/>
          </p:cNvSpPr>
          <p:nvPr/>
        </p:nvSpPr>
        <p:spPr>
          <a:xfrm xmlns:a="http://schemas.openxmlformats.org/drawingml/2006/main">
            <a:off x="11163300" y="1933575"/>
            <a:ext cx="3257550" cy="828675"/>
          </a:xfrm>
          <a:prstGeom xmlns:a="http://schemas.openxmlformats.org/drawingml/2006/main" prst="roundRect">
            <a:avLst>
              <a:gd name="adj" fmla="val 11494"/>
            </a:avLst>
          </a:prstGeom>
          <a:solidFill xmlns:a="http://schemas.openxmlformats.org/drawingml/2006/main">
            <a:srgbClr val="E9F9F6"/>
          </a:solidFill>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1275" b="0">
                <a:solidFill>
                  <a:srgbClr val="526579"/>
                </a:solidFill>
                <a:latin typeface="Microsoft YaHei"/>
                <a:ea typeface="Microsoft YaHei"/>
                <a:cs typeface="Microsoft YaHei"/>
              </a:defRPr>
            </a:pPr>
            <a:r>
              <a:rPr sz="1275" b="0">
                <a:solidFill>
                  <a:srgbClr val="526579"/>
                </a:solidFill>
                <a:latin typeface="Microsoft YaHei"/>
                <a:ea typeface="Microsoft YaHei"/>
                <a:cs typeface="Microsoft YaHei"/>
              </a:rPr>
              <a:t>训练时高斯采样，评估时使用tanh(μ)。</a:t>
            </a:r>
          </a:p>
        </p:txBody>
      </p:sp>
      <p:sp>
        <p:nvSpPr>
          <p:cNvPr id="8" name="">
            <a:extLst xmlns:a="http://schemas.openxmlformats.org/drawingml/2006/main">
              <a:ext uri="{FF2B5EF4-FFF2-40B4-BE49-F238E27FC236}">
                <a16:creationId xmlns:a16="http://schemas.microsoft.com/office/drawing/2014/main" id="{032988C9-DC32-4EE0-87A8-C6D25B1D4E6A}"/>
              </a:ext>
            </a:extLst>
          </p:cNvPr>
          <p:cNvSpPr>
            <a:spLocks xmlns:a="http://schemas.openxmlformats.org/drawingml/2006/main" noGrp="1"/>
          </p:cNvSpPr>
          <p:nvPr/>
        </p:nvSpPr>
        <p:spPr>
          <a:xfrm xmlns:a="http://schemas.openxmlformats.org/drawingml/2006/main">
            <a:off x="819150" y="2838450"/>
            <a:ext cx="13601700" cy="409575"/>
          </a:xfrm>
          <a:prstGeom xmlns:a="http://schemas.openxmlformats.org/drawingml/2006/main" prst="roundRect">
            <a:avLst>
              <a:gd name="adj" fmla="val 23256"/>
            </a:avLst>
          </a:prstGeom>
          <a:solidFill xmlns:a="http://schemas.openxmlformats.org/drawingml/2006/main">
            <a:srgbClr val="F4F7FA"/>
          </a:solidFill>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1125" b="0">
                <a:solidFill>
                  <a:srgbClr val="526579"/>
                </a:solidFill>
                <a:latin typeface="Cambria Math"/>
                <a:ea typeface="Cambria Math"/>
                <a:cs typeface="Cambria Math"/>
              </a:defRPr>
            </a:pPr>
            <a:r>
              <a:rPr sz="1125" b="0">
                <a:solidFill>
                  <a:srgbClr val="526579"/>
                </a:solidFill>
                <a:latin typeface="Cambria Math"/>
                <a:ea typeface="Cambria Math"/>
                <a:cs typeface="Cambria Math"/>
              </a:rPr>
              <a:t>LaTeX：z_t=\mu_\theta(s_t)+\sigma_\theta(s_t)\odot\epsilon,\quad \epsilon\sim\mathcal N(0,I),\quad a_t=\tanh(z_t)</a:t>
            </a:r>
          </a:p>
        </p:txBody>
      </p:sp>
      <p:sp>
        <p:nvSpPr>
          <p:cNvPr id="9" name="">
            <a:extLst xmlns:a="http://schemas.openxmlformats.org/drawingml/2006/main">
              <a:ext uri="{FF2B5EF4-FFF2-40B4-BE49-F238E27FC236}">
                <a16:creationId xmlns:a16="http://schemas.microsoft.com/office/drawing/2014/main" id="{CBFA9BAE-A303-4AB9-88BF-3EEAFE10FA96}"/>
              </a:ext>
            </a:extLst>
          </p:cNvPr>
          <p:cNvSpPr>
            <a:spLocks xmlns:a="http://schemas.openxmlformats.org/drawingml/2006/main" noGrp="1"/>
          </p:cNvSpPr>
          <p:nvPr/>
        </p:nvSpPr>
        <p:spPr>
          <a:xfrm xmlns:a="http://schemas.openxmlformats.org/drawingml/2006/main">
            <a:off x="819150" y="328612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14300" tIns="57150" rIns="114300" bIns="57150" anchor="ctr">
            <a:normAutofit fontScale="91667"/>
          </a:bodyPr>
          <a:lstStyle xmlns:a="http://schemas.openxmlformats.org/drawingml/2006/main"/>
          <a:p xmlns:a="http://schemas.openxmlformats.org/drawingml/2006/main">
            <a:pPr algn="l">
              <a:defRPr sz="1500" b="1">
                <a:solidFill>
                  <a:srgbClr val="07867F"/>
                </a:solidFill>
                <a:latin typeface="Microsoft YaHei"/>
                <a:ea typeface="Microsoft YaHei"/>
                <a:cs typeface="Microsoft YaHei"/>
              </a:defRPr>
            </a:pPr>
            <a:r>
              <a:rPr sz="1500" b="1">
                <a:solidFill>
                  <a:srgbClr val="07867F"/>
                </a:solidFill>
                <a:latin typeface="Microsoft YaHei"/>
                <a:ea typeface="Microsoft YaHei"/>
                <a:cs typeface="Microsoft YaHei"/>
              </a:rPr>
              <a:t>双Q目标值</a:t>
            </a:r>
          </a:p>
        </p:txBody>
      </p:sp>
      <p:sp>
        <p:nvSpPr>
          <p:cNvPr id="10" name="">
            <a:extLst xmlns:a="http://schemas.openxmlformats.org/drawingml/2006/main">
              <a:ext uri="{FF2B5EF4-FFF2-40B4-BE49-F238E27FC236}">
                <a16:creationId xmlns:a16="http://schemas.microsoft.com/office/drawing/2014/main" id="{F16B9C5E-64FA-4B58-A36D-B2BE8A7BAE44}"/>
              </a:ext>
            </a:extLst>
          </p:cNvPr>
          <p:cNvSpPr>
            <a:spLocks xmlns:a="http://schemas.openxmlformats.org/drawingml/2006/main" noGrp="1"/>
          </p:cNvSpPr>
          <p:nvPr/>
        </p:nvSpPr>
        <p:spPr>
          <a:xfrm xmlns:a="http://schemas.openxmlformats.org/drawingml/2006/main">
            <a:off x="819150" y="3648075"/>
            <a:ext cx="10096500" cy="971550"/>
          </a:xfrm>
          <a:prstGeom xmlns:a="http://schemas.openxmlformats.org/drawingml/2006/main" prst="roundRect">
            <a:avLst>
              <a:gd name="adj" fmla="val 9804"/>
            </a:avLst>
          </a:prstGeom>
          <a:solidFill xmlns:a="http://schemas.openxmlformats.org/drawingml/2006/main">
            <a:srgbClr val="FFFFFF"/>
          </a:solidFill>
          <a:ln xmlns:a="http://schemas.openxmlformats.org/drawingml/2006/main" w="11430">
            <a:solidFill>
              <a:srgbClr val="C8D7E5"/>
            </a:solid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ctr">
              <a:defRPr sz="2250" b="0">
                <a:solidFill>
                  <a:srgbClr val="0B2A53"/>
                </a:solidFill>
                <a:latin typeface="Cambria Math"/>
                <a:ea typeface="Cambria Math"/>
                <a:cs typeface="Cambria Math"/>
              </a:defRPr>
            </a:pPr>
            <a:r>
              <a:rPr sz="2250" b="0">
                <a:solidFill>
                  <a:srgbClr val="0B2A53"/>
                </a:solidFill>
                <a:latin typeface="Cambria Math"/>
                <a:ea typeface="Cambria Math"/>
                <a:cs typeface="Cambria Math"/>
              </a:rPr>
              <a:t>yₜ = rₜ + γ(1−dₜ)[minᵢQφ̄ᵢ(sₜ₊₁,aₜ₊₁) − αlog πθ(aₜ₊₁|sₜ₊₁)]</a:t>
            </a:r>
          </a:p>
        </p:txBody>
      </p:sp>
      <p:sp>
        <p:nvSpPr>
          <p:cNvPr id="11" name="">
            <a:extLst xmlns:a="http://schemas.openxmlformats.org/drawingml/2006/main">
              <a:ext uri="{FF2B5EF4-FFF2-40B4-BE49-F238E27FC236}">
                <a16:creationId xmlns:a16="http://schemas.microsoft.com/office/drawing/2014/main" id="{7F17E357-F4DE-4DEE-8DE5-7C0501063C75}"/>
              </a:ext>
            </a:extLst>
          </p:cNvPr>
          <p:cNvSpPr>
            <a:spLocks xmlns:a="http://schemas.openxmlformats.org/drawingml/2006/main" noGrp="1"/>
          </p:cNvSpPr>
          <p:nvPr/>
        </p:nvSpPr>
        <p:spPr>
          <a:xfrm xmlns:a="http://schemas.openxmlformats.org/drawingml/2006/main">
            <a:off x="11163300" y="3648075"/>
            <a:ext cx="3257550" cy="971550"/>
          </a:xfrm>
          <a:prstGeom xmlns:a="http://schemas.openxmlformats.org/drawingml/2006/main" prst="roundRect">
            <a:avLst>
              <a:gd name="adj" fmla="val 9804"/>
            </a:avLst>
          </a:prstGeom>
          <a:solidFill xmlns:a="http://schemas.openxmlformats.org/drawingml/2006/main">
            <a:srgbClr val="E9F9F6"/>
          </a:solidFill>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1275" b="0">
                <a:solidFill>
                  <a:srgbClr val="526579"/>
                </a:solidFill>
                <a:latin typeface="Microsoft YaHei"/>
                <a:ea typeface="Microsoft YaHei"/>
                <a:cs typeface="Microsoft YaHei"/>
              </a:defRPr>
            </a:pPr>
            <a:r>
              <a:rPr sz="1275" b="0">
                <a:solidFill>
                  <a:srgbClr val="526579"/>
                </a:solidFill>
                <a:latin typeface="Microsoft YaHei"/>
                <a:ea typeface="Microsoft YaHei"/>
                <a:cs typeface="Microsoft YaHei"/>
              </a:rPr>
              <a:t>两个目标critic取较小值，降低Q值高估。</a:t>
            </a:r>
          </a:p>
        </p:txBody>
      </p:sp>
      <p:sp>
        <p:nvSpPr>
          <p:cNvPr id="12" name="">
            <a:extLst xmlns:a="http://schemas.openxmlformats.org/drawingml/2006/main">
              <a:ext uri="{FF2B5EF4-FFF2-40B4-BE49-F238E27FC236}">
                <a16:creationId xmlns:a16="http://schemas.microsoft.com/office/drawing/2014/main" id="{D0AE9619-5E0E-467C-BD6E-DD8354C9AC09}"/>
              </a:ext>
            </a:extLst>
          </p:cNvPr>
          <p:cNvSpPr>
            <a:spLocks xmlns:a="http://schemas.openxmlformats.org/drawingml/2006/main" noGrp="1"/>
          </p:cNvSpPr>
          <p:nvPr/>
        </p:nvSpPr>
        <p:spPr>
          <a:xfrm xmlns:a="http://schemas.openxmlformats.org/drawingml/2006/main">
            <a:off x="819150" y="4695825"/>
            <a:ext cx="13601700" cy="409575"/>
          </a:xfrm>
          <a:prstGeom xmlns:a="http://schemas.openxmlformats.org/drawingml/2006/main" prst="roundRect">
            <a:avLst>
              <a:gd name="adj" fmla="val 23256"/>
            </a:avLst>
          </a:prstGeom>
          <a:solidFill xmlns:a="http://schemas.openxmlformats.org/drawingml/2006/main">
            <a:srgbClr val="F4F7FA"/>
          </a:solidFill>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1125" b="0">
                <a:solidFill>
                  <a:srgbClr val="526579"/>
                </a:solidFill>
                <a:latin typeface="Cambria Math"/>
                <a:ea typeface="Cambria Math"/>
                <a:cs typeface="Cambria Math"/>
              </a:defRPr>
            </a:pPr>
            <a:r>
              <a:rPr sz="1125" b="0">
                <a:solidFill>
                  <a:srgbClr val="526579"/>
                </a:solidFill>
                <a:latin typeface="Cambria Math"/>
                <a:ea typeface="Cambria Math"/>
                <a:cs typeface="Cambria Math"/>
              </a:rPr>
              <a:t>LaTeX：y_t=r_t+\gamma(1-d_t)[\min_{i=1,2}Q_{\bar\phi_i}(s_{t+1},a_{t+1})-\alpha\log\pi_\theta(a_{t+1}|s_{t+1})]</a:t>
            </a:r>
          </a:p>
        </p:txBody>
      </p:sp>
      <p:sp>
        <p:nvSpPr>
          <p:cNvPr id="13" name="">
            <a:extLst xmlns:a="http://schemas.openxmlformats.org/drawingml/2006/main">
              <a:ext uri="{FF2B5EF4-FFF2-40B4-BE49-F238E27FC236}">
                <a16:creationId xmlns:a16="http://schemas.microsoft.com/office/drawing/2014/main" id="{59DC38D5-37A3-4E9B-8A1C-B6FBEC3FABDF}"/>
              </a:ext>
            </a:extLst>
          </p:cNvPr>
          <p:cNvSpPr>
            <a:spLocks xmlns:a="http://schemas.openxmlformats.org/drawingml/2006/main" noGrp="1"/>
          </p:cNvSpPr>
          <p:nvPr/>
        </p:nvSpPr>
        <p:spPr>
          <a:xfrm xmlns:a="http://schemas.openxmlformats.org/drawingml/2006/main">
            <a:off x="819150" y="5143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14300" tIns="57150" rIns="114300" bIns="57150" anchor="ctr">
            <a:normAutofit fontScale="91667"/>
          </a:bodyPr>
          <a:lstStyle xmlns:a="http://schemas.openxmlformats.org/drawingml/2006/main"/>
          <a:p xmlns:a="http://schemas.openxmlformats.org/drawingml/2006/main">
            <a:pPr algn="l">
              <a:defRPr sz="1500" b="1">
                <a:solidFill>
                  <a:srgbClr val="07867F"/>
                </a:solidFill>
                <a:latin typeface="Microsoft YaHei"/>
                <a:ea typeface="Microsoft YaHei"/>
                <a:cs typeface="Microsoft YaHei"/>
              </a:defRPr>
            </a:pPr>
            <a:r>
              <a:rPr sz="1500" b="1">
                <a:solidFill>
                  <a:srgbClr val="07867F"/>
                </a:solidFill>
                <a:latin typeface="Microsoft YaHei"/>
                <a:ea typeface="Microsoft YaHei"/>
                <a:cs typeface="Microsoft YaHei"/>
              </a:rPr>
              <a:t>critic与actor目标</a:t>
            </a:r>
          </a:p>
        </p:txBody>
      </p:sp>
      <p:sp>
        <p:nvSpPr>
          <p:cNvPr id="14" name="">
            <a:extLst xmlns:a="http://schemas.openxmlformats.org/drawingml/2006/main">
              <a:ext uri="{FF2B5EF4-FFF2-40B4-BE49-F238E27FC236}">
                <a16:creationId xmlns:a16="http://schemas.microsoft.com/office/drawing/2014/main" id="{C73C6BCC-5DED-4EEF-A34C-FE7CA3A23F98}"/>
              </a:ext>
            </a:extLst>
          </p:cNvPr>
          <p:cNvSpPr>
            <a:spLocks xmlns:a="http://schemas.openxmlformats.org/drawingml/2006/main" noGrp="1"/>
          </p:cNvSpPr>
          <p:nvPr/>
        </p:nvSpPr>
        <p:spPr>
          <a:xfrm xmlns:a="http://schemas.openxmlformats.org/drawingml/2006/main">
            <a:off x="819150" y="5505450"/>
            <a:ext cx="10096500" cy="1304925"/>
          </a:xfrm>
          <a:prstGeom xmlns:a="http://schemas.openxmlformats.org/drawingml/2006/main" prst="roundRect">
            <a:avLst>
              <a:gd name="adj" fmla="val 7299"/>
            </a:avLst>
          </a:prstGeom>
          <a:solidFill xmlns:a="http://schemas.openxmlformats.org/drawingml/2006/main">
            <a:srgbClr val="FFFFFF"/>
          </a:solidFill>
          <a:ln xmlns:a="http://schemas.openxmlformats.org/drawingml/2006/main" w="11430">
            <a:solidFill>
              <a:srgbClr val="C8D7E5"/>
            </a:solid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ctr">
              <a:defRPr sz="2250" b="0">
                <a:solidFill>
                  <a:srgbClr val="0B2A53"/>
                </a:solidFill>
                <a:latin typeface="Cambria Math"/>
                <a:ea typeface="Cambria Math"/>
                <a:cs typeface="Cambria Math"/>
              </a:defRPr>
            </a:pPr>
            <a:r>
              <a:rPr sz="2250" b="0">
                <a:solidFill>
                  <a:srgbClr val="0B2A53"/>
                </a:solidFill>
                <a:latin typeface="Cambria Math"/>
                <a:ea typeface="Cambria Math"/>
                <a:cs typeface="Cambria Math"/>
              </a:rPr>
              <a:t>JQ(φᵢ)=𝔼[(Qφᵢ(sₜ,aₜ)−yₜ)²]</a:t>
            </a:r>
          </a:p>
          <a:p xmlns:a="http://schemas.openxmlformats.org/drawingml/2006/main">
            <a:pPr algn="ctr">
              <a:defRPr sz="2250" b="0">
                <a:solidFill>
                  <a:srgbClr val="0B2A53"/>
                </a:solidFill>
                <a:latin typeface="Cambria Math"/>
                <a:ea typeface="Cambria Math"/>
                <a:cs typeface="Cambria Math"/>
              </a:defRPr>
            </a:pPr>
            <a:r>
              <a:rPr sz="2250" b="0">
                <a:solidFill>
                  <a:srgbClr val="0B2A53"/>
                </a:solidFill>
                <a:latin typeface="Cambria Math"/>
                <a:ea typeface="Cambria Math"/>
                <a:cs typeface="Cambria Math"/>
              </a:rPr>
              <a:t>Jπ(θ)=𝔼[αlogπθ(aₜ|sₜ)−minᵢQφᵢ(sₜ,aₜ)]</a:t>
            </a:r>
          </a:p>
        </p:txBody>
      </p:sp>
      <p:sp>
        <p:nvSpPr>
          <p:cNvPr id="15" name="">
            <a:extLst xmlns:a="http://schemas.openxmlformats.org/drawingml/2006/main">
              <a:ext uri="{FF2B5EF4-FFF2-40B4-BE49-F238E27FC236}">
                <a16:creationId xmlns:a16="http://schemas.microsoft.com/office/drawing/2014/main" id="{A2479B14-377F-4869-9616-EBE2553815E2}"/>
              </a:ext>
            </a:extLst>
          </p:cNvPr>
          <p:cNvSpPr>
            <a:spLocks xmlns:a="http://schemas.openxmlformats.org/drawingml/2006/main" noGrp="1"/>
          </p:cNvSpPr>
          <p:nvPr/>
        </p:nvSpPr>
        <p:spPr>
          <a:xfrm xmlns:a="http://schemas.openxmlformats.org/drawingml/2006/main">
            <a:off x="11163300" y="5505450"/>
            <a:ext cx="3257550" cy="1304925"/>
          </a:xfrm>
          <a:prstGeom xmlns:a="http://schemas.openxmlformats.org/drawingml/2006/main" prst="roundRect">
            <a:avLst>
              <a:gd name="adj" fmla="val 7299"/>
            </a:avLst>
          </a:prstGeom>
          <a:solidFill xmlns:a="http://schemas.openxmlformats.org/drawingml/2006/main">
            <a:srgbClr val="E9F9F6"/>
          </a:solidFill>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1275" b="0">
                <a:solidFill>
                  <a:srgbClr val="526579"/>
                </a:solidFill>
                <a:latin typeface="Microsoft YaHei"/>
                <a:ea typeface="Microsoft YaHei"/>
                <a:cs typeface="Microsoft YaHei"/>
              </a:defRPr>
            </a:pPr>
            <a:r>
              <a:rPr sz="1275" b="0">
                <a:solidFill>
                  <a:srgbClr val="526579"/>
                </a:solidFill>
                <a:latin typeface="Microsoft YaHei"/>
                <a:ea typeface="Microsoft YaHei"/>
                <a:cs typeface="Microsoft YaHei"/>
              </a:rPr>
              <a:t>经验池保存屏蔽前的原始提出动作，actor和critic使用同一动作语义。</a:t>
            </a:r>
          </a:p>
        </p:txBody>
      </p:sp>
      <p:sp>
        <p:nvSpPr>
          <p:cNvPr id="16" name="">
            <a:extLst xmlns:a="http://schemas.openxmlformats.org/drawingml/2006/main">
              <a:ext uri="{FF2B5EF4-FFF2-40B4-BE49-F238E27FC236}">
                <a16:creationId xmlns:a16="http://schemas.microsoft.com/office/drawing/2014/main" id="{DB5C2022-6AC7-46A1-855C-DA6DCF0ABF94}"/>
              </a:ext>
            </a:extLst>
          </p:cNvPr>
          <p:cNvSpPr>
            <a:spLocks xmlns:a="http://schemas.openxmlformats.org/drawingml/2006/main" noGrp="1"/>
          </p:cNvSpPr>
          <p:nvPr/>
        </p:nvSpPr>
        <p:spPr>
          <a:xfrm xmlns:a="http://schemas.openxmlformats.org/drawingml/2006/main">
            <a:off x="819150" y="6886575"/>
            <a:ext cx="13601700" cy="409575"/>
          </a:xfrm>
          <a:prstGeom xmlns:a="http://schemas.openxmlformats.org/drawingml/2006/main" prst="roundRect">
            <a:avLst>
              <a:gd name="adj" fmla="val 23256"/>
            </a:avLst>
          </a:prstGeom>
          <a:solidFill xmlns:a="http://schemas.openxmlformats.org/drawingml/2006/main">
            <a:srgbClr val="F4F7FA"/>
          </a:solidFill>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1125" b="0">
                <a:solidFill>
                  <a:srgbClr val="526579"/>
                </a:solidFill>
                <a:latin typeface="Cambria Math"/>
                <a:ea typeface="Cambria Math"/>
                <a:cs typeface="Cambria Math"/>
              </a:defRPr>
            </a:pPr>
            <a:r>
              <a:rPr sz="1125" b="0">
                <a:solidFill>
                  <a:srgbClr val="526579"/>
                </a:solidFill>
                <a:latin typeface="Cambria Math"/>
                <a:ea typeface="Cambria Math"/>
                <a:cs typeface="Cambria Math"/>
              </a:rPr>
              <a:t>LaTeX：J_Q(\phi_i)=\mathbb E[(Q_{\phi_i}(s_t,a_t)-y_t)^2],\quad J_\pi(\theta)=\mathbb E[\alpha\log\pi_\theta(a_t|s_t)-\min_iQ_{\phi_i}(s_t,a_t)]</a:t>
            </a:r>
          </a:p>
        </p:txBody>
      </p:sp>
    </p:spTree>
    <p:extLst>
      <p:ext uri="{BB962C8B-B14F-4D97-AF65-F5344CB8AC3E}">
        <p14:creationId xmlns:p14="http://schemas.microsoft.com/office/powerpoint/2010/main" val="369482927"/>
      </p:ext>
    </p:extLst>
  </p:cSld>
</p:sld>
</file>

<file path=ppt/slides/slide5.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30A6207-7311-4313-9A12-F58093B1BC01}"/>
              </a:ext>
            </a:extLst>
          </p:cNvPr>
          <p:cNvSpPr>
            <a:spLocks xmlns:a="http://schemas.openxmlformats.org/drawingml/2006/main" noGrp="1"/>
          </p:cNvSpPr>
          <p:nvPr/>
        </p:nvSpPr>
        <p:spPr>
          <a:xfrm xmlns:a="http://schemas.openxmlformats.org/drawingml/2006/main">
            <a:off x="685800" y="381000"/>
            <a:ext cx="13868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2850" b="1">
                <a:solidFill>
                  <a:srgbClr val="0B2A53"/>
                </a:solidFill>
                <a:latin typeface="Microsoft YaHei"/>
                <a:ea typeface="Microsoft YaHei"/>
                <a:cs typeface="Microsoft YaHei"/>
              </a:defRPr>
            </a:pPr>
            <a:r>
              <a:rPr sz="2850" b="1">
                <a:solidFill>
                  <a:srgbClr val="0B2A53"/>
                </a:solidFill>
                <a:latin typeface="Microsoft YaHei"/>
                <a:ea typeface="Microsoft YaHei"/>
                <a:cs typeface="Microsoft YaHei"/>
              </a:rPr>
              <a:t>MAPPO上层动作与时刻传播</a:t>
            </a:r>
          </a:p>
        </p:txBody>
      </p:sp>
      <p:sp>
        <p:nvSpPr>
          <p:cNvPr id="2" name="">
            <a:extLst xmlns:a="http://schemas.openxmlformats.org/drawingml/2006/main">
              <a:ext uri="{FF2B5EF4-FFF2-40B4-BE49-F238E27FC236}">
                <a16:creationId xmlns:a16="http://schemas.microsoft.com/office/drawing/2014/main" id="{B1353465-644D-499D-A26D-35BD43D51F57}"/>
              </a:ext>
            </a:extLst>
          </p:cNvPr>
          <p:cNvSpPr>
            <a:spLocks xmlns:a="http://schemas.openxmlformats.org/drawingml/2006/main" noGrp="1"/>
          </p:cNvSpPr>
          <p:nvPr/>
        </p:nvSpPr>
        <p:spPr>
          <a:xfrm xmlns:a="http://schemas.openxmlformats.org/drawingml/2006/main">
            <a:off x="685800" y="1000125"/>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1275" b="1">
                <a:solidFill>
                  <a:srgbClr val="E56B1F"/>
                </a:solidFill>
                <a:latin typeface="Microsoft YaHei"/>
                <a:ea typeface="Microsoft YaHei"/>
                <a:cs typeface="Microsoft YaHei"/>
              </a:defRPr>
            </a:pPr>
            <a:r>
              <a:rPr sz="1275" b="1">
                <a:solidFill>
                  <a:srgbClr val="E56B1F"/>
                </a:solidFill>
                <a:latin typeface="Microsoft YaHei"/>
                <a:ea typeface="Microsoft YaHei"/>
                <a:cs typeface="Microsoft YaHei"/>
              </a:rPr>
              <a:t>MAPPO上层规划</a:t>
            </a:r>
          </a:p>
        </p:txBody>
      </p:sp>
      <p:sp>
        <p:nvSpPr>
          <p:cNvPr id="3" name="">
            <a:extLst xmlns:a="http://schemas.openxmlformats.org/drawingml/2006/main">
              <a:ext uri="{FF2B5EF4-FFF2-40B4-BE49-F238E27FC236}">
                <a16:creationId xmlns:a16="http://schemas.microsoft.com/office/drawing/2014/main" id="{2171710A-BC1D-4338-B850-EA2029C0A33D}"/>
              </a:ext>
            </a:extLst>
          </p:cNvPr>
          <p:cNvSpPr>
            <a:spLocks xmlns:a="http://schemas.openxmlformats.org/drawingml/2006/main" noGrp="1"/>
          </p:cNvSpPr>
          <p:nvPr/>
        </p:nvSpPr>
        <p:spPr>
          <a:xfrm xmlns:a="http://schemas.openxmlformats.org/drawingml/2006/main">
            <a:off x="685800" y="1381125"/>
            <a:ext cx="13868400" cy="0"/>
          </a:xfrm>
          <a:prstGeom xmlns:a="http://schemas.openxmlformats.org/drawingml/2006/main" prst="line">
            <a:avLst/>
          </a:prstGeom>
          <a:noFill xmlns:a="http://schemas.openxmlformats.org/drawingml/2006/main"/>
          <a:ln xmlns:a="http://schemas.openxmlformats.org/drawingml/2006/main" w="28575">
            <a:solidFill>
              <a:srgbClr val="E56B1F"/>
            </a:solidFill>
            <a:prstDash val="solid"/>
          </a:ln>
        </p:spPr>
      </p:sp>
      <p:sp>
        <p:nvSpPr>
          <p:cNvPr id="4" name="">
            <a:extLst xmlns:a="http://schemas.openxmlformats.org/drawingml/2006/main">
              <a:ext uri="{FF2B5EF4-FFF2-40B4-BE49-F238E27FC236}">
                <a16:creationId xmlns:a16="http://schemas.microsoft.com/office/drawing/2014/main" id="{C3A011A0-EE9B-4577-8EEB-98C5FF71EF85}"/>
              </a:ext>
            </a:extLst>
          </p:cNvPr>
          <p:cNvSpPr>
            <a:spLocks xmlns:a="http://schemas.openxmlformats.org/drawingml/2006/main" noGrp="1"/>
          </p:cNvSpPr>
          <p:nvPr/>
        </p:nvSpPr>
        <p:spPr>
          <a:xfrm xmlns:a="http://schemas.openxmlformats.org/drawingml/2006/main">
            <a:off x="13811250" y="802005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14300" tIns="57150" rIns="114300" bIns="57150" anchor="ctr">
            <a:normAutofit fontScale="95238"/>
          </a:bodyPr>
          <a:lstStyle xmlns:a="http://schemas.openxmlformats.org/drawingml/2006/main"/>
          <a:p xmlns:a="http://schemas.openxmlformats.org/drawingml/2006/main">
            <a:pPr algn="r">
              <a:defRPr sz="1050" b="0">
                <a:solidFill>
                  <a:srgbClr val="526579"/>
                </a:solidFill>
                <a:latin typeface="Microsoft YaHei"/>
                <a:ea typeface="Microsoft YaHei"/>
                <a:cs typeface="Microsoft YaHei"/>
              </a:defRPr>
            </a:pPr>
            <a:r>
              <a:rPr sz="1050" b="0">
                <a:solidFill>
                  <a:srgbClr val="526579"/>
                </a:solidFill>
                <a:latin typeface="Microsoft YaHei"/>
                <a:ea typeface="Microsoft YaHei"/>
                <a:cs typeface="Microsoft YaHei"/>
              </a:rPr>
              <a:t>05</a:t>
            </a:r>
          </a:p>
        </p:txBody>
      </p:sp>
      <p:sp>
        <p:nvSpPr>
          <p:cNvPr id="5" name="">
            <a:extLst xmlns:a="http://schemas.openxmlformats.org/drawingml/2006/main">
              <a:ext uri="{FF2B5EF4-FFF2-40B4-BE49-F238E27FC236}">
                <a16:creationId xmlns:a16="http://schemas.microsoft.com/office/drawing/2014/main" id="{E66A79EA-4722-4EB7-8BBF-040622D17F5F}"/>
              </a:ext>
            </a:extLst>
          </p:cNvPr>
          <p:cNvSpPr>
            <a:spLocks xmlns:a="http://schemas.openxmlformats.org/drawingml/2006/main" noGrp="1"/>
          </p:cNvSpPr>
          <p:nvPr/>
        </p:nvSpPr>
        <p:spPr>
          <a:xfrm xmlns:a="http://schemas.openxmlformats.org/drawingml/2006/main">
            <a:off x="819150" y="16192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14300" tIns="57150" rIns="114300" bIns="57150" anchor="ctr">
            <a:normAutofit fontScale="91667"/>
          </a:bodyPr>
          <a:lstStyle xmlns:a="http://schemas.openxmlformats.org/drawingml/2006/main"/>
          <a:p xmlns:a="http://schemas.openxmlformats.org/drawingml/2006/main">
            <a:pPr algn="l">
              <a:defRPr sz="1500" b="1">
                <a:solidFill>
                  <a:srgbClr val="E56B1F"/>
                </a:solidFill>
                <a:latin typeface="Microsoft YaHei"/>
                <a:ea typeface="Microsoft YaHei"/>
                <a:cs typeface="Microsoft YaHei"/>
              </a:defRPr>
            </a:pPr>
            <a:r>
              <a:rPr sz="1500" b="1">
                <a:solidFill>
                  <a:srgbClr val="E56B1F"/>
                </a:solidFill>
                <a:latin typeface="Microsoft YaHei"/>
                <a:ea typeface="Microsoft YaHei"/>
                <a:cs typeface="Microsoft YaHei"/>
              </a:rPr>
              <a:t>上层动作映射</a:t>
            </a:r>
          </a:p>
        </p:txBody>
      </p:sp>
      <p:sp>
        <p:nvSpPr>
          <p:cNvPr id="6" name="">
            <a:extLst xmlns:a="http://schemas.openxmlformats.org/drawingml/2006/main">
              <a:ext uri="{FF2B5EF4-FFF2-40B4-BE49-F238E27FC236}">
                <a16:creationId xmlns:a16="http://schemas.microsoft.com/office/drawing/2014/main" id="{C9C13DB1-5FA4-4EFE-9006-C8F433761F20}"/>
              </a:ext>
            </a:extLst>
          </p:cNvPr>
          <p:cNvSpPr>
            <a:spLocks xmlns:a="http://schemas.openxmlformats.org/drawingml/2006/main" noGrp="1"/>
          </p:cNvSpPr>
          <p:nvPr/>
        </p:nvSpPr>
        <p:spPr>
          <a:xfrm xmlns:a="http://schemas.openxmlformats.org/drawingml/2006/main">
            <a:off x="819150" y="1981200"/>
            <a:ext cx="10096500" cy="1066800"/>
          </a:xfrm>
          <a:prstGeom xmlns:a="http://schemas.openxmlformats.org/drawingml/2006/main" prst="roundRect">
            <a:avLst>
              <a:gd name="adj" fmla="val 8929"/>
            </a:avLst>
          </a:prstGeom>
          <a:solidFill xmlns:a="http://schemas.openxmlformats.org/drawingml/2006/main">
            <a:srgbClr val="FFFFFF"/>
          </a:solidFill>
          <a:ln xmlns:a="http://schemas.openxmlformats.org/drawingml/2006/main" w="11430">
            <a:solidFill>
              <a:srgbClr val="C8D7E5"/>
            </a:solid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ctr">
              <a:defRPr sz="2250" b="0">
                <a:solidFill>
                  <a:srgbClr val="0B2A53"/>
                </a:solidFill>
                <a:latin typeface="Cambria Math"/>
                <a:ea typeface="Cambria Math"/>
                <a:cs typeface="Cambria Math"/>
              </a:defRPr>
            </a:pPr>
            <a:r>
              <a:rPr sz="2250" b="0">
                <a:solidFill>
                  <a:srgbClr val="0B2A53"/>
                </a:solidFill>
                <a:latin typeface="Cambria Math"/>
                <a:ea typeface="Cambria Math"/>
                <a:cs typeface="Cambria Math"/>
              </a:rPr>
              <a:t>ΔDᵢ,ₖ = Dₘₐₓ·tanh(uᵢ,ₖᵈʷᵉˡˡ)</a:t>
            </a:r>
          </a:p>
          <a:p xmlns:a="http://schemas.openxmlformats.org/drawingml/2006/main">
            <a:pPr algn="ctr">
              <a:defRPr sz="2250" b="0">
                <a:solidFill>
                  <a:srgbClr val="0B2A53"/>
                </a:solidFill>
                <a:latin typeface="Cambria Math"/>
                <a:ea typeface="Cambria Math"/>
                <a:cs typeface="Cambria Math"/>
              </a:defRPr>
            </a:pPr>
            <a:r>
              <a:rPr sz="2250" b="0">
                <a:solidFill>
                  <a:srgbClr val="0B2A53"/>
                </a:solidFill>
                <a:latin typeface="Cambria Math"/>
                <a:ea typeface="Cambria Math"/>
                <a:cs typeface="Cambria Math"/>
              </a:rPr>
              <a:t>ΔTᵢ,ₖ = Tₘₐₓ·tanh(uᵢ,ₖʳᵘⁿ)</a:t>
            </a:r>
          </a:p>
        </p:txBody>
      </p:sp>
      <p:sp>
        <p:nvSpPr>
          <p:cNvPr id="7" name="">
            <a:extLst xmlns:a="http://schemas.openxmlformats.org/drawingml/2006/main">
              <a:ext uri="{FF2B5EF4-FFF2-40B4-BE49-F238E27FC236}">
                <a16:creationId xmlns:a16="http://schemas.microsoft.com/office/drawing/2014/main" id="{6F5042A9-99A0-4F3D-9889-E451E9B77925}"/>
              </a:ext>
            </a:extLst>
          </p:cNvPr>
          <p:cNvSpPr>
            <a:spLocks xmlns:a="http://schemas.openxmlformats.org/drawingml/2006/main" noGrp="1"/>
          </p:cNvSpPr>
          <p:nvPr/>
        </p:nvSpPr>
        <p:spPr>
          <a:xfrm xmlns:a="http://schemas.openxmlformats.org/drawingml/2006/main">
            <a:off x="11163300" y="1981200"/>
            <a:ext cx="3257550" cy="1066800"/>
          </a:xfrm>
          <a:prstGeom xmlns:a="http://schemas.openxmlformats.org/drawingml/2006/main" prst="roundRect">
            <a:avLst>
              <a:gd name="adj" fmla="val 8929"/>
            </a:avLst>
          </a:prstGeom>
          <a:solidFill xmlns:a="http://schemas.openxmlformats.org/drawingml/2006/main">
            <a:srgbClr val="FFF2E8"/>
          </a:solidFill>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1275" b="0">
                <a:solidFill>
                  <a:srgbClr val="526579"/>
                </a:solidFill>
                <a:latin typeface="Microsoft YaHei"/>
                <a:ea typeface="Microsoft YaHei"/>
                <a:cs typeface="Microsoft YaHei"/>
              </a:defRPr>
            </a:pPr>
            <a:r>
              <a:rPr sz="1275" b="0">
                <a:solidFill>
                  <a:srgbClr val="526579"/>
                </a:solidFill>
                <a:latin typeface="Microsoft YaHei"/>
                <a:ea typeface="Microsoft YaHei"/>
                <a:cs typeface="Microsoft YaHei"/>
              </a:rPr>
              <a:t>当前课题设置Tₘₐₓ=0，上层主要优化停站时间。</a:t>
            </a:r>
          </a:p>
        </p:txBody>
      </p:sp>
      <p:sp>
        <p:nvSpPr>
          <p:cNvPr id="8" name="">
            <a:extLst xmlns:a="http://schemas.openxmlformats.org/drawingml/2006/main">
              <a:ext uri="{FF2B5EF4-FFF2-40B4-BE49-F238E27FC236}">
                <a16:creationId xmlns:a16="http://schemas.microsoft.com/office/drawing/2014/main" id="{EC08D866-33C3-498F-BBA0-C77075EF8A32}"/>
              </a:ext>
            </a:extLst>
          </p:cNvPr>
          <p:cNvSpPr>
            <a:spLocks xmlns:a="http://schemas.openxmlformats.org/drawingml/2006/main" noGrp="1"/>
          </p:cNvSpPr>
          <p:nvPr/>
        </p:nvSpPr>
        <p:spPr>
          <a:xfrm xmlns:a="http://schemas.openxmlformats.org/drawingml/2006/main">
            <a:off x="819150" y="3124200"/>
            <a:ext cx="13601700" cy="409575"/>
          </a:xfrm>
          <a:prstGeom xmlns:a="http://schemas.openxmlformats.org/drawingml/2006/main" prst="roundRect">
            <a:avLst>
              <a:gd name="adj" fmla="val 23256"/>
            </a:avLst>
          </a:prstGeom>
          <a:solidFill xmlns:a="http://schemas.openxmlformats.org/drawingml/2006/main">
            <a:srgbClr val="F4F7FA"/>
          </a:solidFill>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1125" b="0">
                <a:solidFill>
                  <a:srgbClr val="526579"/>
                </a:solidFill>
                <a:latin typeface="Cambria Math"/>
                <a:ea typeface="Cambria Math"/>
                <a:cs typeface="Cambria Math"/>
              </a:defRPr>
            </a:pPr>
            <a:r>
              <a:rPr sz="1125" b="0">
                <a:solidFill>
                  <a:srgbClr val="526579"/>
                </a:solidFill>
                <a:latin typeface="Cambria Math"/>
                <a:ea typeface="Cambria Math"/>
                <a:cs typeface="Cambria Math"/>
              </a:rPr>
              <a:t>LaTeX：\Delta D_{i,k}=D_{max}\tanh(u_{i,k}^{dwell}),\quad \Delta T_{i,k}=T_{max}\tanh(u_{i,k}^{run})</a:t>
            </a:r>
          </a:p>
        </p:txBody>
      </p:sp>
      <p:sp>
        <p:nvSpPr>
          <p:cNvPr id="9" name="">
            <a:extLst xmlns:a="http://schemas.openxmlformats.org/drawingml/2006/main">
              <a:ext uri="{FF2B5EF4-FFF2-40B4-BE49-F238E27FC236}">
                <a16:creationId xmlns:a16="http://schemas.microsoft.com/office/drawing/2014/main" id="{DD268994-B5DC-4ED3-941E-864615415CCD}"/>
              </a:ext>
            </a:extLst>
          </p:cNvPr>
          <p:cNvSpPr>
            <a:spLocks xmlns:a="http://schemas.openxmlformats.org/drawingml/2006/main" noGrp="1"/>
          </p:cNvSpPr>
          <p:nvPr/>
        </p:nvSpPr>
        <p:spPr>
          <a:xfrm xmlns:a="http://schemas.openxmlformats.org/drawingml/2006/main">
            <a:off x="819150" y="3619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14300" tIns="57150" rIns="114300" bIns="57150" anchor="ctr">
            <a:normAutofit fontScale="91667"/>
          </a:bodyPr>
          <a:lstStyle xmlns:a="http://schemas.openxmlformats.org/drawingml/2006/main"/>
          <a:p xmlns:a="http://schemas.openxmlformats.org/drawingml/2006/main">
            <a:pPr algn="l">
              <a:defRPr sz="1500" b="1">
                <a:solidFill>
                  <a:srgbClr val="E56B1F"/>
                </a:solidFill>
                <a:latin typeface="Microsoft YaHei"/>
                <a:ea typeface="Microsoft YaHei"/>
                <a:cs typeface="Microsoft YaHei"/>
              </a:defRPr>
            </a:pPr>
            <a:r>
              <a:rPr sz="1500" b="1">
                <a:solidFill>
                  <a:srgbClr val="E56B1F"/>
                </a:solidFill>
                <a:latin typeface="Microsoft YaHei"/>
                <a:ea typeface="Microsoft YaHei"/>
                <a:cs typeface="Microsoft YaHei"/>
              </a:rPr>
              <a:t>目标时刻与到达时刻</a:t>
            </a:r>
          </a:p>
        </p:txBody>
      </p:sp>
      <p:sp>
        <p:nvSpPr>
          <p:cNvPr id="10" name="">
            <a:extLst xmlns:a="http://schemas.openxmlformats.org/drawingml/2006/main">
              <a:ext uri="{FF2B5EF4-FFF2-40B4-BE49-F238E27FC236}">
                <a16:creationId xmlns:a16="http://schemas.microsoft.com/office/drawing/2014/main" id="{D6C64674-62BA-447C-8C3A-5B1063AB989F}"/>
              </a:ext>
            </a:extLst>
          </p:cNvPr>
          <p:cNvSpPr>
            <a:spLocks xmlns:a="http://schemas.openxmlformats.org/drawingml/2006/main" noGrp="1"/>
          </p:cNvSpPr>
          <p:nvPr/>
        </p:nvSpPr>
        <p:spPr>
          <a:xfrm xmlns:a="http://schemas.openxmlformats.org/drawingml/2006/main">
            <a:off x="819150" y="3981450"/>
            <a:ext cx="10096500" cy="1162050"/>
          </a:xfrm>
          <a:prstGeom xmlns:a="http://schemas.openxmlformats.org/drawingml/2006/main" prst="roundRect">
            <a:avLst>
              <a:gd name="adj" fmla="val 8197"/>
            </a:avLst>
          </a:prstGeom>
          <a:solidFill xmlns:a="http://schemas.openxmlformats.org/drawingml/2006/main">
            <a:srgbClr val="FFFFFF"/>
          </a:solidFill>
          <a:ln xmlns:a="http://schemas.openxmlformats.org/drawingml/2006/main" w="11430">
            <a:solidFill>
              <a:srgbClr val="C8D7E5"/>
            </a:solid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ctr">
              <a:defRPr sz="2250" b="0">
                <a:solidFill>
                  <a:srgbClr val="0B2A53"/>
                </a:solidFill>
                <a:latin typeface="Cambria Math"/>
                <a:ea typeface="Cambria Math"/>
                <a:cs typeface="Cambria Math"/>
              </a:defRPr>
            </a:pPr>
            <a:r>
              <a:rPr sz="2250" b="0">
                <a:solidFill>
                  <a:srgbClr val="0B2A53"/>
                </a:solidFill>
                <a:latin typeface="Cambria Math"/>
                <a:ea typeface="Cambria Math"/>
                <a:cs typeface="Cambria Math"/>
              </a:rPr>
              <a:t>Dᵢ,ₖ = Dᵢ,ₖ⁰ + ΔDᵢ,ₖ，    Tᵢ,ₖᵗᵃʳ = Tᵢ,ₖ⁰ + ΔTᵢ,ₖ</a:t>
            </a:r>
          </a:p>
          <a:p xmlns:a="http://schemas.openxmlformats.org/drawingml/2006/main">
            <a:pPr algn="ctr">
              <a:defRPr sz="2250" b="0">
                <a:solidFill>
                  <a:srgbClr val="0B2A53"/>
                </a:solidFill>
                <a:latin typeface="Cambria Math"/>
                <a:ea typeface="Cambria Math"/>
                <a:cs typeface="Cambria Math"/>
              </a:defRPr>
            </a:pPr>
            <a:r>
              <a:rPr sz="2250" b="0">
                <a:solidFill>
                  <a:srgbClr val="0B2A53"/>
                </a:solidFill>
                <a:latin typeface="Cambria Math"/>
                <a:ea typeface="Cambria Math"/>
                <a:cs typeface="Cambria Math"/>
              </a:rPr>
              <a:t>Aᵢ,ₖ₊₁ = Aᵢ,ₖ + Dᵢ,ₖ + Tᵢ,ₖᵃᶜᵗ</a:t>
            </a:r>
          </a:p>
        </p:txBody>
      </p:sp>
      <p:sp>
        <p:nvSpPr>
          <p:cNvPr id="11" name="">
            <a:extLst xmlns:a="http://schemas.openxmlformats.org/drawingml/2006/main">
              <a:ext uri="{FF2B5EF4-FFF2-40B4-BE49-F238E27FC236}">
                <a16:creationId xmlns:a16="http://schemas.microsoft.com/office/drawing/2014/main" id="{B3CB6EDA-1C89-4F31-ABC9-77792E6B943E}"/>
              </a:ext>
            </a:extLst>
          </p:cNvPr>
          <p:cNvSpPr>
            <a:spLocks xmlns:a="http://schemas.openxmlformats.org/drawingml/2006/main" noGrp="1"/>
          </p:cNvSpPr>
          <p:nvPr/>
        </p:nvSpPr>
        <p:spPr>
          <a:xfrm xmlns:a="http://schemas.openxmlformats.org/drawingml/2006/main">
            <a:off x="11163300" y="3981450"/>
            <a:ext cx="3257550" cy="1162050"/>
          </a:xfrm>
          <a:prstGeom xmlns:a="http://schemas.openxmlformats.org/drawingml/2006/main" prst="roundRect">
            <a:avLst>
              <a:gd name="adj" fmla="val 8197"/>
            </a:avLst>
          </a:prstGeom>
          <a:solidFill xmlns:a="http://schemas.openxmlformats.org/drawingml/2006/main">
            <a:srgbClr val="FFF2E8"/>
          </a:solidFill>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1275" b="0">
                <a:solidFill>
                  <a:srgbClr val="526579"/>
                </a:solidFill>
                <a:latin typeface="Microsoft YaHei"/>
                <a:ea typeface="Microsoft YaHei"/>
                <a:cs typeface="Microsoft YaHei"/>
              </a:defRPr>
            </a:pPr>
            <a:r>
              <a:rPr sz="1275" b="0">
                <a:solidFill>
                  <a:srgbClr val="526579"/>
                </a:solidFill>
                <a:latin typeface="Microsoft YaHei"/>
                <a:ea typeface="Microsoft YaHei"/>
                <a:cs typeface="Microsoft YaHei"/>
              </a:rPr>
              <a:t>实际运行时间由下层策略仿真返回，不直接用目标时间替代。</a:t>
            </a:r>
          </a:p>
        </p:txBody>
      </p:sp>
      <p:sp>
        <p:nvSpPr>
          <p:cNvPr id="12" name="">
            <a:extLst xmlns:a="http://schemas.openxmlformats.org/drawingml/2006/main">
              <a:ext uri="{FF2B5EF4-FFF2-40B4-BE49-F238E27FC236}">
                <a16:creationId xmlns:a16="http://schemas.microsoft.com/office/drawing/2014/main" id="{C0DC5929-E611-42D0-8FC5-0F783825BD15}"/>
              </a:ext>
            </a:extLst>
          </p:cNvPr>
          <p:cNvSpPr>
            <a:spLocks xmlns:a="http://schemas.openxmlformats.org/drawingml/2006/main" noGrp="1"/>
          </p:cNvSpPr>
          <p:nvPr/>
        </p:nvSpPr>
        <p:spPr>
          <a:xfrm xmlns:a="http://schemas.openxmlformats.org/drawingml/2006/main">
            <a:off x="819150" y="5219700"/>
            <a:ext cx="13601700" cy="409575"/>
          </a:xfrm>
          <a:prstGeom xmlns:a="http://schemas.openxmlformats.org/drawingml/2006/main" prst="roundRect">
            <a:avLst>
              <a:gd name="adj" fmla="val 23256"/>
            </a:avLst>
          </a:prstGeom>
          <a:solidFill xmlns:a="http://schemas.openxmlformats.org/drawingml/2006/main">
            <a:srgbClr val="F4F7FA"/>
          </a:solidFill>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1125" b="0">
                <a:solidFill>
                  <a:srgbClr val="526579"/>
                </a:solidFill>
                <a:latin typeface="Cambria Math"/>
                <a:ea typeface="Cambria Math"/>
                <a:cs typeface="Cambria Math"/>
              </a:defRPr>
            </a:pPr>
            <a:r>
              <a:rPr sz="1125" b="0">
                <a:solidFill>
                  <a:srgbClr val="526579"/>
                </a:solidFill>
                <a:latin typeface="Cambria Math"/>
                <a:ea typeface="Cambria Math"/>
                <a:cs typeface="Cambria Math"/>
              </a:rPr>
              <a:t>LaTeX：D_{i,k}=D_{i,k}^0+\Delta D_{i,k},\quad T_{i,k}^{tar}=T_{i,k}^0+\Delta T_{i,k},\quad A_{i,k+1}=A_{i,k}+D_{i,k}+T_{i,k}^{act}</a:t>
            </a:r>
          </a:p>
        </p:txBody>
      </p:sp>
      <p:sp>
        <p:nvSpPr>
          <p:cNvPr id="13" name="">
            <a:extLst xmlns:a="http://schemas.openxmlformats.org/drawingml/2006/main">
              <a:ext uri="{FF2B5EF4-FFF2-40B4-BE49-F238E27FC236}">
                <a16:creationId xmlns:a16="http://schemas.microsoft.com/office/drawing/2014/main" id="{07100168-3587-4584-A056-719400D53DB8}"/>
              </a:ext>
            </a:extLst>
          </p:cNvPr>
          <p:cNvSpPr>
            <a:spLocks xmlns:a="http://schemas.openxmlformats.org/drawingml/2006/main" noGrp="1"/>
          </p:cNvSpPr>
          <p:nvPr/>
        </p:nvSpPr>
        <p:spPr>
          <a:xfrm xmlns:a="http://schemas.openxmlformats.org/drawingml/2006/main">
            <a:off x="819150" y="57150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14300" tIns="57150" rIns="114300" bIns="57150" anchor="ctr">
            <a:normAutofit fontScale="91667"/>
          </a:bodyPr>
          <a:lstStyle xmlns:a="http://schemas.openxmlformats.org/drawingml/2006/main"/>
          <a:p xmlns:a="http://schemas.openxmlformats.org/drawingml/2006/main">
            <a:pPr algn="l">
              <a:defRPr sz="1500" b="1">
                <a:solidFill>
                  <a:srgbClr val="E56B1F"/>
                </a:solidFill>
                <a:latin typeface="Microsoft YaHei"/>
                <a:ea typeface="Microsoft YaHei"/>
                <a:cs typeface="Microsoft YaHei"/>
              </a:defRPr>
            </a:pPr>
            <a:r>
              <a:rPr sz="1500" b="1">
                <a:solidFill>
                  <a:srgbClr val="E56B1F"/>
                </a:solidFill>
                <a:latin typeface="Microsoft YaHei"/>
                <a:ea typeface="Microsoft YaHei"/>
                <a:cs typeface="Microsoft YaHei"/>
              </a:rPr>
              <a:t>上下层调用关系</a:t>
            </a:r>
          </a:p>
        </p:txBody>
      </p:sp>
      <p:sp>
        <p:nvSpPr>
          <p:cNvPr id="14" name="">
            <a:extLst xmlns:a="http://schemas.openxmlformats.org/drawingml/2006/main">
              <a:ext uri="{FF2B5EF4-FFF2-40B4-BE49-F238E27FC236}">
                <a16:creationId xmlns:a16="http://schemas.microsoft.com/office/drawing/2014/main" id="{02EA0785-F5CF-4691-A462-02989BA1F13C}"/>
              </a:ext>
            </a:extLst>
          </p:cNvPr>
          <p:cNvSpPr>
            <a:spLocks xmlns:a="http://schemas.openxmlformats.org/drawingml/2006/main" noGrp="1"/>
          </p:cNvSpPr>
          <p:nvPr/>
        </p:nvSpPr>
        <p:spPr>
          <a:xfrm xmlns:a="http://schemas.openxmlformats.org/drawingml/2006/main">
            <a:off x="819150" y="6076950"/>
            <a:ext cx="10096500" cy="876300"/>
          </a:xfrm>
          <a:prstGeom xmlns:a="http://schemas.openxmlformats.org/drawingml/2006/main" prst="roundRect">
            <a:avLst>
              <a:gd name="adj" fmla="val 10870"/>
            </a:avLst>
          </a:prstGeom>
          <a:solidFill xmlns:a="http://schemas.openxmlformats.org/drawingml/2006/main">
            <a:srgbClr val="FFFFFF"/>
          </a:solidFill>
          <a:ln xmlns:a="http://schemas.openxmlformats.org/drawingml/2006/main" w="11430">
            <a:solidFill>
              <a:srgbClr val="C8D7E5"/>
            </a:solid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ctr">
              <a:defRPr sz="2250" b="0">
                <a:solidFill>
                  <a:srgbClr val="0B2A53"/>
                </a:solidFill>
                <a:latin typeface="Cambria Math"/>
                <a:ea typeface="Cambria Math"/>
                <a:cs typeface="Cambria Math"/>
              </a:defRPr>
            </a:pPr>
            <a:r>
              <a:rPr sz="2250" b="0">
                <a:solidFill>
                  <a:srgbClr val="0B2A53"/>
                </a:solidFill>
                <a:latin typeface="Cambria Math"/>
                <a:ea typeface="Cambria Math"/>
                <a:cs typeface="Cambria Math"/>
              </a:rPr>
              <a:t>(Tᵃᶜᵗ,Eᵗʳ,Eʳᵉᵍ,χ,𝒳) = fθˢᴬᶜ(Tᵗᵃʳ,m,ℓ,d)</a:t>
            </a:r>
          </a:p>
        </p:txBody>
      </p:sp>
      <p:sp>
        <p:nvSpPr>
          <p:cNvPr id="15" name="">
            <a:extLst xmlns:a="http://schemas.openxmlformats.org/drawingml/2006/main">
              <a:ext uri="{FF2B5EF4-FFF2-40B4-BE49-F238E27FC236}">
                <a16:creationId xmlns:a16="http://schemas.microsoft.com/office/drawing/2014/main" id="{0BB65842-F095-4BEF-99B4-18AA7E2FC648}"/>
              </a:ext>
            </a:extLst>
          </p:cNvPr>
          <p:cNvSpPr>
            <a:spLocks xmlns:a="http://schemas.openxmlformats.org/drawingml/2006/main" noGrp="1"/>
          </p:cNvSpPr>
          <p:nvPr/>
        </p:nvSpPr>
        <p:spPr>
          <a:xfrm xmlns:a="http://schemas.openxmlformats.org/drawingml/2006/main">
            <a:off x="11163300" y="6076950"/>
            <a:ext cx="3257550" cy="876300"/>
          </a:xfrm>
          <a:prstGeom xmlns:a="http://schemas.openxmlformats.org/drawingml/2006/main" prst="roundRect">
            <a:avLst>
              <a:gd name="adj" fmla="val 10870"/>
            </a:avLst>
          </a:prstGeom>
          <a:solidFill xmlns:a="http://schemas.openxmlformats.org/drawingml/2006/main">
            <a:srgbClr val="FFF2E8"/>
          </a:solidFill>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1275" b="0">
                <a:solidFill>
                  <a:srgbClr val="526579"/>
                </a:solidFill>
                <a:latin typeface="Microsoft YaHei"/>
                <a:ea typeface="Microsoft YaHei"/>
                <a:cs typeface="Microsoft YaHei"/>
              </a:defRPr>
            </a:pPr>
            <a:r>
              <a:rPr sz="1275" b="0">
                <a:solidFill>
                  <a:srgbClr val="526579"/>
                </a:solidFill>
                <a:latin typeface="Microsoft YaHei"/>
                <a:ea typeface="Microsoft YaHei"/>
                <a:cs typeface="Microsoft YaHei"/>
              </a:rPr>
              <a:t>下层向上层返回实际时间、牵引能耗、再生能、可行性和运行轨迹。</a:t>
            </a:r>
          </a:p>
        </p:txBody>
      </p:sp>
      <p:sp>
        <p:nvSpPr>
          <p:cNvPr id="16" name="">
            <a:extLst xmlns:a="http://schemas.openxmlformats.org/drawingml/2006/main">
              <a:ext uri="{FF2B5EF4-FFF2-40B4-BE49-F238E27FC236}">
                <a16:creationId xmlns:a16="http://schemas.microsoft.com/office/drawing/2014/main" id="{AB27CCA5-36BC-44D3-A50F-6D776985672C}"/>
              </a:ext>
            </a:extLst>
          </p:cNvPr>
          <p:cNvSpPr>
            <a:spLocks xmlns:a="http://schemas.openxmlformats.org/drawingml/2006/main" noGrp="1"/>
          </p:cNvSpPr>
          <p:nvPr/>
        </p:nvSpPr>
        <p:spPr>
          <a:xfrm xmlns:a="http://schemas.openxmlformats.org/drawingml/2006/main">
            <a:off x="819150" y="7029450"/>
            <a:ext cx="13601700" cy="409575"/>
          </a:xfrm>
          <a:prstGeom xmlns:a="http://schemas.openxmlformats.org/drawingml/2006/main" prst="roundRect">
            <a:avLst>
              <a:gd name="adj" fmla="val 23256"/>
            </a:avLst>
          </a:prstGeom>
          <a:solidFill xmlns:a="http://schemas.openxmlformats.org/drawingml/2006/main">
            <a:srgbClr val="F4F7FA"/>
          </a:solidFill>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1125" b="0">
                <a:solidFill>
                  <a:srgbClr val="526579"/>
                </a:solidFill>
                <a:latin typeface="Cambria Math"/>
                <a:ea typeface="Cambria Math"/>
                <a:cs typeface="Cambria Math"/>
              </a:defRPr>
            </a:pPr>
            <a:r>
              <a:rPr sz="1125" b="0">
                <a:solidFill>
                  <a:srgbClr val="526579"/>
                </a:solidFill>
                <a:latin typeface="Cambria Math"/>
                <a:ea typeface="Cambria Math"/>
                <a:cs typeface="Cambria Math"/>
              </a:rPr>
              <a:t>LaTeX：(T^{act},E^{tr},E^{reg},\chi,\mathcal X)=f_\theta^{SAC}(T^{tar},m,\ell,d)</a:t>
            </a:r>
          </a:p>
        </p:txBody>
      </p:sp>
    </p:spTree>
    <p:extLst>
      <p:ext uri="{BB962C8B-B14F-4D97-AF65-F5344CB8AC3E}">
        <p14:creationId xmlns:p14="http://schemas.microsoft.com/office/powerpoint/2010/main" val="880262733"/>
      </p:ext>
    </p:extLst>
  </p:cSld>
</p:sld>
</file>

<file path=ppt/slides/slide6.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A1DDFB4-BC7E-44B2-B155-DAE00DAF6AFF}"/>
              </a:ext>
            </a:extLst>
          </p:cNvPr>
          <p:cNvSpPr>
            <a:spLocks xmlns:a="http://schemas.openxmlformats.org/drawingml/2006/main" noGrp="1"/>
          </p:cNvSpPr>
          <p:nvPr/>
        </p:nvSpPr>
        <p:spPr>
          <a:xfrm xmlns:a="http://schemas.openxmlformats.org/drawingml/2006/main">
            <a:off x="685800" y="381000"/>
            <a:ext cx="13868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2850" b="1">
                <a:solidFill>
                  <a:srgbClr val="0B2A53"/>
                </a:solidFill>
                <a:latin typeface="Microsoft YaHei"/>
                <a:ea typeface="Microsoft YaHei"/>
                <a:cs typeface="Microsoft YaHei"/>
              </a:defRPr>
            </a:pPr>
            <a:r>
              <a:rPr sz="2850" b="1">
                <a:solidFill>
                  <a:srgbClr val="0B2A53"/>
                </a:solidFill>
                <a:latin typeface="Microsoft YaHei"/>
                <a:ea typeface="Microsoft YaHei"/>
                <a:cs typeface="Microsoft YaHei"/>
              </a:rPr>
              <a:t>多列车节能与安全目标</a:t>
            </a:r>
          </a:p>
        </p:txBody>
      </p:sp>
      <p:sp>
        <p:nvSpPr>
          <p:cNvPr id="2" name="">
            <a:extLst xmlns:a="http://schemas.openxmlformats.org/drawingml/2006/main">
              <a:ext uri="{FF2B5EF4-FFF2-40B4-BE49-F238E27FC236}">
                <a16:creationId xmlns:a16="http://schemas.microsoft.com/office/drawing/2014/main" id="{D9553C12-E1E4-4FFD-B04C-037EBB816F30}"/>
              </a:ext>
            </a:extLst>
          </p:cNvPr>
          <p:cNvSpPr>
            <a:spLocks xmlns:a="http://schemas.openxmlformats.org/drawingml/2006/main" noGrp="1"/>
          </p:cNvSpPr>
          <p:nvPr/>
        </p:nvSpPr>
        <p:spPr>
          <a:xfrm xmlns:a="http://schemas.openxmlformats.org/drawingml/2006/main">
            <a:off x="685800" y="1000125"/>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1275" b="1">
                <a:solidFill>
                  <a:srgbClr val="E56B1F"/>
                </a:solidFill>
                <a:latin typeface="Microsoft YaHei"/>
                <a:ea typeface="Microsoft YaHei"/>
                <a:cs typeface="Microsoft YaHei"/>
              </a:defRPr>
            </a:pPr>
            <a:r>
              <a:rPr sz="1275" b="1">
                <a:solidFill>
                  <a:srgbClr val="E56B1F"/>
                </a:solidFill>
                <a:latin typeface="Microsoft YaHei"/>
                <a:ea typeface="Microsoft YaHei"/>
                <a:cs typeface="Microsoft YaHei"/>
              </a:rPr>
              <a:t>MAPPO上层规划</a:t>
            </a:r>
          </a:p>
        </p:txBody>
      </p:sp>
      <p:sp>
        <p:nvSpPr>
          <p:cNvPr id="3" name="">
            <a:extLst xmlns:a="http://schemas.openxmlformats.org/drawingml/2006/main">
              <a:ext uri="{FF2B5EF4-FFF2-40B4-BE49-F238E27FC236}">
                <a16:creationId xmlns:a16="http://schemas.microsoft.com/office/drawing/2014/main" id="{09C4316E-2F72-4B9B-A928-4EA65CB44A3C}"/>
              </a:ext>
            </a:extLst>
          </p:cNvPr>
          <p:cNvSpPr>
            <a:spLocks xmlns:a="http://schemas.openxmlformats.org/drawingml/2006/main" noGrp="1"/>
          </p:cNvSpPr>
          <p:nvPr/>
        </p:nvSpPr>
        <p:spPr>
          <a:xfrm xmlns:a="http://schemas.openxmlformats.org/drawingml/2006/main">
            <a:off x="685800" y="1381125"/>
            <a:ext cx="13868400" cy="0"/>
          </a:xfrm>
          <a:prstGeom xmlns:a="http://schemas.openxmlformats.org/drawingml/2006/main" prst="line">
            <a:avLst/>
          </a:prstGeom>
          <a:noFill xmlns:a="http://schemas.openxmlformats.org/drawingml/2006/main"/>
          <a:ln xmlns:a="http://schemas.openxmlformats.org/drawingml/2006/main" w="28575">
            <a:solidFill>
              <a:srgbClr val="E56B1F"/>
            </a:solidFill>
            <a:prstDash val="solid"/>
          </a:ln>
        </p:spPr>
      </p:sp>
      <p:sp>
        <p:nvSpPr>
          <p:cNvPr id="4" name="">
            <a:extLst xmlns:a="http://schemas.openxmlformats.org/drawingml/2006/main">
              <a:ext uri="{FF2B5EF4-FFF2-40B4-BE49-F238E27FC236}">
                <a16:creationId xmlns:a16="http://schemas.microsoft.com/office/drawing/2014/main" id="{DF501A1B-454A-4C78-A529-4027B31BA9E9}"/>
              </a:ext>
            </a:extLst>
          </p:cNvPr>
          <p:cNvSpPr>
            <a:spLocks xmlns:a="http://schemas.openxmlformats.org/drawingml/2006/main" noGrp="1"/>
          </p:cNvSpPr>
          <p:nvPr/>
        </p:nvSpPr>
        <p:spPr>
          <a:xfrm xmlns:a="http://schemas.openxmlformats.org/drawingml/2006/main">
            <a:off x="13811250" y="802005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14300" tIns="57150" rIns="114300" bIns="57150" anchor="ctr">
            <a:normAutofit fontScale="95238"/>
          </a:bodyPr>
          <a:lstStyle xmlns:a="http://schemas.openxmlformats.org/drawingml/2006/main"/>
          <a:p xmlns:a="http://schemas.openxmlformats.org/drawingml/2006/main">
            <a:pPr algn="r">
              <a:defRPr sz="1050" b="0">
                <a:solidFill>
                  <a:srgbClr val="526579"/>
                </a:solidFill>
                <a:latin typeface="Microsoft YaHei"/>
                <a:ea typeface="Microsoft YaHei"/>
                <a:cs typeface="Microsoft YaHei"/>
              </a:defRPr>
            </a:pPr>
            <a:r>
              <a:rPr sz="1050" b="0">
                <a:solidFill>
                  <a:srgbClr val="526579"/>
                </a:solidFill>
                <a:latin typeface="Microsoft YaHei"/>
                <a:ea typeface="Microsoft YaHei"/>
                <a:cs typeface="Microsoft YaHei"/>
              </a:rPr>
              <a:t>06</a:t>
            </a:r>
          </a:p>
        </p:txBody>
      </p:sp>
      <p:sp>
        <p:nvSpPr>
          <p:cNvPr id="5" name="">
            <a:extLst xmlns:a="http://schemas.openxmlformats.org/drawingml/2006/main">
              <a:ext uri="{FF2B5EF4-FFF2-40B4-BE49-F238E27FC236}">
                <a16:creationId xmlns:a16="http://schemas.microsoft.com/office/drawing/2014/main" id="{8BE865D0-37C5-4550-8C99-661962DE43D9}"/>
              </a:ext>
            </a:extLst>
          </p:cNvPr>
          <p:cNvSpPr>
            <a:spLocks xmlns:a="http://schemas.openxmlformats.org/drawingml/2006/main" noGrp="1"/>
          </p:cNvSpPr>
          <p:nvPr/>
        </p:nvSpPr>
        <p:spPr>
          <a:xfrm xmlns:a="http://schemas.openxmlformats.org/drawingml/2006/main">
            <a:off x="819150" y="16192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14300" tIns="57150" rIns="114300" bIns="57150" anchor="ctr">
            <a:normAutofit fontScale="91667"/>
          </a:bodyPr>
          <a:lstStyle xmlns:a="http://schemas.openxmlformats.org/drawingml/2006/main"/>
          <a:p xmlns:a="http://schemas.openxmlformats.org/drawingml/2006/main">
            <a:pPr algn="l">
              <a:defRPr sz="1500" b="1">
                <a:solidFill>
                  <a:srgbClr val="E56B1F"/>
                </a:solidFill>
                <a:latin typeface="Microsoft YaHei"/>
                <a:ea typeface="Microsoft YaHei"/>
                <a:cs typeface="Microsoft YaHei"/>
              </a:defRPr>
            </a:pPr>
            <a:r>
              <a:rPr sz="1500" b="1">
                <a:solidFill>
                  <a:srgbClr val="E56B1F"/>
                </a:solidFill>
                <a:latin typeface="Microsoft YaHei"/>
                <a:ea typeface="Microsoft YaHei"/>
                <a:cs typeface="Microsoft YaHei"/>
              </a:rPr>
              <a:t>再生能匹配</a:t>
            </a:r>
          </a:p>
        </p:txBody>
      </p:sp>
      <p:sp>
        <p:nvSpPr>
          <p:cNvPr id="6" name="">
            <a:extLst xmlns:a="http://schemas.openxmlformats.org/drawingml/2006/main">
              <a:ext uri="{FF2B5EF4-FFF2-40B4-BE49-F238E27FC236}">
                <a16:creationId xmlns:a16="http://schemas.microsoft.com/office/drawing/2014/main" id="{440DB61A-184F-479C-9859-E6A5225D88B9}"/>
              </a:ext>
            </a:extLst>
          </p:cNvPr>
          <p:cNvSpPr>
            <a:spLocks xmlns:a="http://schemas.openxmlformats.org/drawingml/2006/main" noGrp="1"/>
          </p:cNvSpPr>
          <p:nvPr/>
        </p:nvSpPr>
        <p:spPr>
          <a:xfrm xmlns:a="http://schemas.openxmlformats.org/drawingml/2006/main">
            <a:off x="819150" y="1981200"/>
            <a:ext cx="10096500" cy="971550"/>
          </a:xfrm>
          <a:prstGeom xmlns:a="http://schemas.openxmlformats.org/drawingml/2006/main" prst="roundRect">
            <a:avLst>
              <a:gd name="adj" fmla="val 9804"/>
            </a:avLst>
          </a:prstGeom>
          <a:solidFill xmlns:a="http://schemas.openxmlformats.org/drawingml/2006/main">
            <a:srgbClr val="FFFFFF"/>
          </a:solidFill>
          <a:ln xmlns:a="http://schemas.openxmlformats.org/drawingml/2006/main" w="11430">
            <a:solidFill>
              <a:srgbClr val="C8D7E5"/>
            </a:solid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ctr">
              <a:defRPr sz="2250" b="0">
                <a:solidFill>
                  <a:srgbClr val="0B2A53"/>
                </a:solidFill>
                <a:latin typeface="Cambria Math"/>
                <a:ea typeface="Cambria Math"/>
                <a:cs typeface="Cambria Math"/>
              </a:defRPr>
            </a:pPr>
            <a:r>
              <a:rPr sz="2250" b="0">
                <a:solidFill>
                  <a:srgbClr val="0B2A53"/>
                </a:solidFill>
                <a:latin typeface="Cambria Math"/>
                <a:ea typeface="Cambria Math"/>
                <a:cs typeface="Cambria Math"/>
              </a:rPr>
              <a:t>Eₘₐₜcₕ = Σz,b min(Ez,bᵗʳ, Ez,bʳᵉᵍ)，    ρʳᵉᵍ = Eₘₐₜcₕ/(Eʳᵉᵍ+ε)</a:t>
            </a:r>
          </a:p>
        </p:txBody>
      </p:sp>
      <p:sp>
        <p:nvSpPr>
          <p:cNvPr id="7" name="">
            <a:extLst xmlns:a="http://schemas.openxmlformats.org/drawingml/2006/main">
              <a:ext uri="{FF2B5EF4-FFF2-40B4-BE49-F238E27FC236}">
                <a16:creationId xmlns:a16="http://schemas.microsoft.com/office/drawing/2014/main" id="{3A307572-19B1-48FA-9300-36870F60ECC9}"/>
              </a:ext>
            </a:extLst>
          </p:cNvPr>
          <p:cNvSpPr>
            <a:spLocks xmlns:a="http://schemas.openxmlformats.org/drawingml/2006/main" noGrp="1"/>
          </p:cNvSpPr>
          <p:nvPr/>
        </p:nvSpPr>
        <p:spPr>
          <a:xfrm xmlns:a="http://schemas.openxmlformats.org/drawingml/2006/main">
            <a:off x="11163300" y="1981200"/>
            <a:ext cx="3257550" cy="971550"/>
          </a:xfrm>
          <a:prstGeom xmlns:a="http://schemas.openxmlformats.org/drawingml/2006/main" prst="roundRect">
            <a:avLst>
              <a:gd name="adj" fmla="val 9804"/>
            </a:avLst>
          </a:prstGeom>
          <a:solidFill xmlns:a="http://schemas.openxmlformats.org/drawingml/2006/main">
            <a:srgbClr val="FFF2E8"/>
          </a:solidFill>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1275" b="0">
                <a:solidFill>
                  <a:srgbClr val="526579"/>
                </a:solidFill>
                <a:latin typeface="Microsoft YaHei"/>
                <a:ea typeface="Microsoft YaHei"/>
                <a:cs typeface="Microsoft YaHei"/>
              </a:defRPr>
            </a:pPr>
            <a:r>
              <a:rPr sz="1275" b="0">
                <a:solidFill>
                  <a:srgbClr val="526579"/>
                </a:solidFill>
                <a:latin typeface="Microsoft YaHei"/>
                <a:ea typeface="Microsoft YaHei"/>
                <a:cs typeface="Microsoft YaHei"/>
              </a:rPr>
              <a:t>按供电分区和时间窗统计牵引需求与再生制动能量的重叠。</a:t>
            </a:r>
          </a:p>
        </p:txBody>
      </p:sp>
      <p:sp>
        <p:nvSpPr>
          <p:cNvPr id="8" name="">
            <a:extLst xmlns:a="http://schemas.openxmlformats.org/drawingml/2006/main">
              <a:ext uri="{FF2B5EF4-FFF2-40B4-BE49-F238E27FC236}">
                <a16:creationId xmlns:a16="http://schemas.microsoft.com/office/drawing/2014/main" id="{0BE72F15-1CFA-466B-A075-5AC588ECD3CF}"/>
              </a:ext>
            </a:extLst>
          </p:cNvPr>
          <p:cNvSpPr>
            <a:spLocks xmlns:a="http://schemas.openxmlformats.org/drawingml/2006/main" noGrp="1"/>
          </p:cNvSpPr>
          <p:nvPr/>
        </p:nvSpPr>
        <p:spPr>
          <a:xfrm xmlns:a="http://schemas.openxmlformats.org/drawingml/2006/main">
            <a:off x="819150" y="3028950"/>
            <a:ext cx="13601700" cy="409575"/>
          </a:xfrm>
          <a:prstGeom xmlns:a="http://schemas.openxmlformats.org/drawingml/2006/main" prst="roundRect">
            <a:avLst>
              <a:gd name="adj" fmla="val 23256"/>
            </a:avLst>
          </a:prstGeom>
          <a:solidFill xmlns:a="http://schemas.openxmlformats.org/drawingml/2006/main">
            <a:srgbClr val="F4F7FA"/>
          </a:solidFill>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1125" b="0">
                <a:solidFill>
                  <a:srgbClr val="526579"/>
                </a:solidFill>
                <a:latin typeface="Cambria Math"/>
                <a:ea typeface="Cambria Math"/>
                <a:cs typeface="Cambria Math"/>
              </a:defRPr>
            </a:pPr>
            <a:r>
              <a:rPr sz="1125" b="0">
                <a:solidFill>
                  <a:srgbClr val="526579"/>
                </a:solidFill>
                <a:latin typeface="Cambria Math"/>
                <a:ea typeface="Cambria Math"/>
                <a:cs typeface="Cambria Math"/>
              </a:rPr>
              <a:t>LaTeX：E_{match}=\sum_{z,b}\min(E_{z,b}^{tr},E_{z,b}^{reg}),\quad \rho_{reg}=\frac{E_{match}}{E_{reg}+\varepsilon}</a:t>
            </a:r>
          </a:p>
        </p:txBody>
      </p:sp>
      <p:sp>
        <p:nvSpPr>
          <p:cNvPr id="9" name="">
            <a:extLst xmlns:a="http://schemas.openxmlformats.org/drawingml/2006/main">
              <a:ext uri="{FF2B5EF4-FFF2-40B4-BE49-F238E27FC236}">
                <a16:creationId xmlns:a16="http://schemas.microsoft.com/office/drawing/2014/main" id="{FD044B2A-AD18-43AE-B8CC-589606D18514}"/>
              </a:ext>
            </a:extLst>
          </p:cNvPr>
          <p:cNvSpPr>
            <a:spLocks xmlns:a="http://schemas.openxmlformats.org/drawingml/2006/main" noGrp="1"/>
          </p:cNvSpPr>
          <p:nvPr/>
        </p:nvSpPr>
        <p:spPr>
          <a:xfrm xmlns:a="http://schemas.openxmlformats.org/drawingml/2006/main">
            <a:off x="819150" y="35242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14300" tIns="57150" rIns="114300" bIns="57150" anchor="ctr">
            <a:normAutofit fontScale="91667"/>
          </a:bodyPr>
          <a:lstStyle xmlns:a="http://schemas.openxmlformats.org/drawingml/2006/main"/>
          <a:p xmlns:a="http://schemas.openxmlformats.org/drawingml/2006/main">
            <a:pPr algn="l">
              <a:defRPr sz="1500" b="1">
                <a:solidFill>
                  <a:srgbClr val="E56B1F"/>
                </a:solidFill>
                <a:latin typeface="Microsoft YaHei"/>
                <a:ea typeface="Microsoft YaHei"/>
                <a:cs typeface="Microsoft YaHei"/>
              </a:defRPr>
            </a:pPr>
            <a:r>
              <a:rPr sz="1500" b="1">
                <a:solidFill>
                  <a:srgbClr val="E56B1F"/>
                </a:solidFill>
                <a:latin typeface="Microsoft YaHei"/>
                <a:ea typeface="Microsoft YaHei"/>
                <a:cs typeface="Microsoft YaHei"/>
              </a:rPr>
              <a:t>追踪间隔违反量</a:t>
            </a:r>
          </a:p>
        </p:txBody>
      </p:sp>
      <p:sp>
        <p:nvSpPr>
          <p:cNvPr id="10" name="">
            <a:extLst xmlns:a="http://schemas.openxmlformats.org/drawingml/2006/main">
              <a:ext uri="{FF2B5EF4-FFF2-40B4-BE49-F238E27FC236}">
                <a16:creationId xmlns:a16="http://schemas.microsoft.com/office/drawing/2014/main" id="{31F40DD2-8488-481D-9C18-F8F79AB53EF4}"/>
              </a:ext>
            </a:extLst>
          </p:cNvPr>
          <p:cNvSpPr>
            <a:spLocks xmlns:a="http://schemas.openxmlformats.org/drawingml/2006/main" noGrp="1"/>
          </p:cNvSpPr>
          <p:nvPr/>
        </p:nvSpPr>
        <p:spPr>
          <a:xfrm xmlns:a="http://schemas.openxmlformats.org/drawingml/2006/main">
            <a:off x="819150" y="3886200"/>
            <a:ext cx="10096500" cy="876300"/>
          </a:xfrm>
          <a:prstGeom xmlns:a="http://schemas.openxmlformats.org/drawingml/2006/main" prst="roundRect">
            <a:avLst>
              <a:gd name="adj" fmla="val 10870"/>
            </a:avLst>
          </a:prstGeom>
          <a:solidFill xmlns:a="http://schemas.openxmlformats.org/drawingml/2006/main">
            <a:srgbClr val="FFFFFF"/>
          </a:solidFill>
          <a:ln xmlns:a="http://schemas.openxmlformats.org/drawingml/2006/main" w="11430">
            <a:solidFill>
              <a:srgbClr val="C8D7E5"/>
            </a:solid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ctr">
              <a:defRPr sz="2250" b="0">
                <a:solidFill>
                  <a:srgbClr val="0B2A53"/>
                </a:solidFill>
                <a:latin typeface="Cambria Math"/>
                <a:ea typeface="Cambria Math"/>
                <a:cs typeface="Cambria Math"/>
              </a:defRPr>
            </a:pPr>
            <a:r>
              <a:rPr sz="2250" b="0">
                <a:solidFill>
                  <a:srgbClr val="0B2A53"/>
                </a:solidFill>
                <a:latin typeface="Cambria Math"/>
                <a:ea typeface="Cambria Math"/>
                <a:cs typeface="Cambria Math"/>
              </a:rPr>
              <a:t>H = Σi,k max[0, hₘᵢₙ − (Aᵢ₊₁,ₖ − Aᵢ,ₖ)]</a:t>
            </a:r>
          </a:p>
        </p:txBody>
      </p:sp>
      <p:sp>
        <p:nvSpPr>
          <p:cNvPr id="11" name="">
            <a:extLst xmlns:a="http://schemas.openxmlformats.org/drawingml/2006/main">
              <a:ext uri="{FF2B5EF4-FFF2-40B4-BE49-F238E27FC236}">
                <a16:creationId xmlns:a16="http://schemas.microsoft.com/office/drawing/2014/main" id="{EB320305-1439-4194-B0F0-A04331E338F5}"/>
              </a:ext>
            </a:extLst>
          </p:cNvPr>
          <p:cNvSpPr>
            <a:spLocks xmlns:a="http://schemas.openxmlformats.org/drawingml/2006/main" noGrp="1"/>
          </p:cNvSpPr>
          <p:nvPr/>
        </p:nvSpPr>
        <p:spPr>
          <a:xfrm xmlns:a="http://schemas.openxmlformats.org/drawingml/2006/main">
            <a:off x="11163300" y="3886200"/>
            <a:ext cx="3257550" cy="876300"/>
          </a:xfrm>
          <a:prstGeom xmlns:a="http://schemas.openxmlformats.org/drawingml/2006/main" prst="roundRect">
            <a:avLst>
              <a:gd name="adj" fmla="val 10870"/>
            </a:avLst>
          </a:prstGeom>
          <a:solidFill xmlns:a="http://schemas.openxmlformats.org/drawingml/2006/main">
            <a:srgbClr val="FFF2E8"/>
          </a:solidFill>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1275" b="0">
                <a:solidFill>
                  <a:srgbClr val="526579"/>
                </a:solidFill>
                <a:latin typeface="Microsoft YaHei"/>
                <a:ea typeface="Microsoft YaHei"/>
                <a:cs typeface="Microsoft YaHei"/>
              </a:defRPr>
            </a:pPr>
            <a:r>
              <a:rPr sz="1275" b="0">
                <a:solidFill>
                  <a:srgbClr val="526579"/>
                </a:solidFill>
                <a:latin typeface="Microsoft YaHei"/>
                <a:ea typeface="Microsoft YaHei"/>
                <a:cs typeface="Microsoft YaHei"/>
              </a:rPr>
              <a:t>当相邻列车间隔低于最小追踪间隔时产生惩罚。</a:t>
            </a:r>
          </a:p>
        </p:txBody>
      </p:sp>
      <p:sp>
        <p:nvSpPr>
          <p:cNvPr id="12" name="">
            <a:extLst xmlns:a="http://schemas.openxmlformats.org/drawingml/2006/main">
              <a:ext uri="{FF2B5EF4-FFF2-40B4-BE49-F238E27FC236}">
                <a16:creationId xmlns:a16="http://schemas.microsoft.com/office/drawing/2014/main" id="{2FFAB0A0-E21A-4102-96E1-AC644C146575}"/>
              </a:ext>
            </a:extLst>
          </p:cNvPr>
          <p:cNvSpPr>
            <a:spLocks xmlns:a="http://schemas.openxmlformats.org/drawingml/2006/main" noGrp="1"/>
          </p:cNvSpPr>
          <p:nvPr/>
        </p:nvSpPr>
        <p:spPr>
          <a:xfrm xmlns:a="http://schemas.openxmlformats.org/drawingml/2006/main">
            <a:off x="819150" y="4838700"/>
            <a:ext cx="13601700" cy="409575"/>
          </a:xfrm>
          <a:prstGeom xmlns:a="http://schemas.openxmlformats.org/drawingml/2006/main" prst="roundRect">
            <a:avLst>
              <a:gd name="adj" fmla="val 23256"/>
            </a:avLst>
          </a:prstGeom>
          <a:solidFill xmlns:a="http://schemas.openxmlformats.org/drawingml/2006/main">
            <a:srgbClr val="F4F7FA"/>
          </a:solidFill>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1125" b="0">
                <a:solidFill>
                  <a:srgbClr val="526579"/>
                </a:solidFill>
                <a:latin typeface="Cambria Math"/>
                <a:ea typeface="Cambria Math"/>
                <a:cs typeface="Cambria Math"/>
              </a:defRPr>
            </a:pPr>
            <a:r>
              <a:rPr sz="1125" b="0">
                <a:solidFill>
                  <a:srgbClr val="526579"/>
                </a:solidFill>
                <a:latin typeface="Cambria Math"/>
                <a:ea typeface="Cambria Math"/>
                <a:cs typeface="Cambria Math"/>
              </a:rPr>
              <a:t>LaTeX：H=\sum_{i,k}\max\{0,h_{min}-(A_{i+1,k}-A_{i,k})\}</a:t>
            </a:r>
          </a:p>
        </p:txBody>
      </p:sp>
      <p:sp>
        <p:nvSpPr>
          <p:cNvPr id="13" name="">
            <a:extLst xmlns:a="http://schemas.openxmlformats.org/drawingml/2006/main">
              <a:ext uri="{FF2B5EF4-FFF2-40B4-BE49-F238E27FC236}">
                <a16:creationId xmlns:a16="http://schemas.microsoft.com/office/drawing/2014/main" id="{8E1ACE7D-6AF0-4783-AB18-2F76FAFCA2DD}"/>
              </a:ext>
            </a:extLst>
          </p:cNvPr>
          <p:cNvSpPr>
            <a:spLocks xmlns:a="http://schemas.openxmlformats.org/drawingml/2006/main" noGrp="1"/>
          </p:cNvSpPr>
          <p:nvPr/>
        </p:nvSpPr>
        <p:spPr>
          <a:xfrm xmlns:a="http://schemas.openxmlformats.org/drawingml/2006/main">
            <a:off x="819150" y="53340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14300" tIns="57150" rIns="114300" bIns="57150" anchor="ctr">
            <a:normAutofit fontScale="91667"/>
          </a:bodyPr>
          <a:lstStyle xmlns:a="http://schemas.openxmlformats.org/drawingml/2006/main"/>
          <a:p xmlns:a="http://schemas.openxmlformats.org/drawingml/2006/main">
            <a:pPr algn="l">
              <a:defRPr sz="1500" b="1">
                <a:solidFill>
                  <a:srgbClr val="E56B1F"/>
                </a:solidFill>
                <a:latin typeface="Microsoft YaHei"/>
                <a:ea typeface="Microsoft YaHei"/>
                <a:cs typeface="Microsoft YaHei"/>
              </a:defRPr>
            </a:pPr>
            <a:r>
              <a:rPr sz="1500" b="1">
                <a:solidFill>
                  <a:srgbClr val="E56B1F"/>
                </a:solidFill>
                <a:latin typeface="Microsoft YaHei"/>
                <a:ea typeface="Microsoft YaHei"/>
                <a:cs typeface="Microsoft YaHei"/>
              </a:rPr>
              <a:t>上层总体目标</a:t>
            </a:r>
          </a:p>
        </p:txBody>
      </p:sp>
      <p:sp>
        <p:nvSpPr>
          <p:cNvPr id="14" name="">
            <a:extLst xmlns:a="http://schemas.openxmlformats.org/drawingml/2006/main">
              <a:ext uri="{FF2B5EF4-FFF2-40B4-BE49-F238E27FC236}">
                <a16:creationId xmlns:a16="http://schemas.microsoft.com/office/drawing/2014/main" id="{236AC1D4-17B9-4178-9815-EED29929172A}"/>
              </a:ext>
            </a:extLst>
          </p:cNvPr>
          <p:cNvSpPr>
            <a:spLocks xmlns:a="http://schemas.openxmlformats.org/drawingml/2006/main" noGrp="1"/>
          </p:cNvSpPr>
          <p:nvPr/>
        </p:nvSpPr>
        <p:spPr>
          <a:xfrm xmlns:a="http://schemas.openxmlformats.org/drawingml/2006/main">
            <a:off x="819150" y="5695950"/>
            <a:ext cx="10096500" cy="1066800"/>
          </a:xfrm>
          <a:prstGeom xmlns:a="http://schemas.openxmlformats.org/drawingml/2006/main" prst="roundRect">
            <a:avLst>
              <a:gd name="adj" fmla="val 8929"/>
            </a:avLst>
          </a:prstGeom>
          <a:solidFill xmlns:a="http://schemas.openxmlformats.org/drawingml/2006/main">
            <a:srgbClr val="FFFFFF"/>
          </a:solidFill>
          <a:ln xmlns:a="http://schemas.openxmlformats.org/drawingml/2006/main" w="11430">
            <a:solidFill>
              <a:srgbClr val="C8D7E5"/>
            </a:solid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ctr">
              <a:defRPr sz="2250" b="0">
                <a:solidFill>
                  <a:srgbClr val="0B2A53"/>
                </a:solidFill>
                <a:latin typeface="Cambria Math"/>
                <a:ea typeface="Cambria Math"/>
                <a:cs typeface="Cambria Math"/>
              </a:defRPr>
            </a:pPr>
            <a:r>
              <a:rPr sz="2250" b="0">
                <a:solidFill>
                  <a:srgbClr val="0B2A53"/>
                </a:solidFill>
                <a:latin typeface="Cambria Math"/>
                <a:ea typeface="Cambria Math"/>
                <a:cs typeface="Cambria Math"/>
              </a:rPr>
              <a:t>min Jᵁ = wᴱ(Eᵗʳ/Eʳᵉᶠ) − wᴿρʳᵉᵍ + wᴴH + wᶠNⁱⁿᶠᵉᵃˢⁱᵇˡᵉ</a:t>
            </a:r>
          </a:p>
        </p:txBody>
      </p:sp>
      <p:sp>
        <p:nvSpPr>
          <p:cNvPr id="15" name="">
            <a:extLst xmlns:a="http://schemas.openxmlformats.org/drawingml/2006/main">
              <a:ext uri="{FF2B5EF4-FFF2-40B4-BE49-F238E27FC236}">
                <a16:creationId xmlns:a16="http://schemas.microsoft.com/office/drawing/2014/main" id="{295A9DC5-C136-4159-943D-A40B6DABFFFB}"/>
              </a:ext>
            </a:extLst>
          </p:cNvPr>
          <p:cNvSpPr>
            <a:spLocks xmlns:a="http://schemas.openxmlformats.org/drawingml/2006/main" noGrp="1"/>
          </p:cNvSpPr>
          <p:nvPr/>
        </p:nvSpPr>
        <p:spPr>
          <a:xfrm xmlns:a="http://schemas.openxmlformats.org/drawingml/2006/main">
            <a:off x="11163300" y="5695950"/>
            <a:ext cx="3257550" cy="1066800"/>
          </a:xfrm>
          <a:prstGeom xmlns:a="http://schemas.openxmlformats.org/drawingml/2006/main" prst="roundRect">
            <a:avLst>
              <a:gd name="adj" fmla="val 8929"/>
            </a:avLst>
          </a:prstGeom>
          <a:solidFill xmlns:a="http://schemas.openxmlformats.org/drawingml/2006/main">
            <a:srgbClr val="FFF2E8"/>
          </a:solidFill>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1275" b="0">
                <a:solidFill>
                  <a:srgbClr val="526579"/>
                </a:solidFill>
                <a:latin typeface="Microsoft YaHei"/>
                <a:ea typeface="Microsoft YaHei"/>
                <a:cs typeface="Microsoft YaHei"/>
              </a:defRPr>
            </a:pPr>
            <a:r>
              <a:rPr sz="1275" b="0">
                <a:solidFill>
                  <a:srgbClr val="526579"/>
                </a:solidFill>
                <a:latin typeface="Microsoft YaHei"/>
                <a:ea typeface="Microsoft YaHei"/>
                <a:cs typeface="Microsoft YaHei"/>
              </a:rPr>
              <a:t>上层在满足可行性和追踪间隔的前提下减少牵引能耗并提高再生能利用率。</a:t>
            </a:r>
          </a:p>
        </p:txBody>
      </p:sp>
      <p:sp>
        <p:nvSpPr>
          <p:cNvPr id="16" name="">
            <a:extLst xmlns:a="http://schemas.openxmlformats.org/drawingml/2006/main">
              <a:ext uri="{FF2B5EF4-FFF2-40B4-BE49-F238E27FC236}">
                <a16:creationId xmlns:a16="http://schemas.microsoft.com/office/drawing/2014/main" id="{7D821ABF-6AB3-4DDA-8EA2-8BD86113122C}"/>
              </a:ext>
            </a:extLst>
          </p:cNvPr>
          <p:cNvSpPr>
            <a:spLocks xmlns:a="http://schemas.openxmlformats.org/drawingml/2006/main" noGrp="1"/>
          </p:cNvSpPr>
          <p:nvPr/>
        </p:nvSpPr>
        <p:spPr>
          <a:xfrm xmlns:a="http://schemas.openxmlformats.org/drawingml/2006/main">
            <a:off x="819150" y="6838950"/>
            <a:ext cx="13601700" cy="409575"/>
          </a:xfrm>
          <a:prstGeom xmlns:a="http://schemas.openxmlformats.org/drawingml/2006/main" prst="roundRect">
            <a:avLst>
              <a:gd name="adj" fmla="val 23256"/>
            </a:avLst>
          </a:prstGeom>
          <a:solidFill xmlns:a="http://schemas.openxmlformats.org/drawingml/2006/main">
            <a:srgbClr val="F4F7FA"/>
          </a:solidFill>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1125" b="0">
                <a:solidFill>
                  <a:srgbClr val="526579"/>
                </a:solidFill>
                <a:latin typeface="Cambria Math"/>
                <a:ea typeface="Cambria Math"/>
                <a:cs typeface="Cambria Math"/>
              </a:defRPr>
            </a:pPr>
            <a:r>
              <a:rPr sz="1125" b="0">
                <a:solidFill>
                  <a:srgbClr val="526579"/>
                </a:solidFill>
                <a:latin typeface="Cambria Math"/>
                <a:ea typeface="Cambria Math"/>
                <a:cs typeface="Cambria Math"/>
              </a:rPr>
              <a:t>LaTeX：\min J^U=w_E\frac{E^{tr}}{E^{ref}}-w_R\rho_{reg}+w_HH+w_FN_{infeasible}</a:t>
            </a:r>
          </a:p>
        </p:txBody>
      </p:sp>
    </p:spTree>
    <p:extLst>
      <p:ext uri="{BB962C8B-B14F-4D97-AF65-F5344CB8AC3E}">
        <p14:creationId xmlns:p14="http://schemas.microsoft.com/office/powerpoint/2010/main" val="1147934667"/>
      </p:ext>
    </p:extLst>
  </p:cSld>
</p:sld>
</file>

<file path=ppt/slides/slide7.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D0A66E7-F9FB-461B-A51B-5BE103E1789C}"/>
              </a:ext>
            </a:extLst>
          </p:cNvPr>
          <p:cNvSpPr>
            <a:spLocks xmlns:a="http://schemas.openxmlformats.org/drawingml/2006/main" noGrp="1"/>
          </p:cNvSpPr>
          <p:nvPr/>
        </p:nvSpPr>
        <p:spPr>
          <a:xfrm xmlns:a="http://schemas.openxmlformats.org/drawingml/2006/main">
            <a:off x="685800" y="381000"/>
            <a:ext cx="13868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2850" b="1">
                <a:solidFill>
                  <a:srgbClr val="0B2A53"/>
                </a:solidFill>
                <a:latin typeface="Microsoft YaHei"/>
                <a:ea typeface="Microsoft YaHei"/>
                <a:cs typeface="Microsoft YaHei"/>
              </a:defRPr>
            </a:pPr>
            <a:r>
              <a:rPr sz="2850" b="1">
                <a:solidFill>
                  <a:srgbClr val="0B2A53"/>
                </a:solidFill>
                <a:latin typeface="Microsoft YaHei"/>
                <a:ea typeface="Microsoft YaHei"/>
                <a:cs typeface="Microsoft YaHei"/>
              </a:rPr>
              <a:t>MAPPO集中训练与分散执行</a:t>
            </a:r>
          </a:p>
        </p:txBody>
      </p:sp>
      <p:sp>
        <p:nvSpPr>
          <p:cNvPr id="2" name="">
            <a:extLst xmlns:a="http://schemas.openxmlformats.org/drawingml/2006/main">
              <a:ext uri="{FF2B5EF4-FFF2-40B4-BE49-F238E27FC236}">
                <a16:creationId xmlns:a16="http://schemas.microsoft.com/office/drawing/2014/main" id="{E3A01C07-85FB-430A-8FA6-178435455819}"/>
              </a:ext>
            </a:extLst>
          </p:cNvPr>
          <p:cNvSpPr>
            <a:spLocks xmlns:a="http://schemas.openxmlformats.org/drawingml/2006/main" noGrp="1"/>
          </p:cNvSpPr>
          <p:nvPr/>
        </p:nvSpPr>
        <p:spPr>
          <a:xfrm xmlns:a="http://schemas.openxmlformats.org/drawingml/2006/main">
            <a:off x="685800" y="1000125"/>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1275" b="1">
                <a:solidFill>
                  <a:srgbClr val="E56B1F"/>
                </a:solidFill>
                <a:latin typeface="Microsoft YaHei"/>
                <a:ea typeface="Microsoft YaHei"/>
                <a:cs typeface="Microsoft YaHei"/>
              </a:defRPr>
            </a:pPr>
            <a:r>
              <a:rPr sz="1275" b="1">
                <a:solidFill>
                  <a:srgbClr val="E56B1F"/>
                </a:solidFill>
                <a:latin typeface="Microsoft YaHei"/>
                <a:ea typeface="Microsoft YaHei"/>
                <a:cs typeface="Microsoft YaHei"/>
              </a:rPr>
              <a:t>MAPPO上层规划</a:t>
            </a:r>
          </a:p>
        </p:txBody>
      </p:sp>
      <p:sp>
        <p:nvSpPr>
          <p:cNvPr id="3" name="">
            <a:extLst xmlns:a="http://schemas.openxmlformats.org/drawingml/2006/main">
              <a:ext uri="{FF2B5EF4-FFF2-40B4-BE49-F238E27FC236}">
                <a16:creationId xmlns:a16="http://schemas.microsoft.com/office/drawing/2014/main" id="{482C0DFC-5FF6-4551-AAF3-A1EEB1938DCC}"/>
              </a:ext>
            </a:extLst>
          </p:cNvPr>
          <p:cNvSpPr>
            <a:spLocks xmlns:a="http://schemas.openxmlformats.org/drawingml/2006/main" noGrp="1"/>
          </p:cNvSpPr>
          <p:nvPr/>
        </p:nvSpPr>
        <p:spPr>
          <a:xfrm xmlns:a="http://schemas.openxmlformats.org/drawingml/2006/main">
            <a:off x="685800" y="1381125"/>
            <a:ext cx="13868400" cy="0"/>
          </a:xfrm>
          <a:prstGeom xmlns:a="http://schemas.openxmlformats.org/drawingml/2006/main" prst="line">
            <a:avLst/>
          </a:prstGeom>
          <a:noFill xmlns:a="http://schemas.openxmlformats.org/drawingml/2006/main"/>
          <a:ln xmlns:a="http://schemas.openxmlformats.org/drawingml/2006/main" w="28575">
            <a:solidFill>
              <a:srgbClr val="E56B1F"/>
            </a:solidFill>
            <a:prstDash val="solid"/>
          </a:ln>
        </p:spPr>
      </p:sp>
      <p:sp>
        <p:nvSpPr>
          <p:cNvPr id="4" name="">
            <a:extLst xmlns:a="http://schemas.openxmlformats.org/drawingml/2006/main">
              <a:ext uri="{FF2B5EF4-FFF2-40B4-BE49-F238E27FC236}">
                <a16:creationId xmlns:a16="http://schemas.microsoft.com/office/drawing/2014/main" id="{82A91337-3FC7-4353-AABA-8C0750AB36F3}"/>
              </a:ext>
            </a:extLst>
          </p:cNvPr>
          <p:cNvSpPr>
            <a:spLocks xmlns:a="http://schemas.openxmlformats.org/drawingml/2006/main" noGrp="1"/>
          </p:cNvSpPr>
          <p:nvPr/>
        </p:nvSpPr>
        <p:spPr>
          <a:xfrm xmlns:a="http://schemas.openxmlformats.org/drawingml/2006/main">
            <a:off x="13811250" y="802005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14300" tIns="57150" rIns="114300" bIns="57150" anchor="ctr">
            <a:normAutofit fontScale="95238"/>
          </a:bodyPr>
          <a:lstStyle xmlns:a="http://schemas.openxmlformats.org/drawingml/2006/main"/>
          <a:p xmlns:a="http://schemas.openxmlformats.org/drawingml/2006/main">
            <a:pPr algn="r">
              <a:defRPr sz="1050" b="0">
                <a:solidFill>
                  <a:srgbClr val="526579"/>
                </a:solidFill>
                <a:latin typeface="Microsoft YaHei"/>
                <a:ea typeface="Microsoft YaHei"/>
                <a:cs typeface="Microsoft YaHei"/>
              </a:defRPr>
            </a:pPr>
            <a:r>
              <a:rPr sz="1050" b="0">
                <a:solidFill>
                  <a:srgbClr val="526579"/>
                </a:solidFill>
                <a:latin typeface="Microsoft YaHei"/>
                <a:ea typeface="Microsoft YaHei"/>
                <a:cs typeface="Microsoft YaHei"/>
              </a:rPr>
              <a:t>07</a:t>
            </a:r>
          </a:p>
        </p:txBody>
      </p:sp>
      <p:sp>
        <p:nvSpPr>
          <p:cNvPr id="5" name="">
            <a:extLst xmlns:a="http://schemas.openxmlformats.org/drawingml/2006/main">
              <a:ext uri="{FF2B5EF4-FFF2-40B4-BE49-F238E27FC236}">
                <a16:creationId xmlns:a16="http://schemas.microsoft.com/office/drawing/2014/main" id="{4789D9AE-0AB6-4115-9BE4-9A6593F900B6}"/>
              </a:ext>
            </a:extLst>
          </p:cNvPr>
          <p:cNvSpPr>
            <a:spLocks xmlns:a="http://schemas.openxmlformats.org/drawingml/2006/main" noGrp="1"/>
          </p:cNvSpPr>
          <p:nvPr/>
        </p:nvSpPr>
        <p:spPr>
          <a:xfrm xmlns:a="http://schemas.openxmlformats.org/drawingml/2006/main">
            <a:off x="819150" y="157162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14300" tIns="57150" rIns="114300" bIns="57150" anchor="ctr">
            <a:normAutofit fontScale="91667"/>
          </a:bodyPr>
          <a:lstStyle xmlns:a="http://schemas.openxmlformats.org/drawingml/2006/main"/>
          <a:p xmlns:a="http://schemas.openxmlformats.org/drawingml/2006/main">
            <a:pPr algn="l">
              <a:defRPr sz="1500" b="1">
                <a:solidFill>
                  <a:srgbClr val="E56B1F"/>
                </a:solidFill>
                <a:latin typeface="Microsoft YaHei"/>
                <a:ea typeface="Microsoft YaHei"/>
                <a:cs typeface="Microsoft YaHei"/>
              </a:defRPr>
            </a:pPr>
            <a:r>
              <a:rPr sz="1500" b="1">
                <a:solidFill>
                  <a:srgbClr val="E56B1F"/>
                </a:solidFill>
                <a:latin typeface="Microsoft YaHei"/>
                <a:ea typeface="Microsoft YaHei"/>
                <a:cs typeface="Microsoft YaHei"/>
              </a:rPr>
              <a:t>CTDE结构</a:t>
            </a:r>
          </a:p>
        </p:txBody>
      </p:sp>
      <p:sp>
        <p:nvSpPr>
          <p:cNvPr id="6" name="">
            <a:extLst xmlns:a="http://schemas.openxmlformats.org/drawingml/2006/main">
              <a:ext uri="{FF2B5EF4-FFF2-40B4-BE49-F238E27FC236}">
                <a16:creationId xmlns:a16="http://schemas.microsoft.com/office/drawing/2014/main" id="{735D64FC-9E8F-41D0-B285-2687C2847911}"/>
              </a:ext>
            </a:extLst>
          </p:cNvPr>
          <p:cNvSpPr>
            <a:spLocks xmlns:a="http://schemas.openxmlformats.org/drawingml/2006/main" noGrp="1"/>
          </p:cNvSpPr>
          <p:nvPr/>
        </p:nvSpPr>
        <p:spPr>
          <a:xfrm xmlns:a="http://schemas.openxmlformats.org/drawingml/2006/main">
            <a:off x="819150" y="1933575"/>
            <a:ext cx="10096500" cy="828675"/>
          </a:xfrm>
          <a:prstGeom xmlns:a="http://schemas.openxmlformats.org/drawingml/2006/main" prst="roundRect">
            <a:avLst>
              <a:gd name="adj" fmla="val 11494"/>
            </a:avLst>
          </a:prstGeom>
          <a:solidFill xmlns:a="http://schemas.openxmlformats.org/drawingml/2006/main">
            <a:srgbClr val="FFFFFF"/>
          </a:solidFill>
          <a:ln xmlns:a="http://schemas.openxmlformats.org/drawingml/2006/main" w="11430">
            <a:solidFill>
              <a:srgbClr val="C8D7E5"/>
            </a:solid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ctr">
              <a:defRPr sz="2250" b="0">
                <a:solidFill>
                  <a:srgbClr val="0B2A53"/>
                </a:solidFill>
                <a:latin typeface="Cambria Math"/>
                <a:ea typeface="Cambria Math"/>
                <a:cs typeface="Cambria Math"/>
              </a:defRPr>
            </a:pPr>
            <a:r>
              <a:rPr sz="2250" b="0">
                <a:solidFill>
                  <a:srgbClr val="0B2A53"/>
                </a:solidFill>
                <a:latin typeface="Cambria Math"/>
                <a:ea typeface="Cambria Math"/>
                <a:cs typeface="Cambria Math"/>
              </a:rPr>
              <a:t>aᵢ,ₖ ∼ πθᵢ(a|oᵢ,ₖ)，      Vφ = Vφ([o₁,ₖ,…,oN,ₖ])</a:t>
            </a:r>
          </a:p>
        </p:txBody>
      </p:sp>
      <p:sp>
        <p:nvSpPr>
          <p:cNvPr id="7" name="">
            <a:extLst xmlns:a="http://schemas.openxmlformats.org/drawingml/2006/main">
              <a:ext uri="{FF2B5EF4-FFF2-40B4-BE49-F238E27FC236}">
                <a16:creationId xmlns:a16="http://schemas.microsoft.com/office/drawing/2014/main" id="{E3FCA400-3F97-4ED7-9260-11AD9263D9C4}"/>
              </a:ext>
            </a:extLst>
          </p:cNvPr>
          <p:cNvSpPr>
            <a:spLocks xmlns:a="http://schemas.openxmlformats.org/drawingml/2006/main" noGrp="1"/>
          </p:cNvSpPr>
          <p:nvPr/>
        </p:nvSpPr>
        <p:spPr>
          <a:xfrm xmlns:a="http://schemas.openxmlformats.org/drawingml/2006/main">
            <a:off x="11163300" y="1933575"/>
            <a:ext cx="3257550" cy="828675"/>
          </a:xfrm>
          <a:prstGeom xmlns:a="http://schemas.openxmlformats.org/drawingml/2006/main" prst="roundRect">
            <a:avLst>
              <a:gd name="adj" fmla="val 11494"/>
            </a:avLst>
          </a:prstGeom>
          <a:solidFill xmlns:a="http://schemas.openxmlformats.org/drawingml/2006/main">
            <a:srgbClr val="FFF2E8"/>
          </a:solidFill>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1275" b="0">
                <a:solidFill>
                  <a:srgbClr val="526579"/>
                </a:solidFill>
                <a:latin typeface="Microsoft YaHei"/>
                <a:ea typeface="Microsoft YaHei"/>
                <a:cs typeface="Microsoft YaHei"/>
              </a:defRPr>
            </a:pPr>
            <a:r>
              <a:rPr sz="1275" b="0">
                <a:solidFill>
                  <a:srgbClr val="526579"/>
                </a:solidFill>
                <a:latin typeface="Microsoft YaHei"/>
                <a:ea typeface="Microsoft YaHei"/>
                <a:cs typeface="Microsoft YaHei"/>
              </a:rPr>
              <a:t>每列车actor只使用局部观测，集中critic使用所有列车状态。</a:t>
            </a:r>
          </a:p>
        </p:txBody>
      </p:sp>
      <p:sp>
        <p:nvSpPr>
          <p:cNvPr id="8" name="">
            <a:extLst xmlns:a="http://schemas.openxmlformats.org/drawingml/2006/main">
              <a:ext uri="{FF2B5EF4-FFF2-40B4-BE49-F238E27FC236}">
                <a16:creationId xmlns:a16="http://schemas.microsoft.com/office/drawing/2014/main" id="{0362E34D-6627-4D1F-89A6-ED4EEB63DFC5}"/>
              </a:ext>
            </a:extLst>
          </p:cNvPr>
          <p:cNvSpPr>
            <a:spLocks xmlns:a="http://schemas.openxmlformats.org/drawingml/2006/main" noGrp="1"/>
          </p:cNvSpPr>
          <p:nvPr/>
        </p:nvSpPr>
        <p:spPr>
          <a:xfrm xmlns:a="http://schemas.openxmlformats.org/drawingml/2006/main">
            <a:off x="819150" y="2838450"/>
            <a:ext cx="13601700" cy="409575"/>
          </a:xfrm>
          <a:prstGeom xmlns:a="http://schemas.openxmlformats.org/drawingml/2006/main" prst="roundRect">
            <a:avLst>
              <a:gd name="adj" fmla="val 23256"/>
            </a:avLst>
          </a:prstGeom>
          <a:solidFill xmlns:a="http://schemas.openxmlformats.org/drawingml/2006/main">
            <a:srgbClr val="F4F7FA"/>
          </a:solidFill>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1125" b="0">
                <a:solidFill>
                  <a:srgbClr val="526579"/>
                </a:solidFill>
                <a:latin typeface="Cambria Math"/>
                <a:ea typeface="Cambria Math"/>
                <a:cs typeface="Cambria Math"/>
              </a:defRPr>
            </a:pPr>
            <a:r>
              <a:rPr sz="1125" b="0">
                <a:solidFill>
                  <a:srgbClr val="526579"/>
                </a:solidFill>
                <a:latin typeface="Cambria Math"/>
                <a:ea typeface="Cambria Math"/>
                <a:cs typeface="Cambria Math"/>
              </a:rPr>
              <a:t>LaTeX：a_{i,k}\sim\pi_{\theta_i}(a|o_{i,k}),\quad V_\phi=V_\phi([o_{1,k},\ldots,o_{N,k}])</a:t>
            </a:r>
          </a:p>
        </p:txBody>
      </p:sp>
      <p:sp>
        <p:nvSpPr>
          <p:cNvPr id="9" name="">
            <a:extLst xmlns:a="http://schemas.openxmlformats.org/drawingml/2006/main">
              <a:ext uri="{FF2B5EF4-FFF2-40B4-BE49-F238E27FC236}">
                <a16:creationId xmlns:a16="http://schemas.microsoft.com/office/drawing/2014/main" id="{3D2BD20C-673B-4CF1-AC27-3912C8A1A6F7}"/>
              </a:ext>
            </a:extLst>
          </p:cNvPr>
          <p:cNvSpPr>
            <a:spLocks xmlns:a="http://schemas.openxmlformats.org/drawingml/2006/main" noGrp="1"/>
          </p:cNvSpPr>
          <p:nvPr/>
        </p:nvSpPr>
        <p:spPr>
          <a:xfrm xmlns:a="http://schemas.openxmlformats.org/drawingml/2006/main">
            <a:off x="819150" y="328612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14300" tIns="57150" rIns="114300" bIns="57150" anchor="ctr">
            <a:normAutofit fontScale="91667"/>
          </a:bodyPr>
          <a:lstStyle xmlns:a="http://schemas.openxmlformats.org/drawingml/2006/main"/>
          <a:p xmlns:a="http://schemas.openxmlformats.org/drawingml/2006/main">
            <a:pPr algn="l">
              <a:defRPr sz="1500" b="1">
                <a:solidFill>
                  <a:srgbClr val="E56B1F"/>
                </a:solidFill>
                <a:latin typeface="Microsoft YaHei"/>
                <a:ea typeface="Microsoft YaHei"/>
                <a:cs typeface="Microsoft YaHei"/>
              </a:defRPr>
            </a:pPr>
            <a:r>
              <a:rPr sz="1500" b="1">
                <a:solidFill>
                  <a:srgbClr val="E56B1F"/>
                </a:solidFill>
                <a:latin typeface="Microsoft YaHei"/>
                <a:ea typeface="Microsoft YaHei"/>
                <a:cs typeface="Microsoft YaHei"/>
              </a:rPr>
              <a:t>GAE优势估计</a:t>
            </a:r>
          </a:p>
        </p:txBody>
      </p:sp>
      <p:sp>
        <p:nvSpPr>
          <p:cNvPr id="10" name="">
            <a:extLst xmlns:a="http://schemas.openxmlformats.org/drawingml/2006/main">
              <a:ext uri="{FF2B5EF4-FFF2-40B4-BE49-F238E27FC236}">
                <a16:creationId xmlns:a16="http://schemas.microsoft.com/office/drawing/2014/main" id="{373F9AF5-A85D-463C-AF63-6750F0E57EF5}"/>
              </a:ext>
            </a:extLst>
          </p:cNvPr>
          <p:cNvSpPr>
            <a:spLocks xmlns:a="http://schemas.openxmlformats.org/drawingml/2006/main" noGrp="1"/>
          </p:cNvSpPr>
          <p:nvPr/>
        </p:nvSpPr>
        <p:spPr>
          <a:xfrm xmlns:a="http://schemas.openxmlformats.org/drawingml/2006/main">
            <a:off x="819150" y="3648075"/>
            <a:ext cx="10096500" cy="1066800"/>
          </a:xfrm>
          <a:prstGeom xmlns:a="http://schemas.openxmlformats.org/drawingml/2006/main" prst="roundRect">
            <a:avLst>
              <a:gd name="adj" fmla="val 8929"/>
            </a:avLst>
          </a:prstGeom>
          <a:solidFill xmlns:a="http://schemas.openxmlformats.org/drawingml/2006/main">
            <a:srgbClr val="FFFFFF"/>
          </a:solidFill>
          <a:ln xmlns:a="http://schemas.openxmlformats.org/drawingml/2006/main" w="11430">
            <a:solidFill>
              <a:srgbClr val="C8D7E5"/>
            </a:solid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ctr">
              <a:defRPr sz="2250" b="0">
                <a:solidFill>
                  <a:srgbClr val="0B2A53"/>
                </a:solidFill>
                <a:latin typeface="Cambria Math"/>
                <a:ea typeface="Cambria Math"/>
                <a:cs typeface="Cambria Math"/>
              </a:defRPr>
            </a:pPr>
            <a:r>
              <a:rPr sz="2250" b="0">
                <a:solidFill>
                  <a:srgbClr val="0B2A53"/>
                </a:solidFill>
                <a:latin typeface="Cambria Math"/>
                <a:ea typeface="Cambria Math"/>
                <a:cs typeface="Cambria Math"/>
              </a:rPr>
              <a:t>δₖ = rₖ + γVφ(sₖ₊₁ᴳ) − Vφ(sₖᴳ)</a:t>
            </a:r>
          </a:p>
          <a:p xmlns:a="http://schemas.openxmlformats.org/drawingml/2006/main">
            <a:pPr algn="ctr">
              <a:defRPr sz="2250" b="0">
                <a:solidFill>
                  <a:srgbClr val="0B2A53"/>
                </a:solidFill>
                <a:latin typeface="Cambria Math"/>
                <a:ea typeface="Cambria Math"/>
                <a:cs typeface="Cambria Math"/>
              </a:defRPr>
            </a:pPr>
            <a:r>
              <a:rPr sz="2250" b="0">
                <a:solidFill>
                  <a:srgbClr val="0B2A53"/>
                </a:solidFill>
                <a:latin typeface="Cambria Math"/>
                <a:ea typeface="Cambria Math"/>
                <a:cs typeface="Cambria Math"/>
              </a:rPr>
              <a:t>Âₖ = Σˡ(γλ)ˡδₖ₊ₗ</a:t>
            </a:r>
          </a:p>
        </p:txBody>
      </p:sp>
      <p:sp>
        <p:nvSpPr>
          <p:cNvPr id="11" name="">
            <a:extLst xmlns:a="http://schemas.openxmlformats.org/drawingml/2006/main">
              <a:ext uri="{FF2B5EF4-FFF2-40B4-BE49-F238E27FC236}">
                <a16:creationId xmlns:a16="http://schemas.microsoft.com/office/drawing/2014/main" id="{07F40BCD-C022-49A3-A5BB-D67A67E7EA41}"/>
              </a:ext>
            </a:extLst>
          </p:cNvPr>
          <p:cNvSpPr>
            <a:spLocks xmlns:a="http://schemas.openxmlformats.org/drawingml/2006/main" noGrp="1"/>
          </p:cNvSpPr>
          <p:nvPr/>
        </p:nvSpPr>
        <p:spPr>
          <a:xfrm xmlns:a="http://schemas.openxmlformats.org/drawingml/2006/main">
            <a:off x="11163300" y="3648075"/>
            <a:ext cx="3257550" cy="1066800"/>
          </a:xfrm>
          <a:prstGeom xmlns:a="http://schemas.openxmlformats.org/drawingml/2006/main" prst="roundRect">
            <a:avLst>
              <a:gd name="adj" fmla="val 8929"/>
            </a:avLst>
          </a:prstGeom>
          <a:solidFill xmlns:a="http://schemas.openxmlformats.org/drawingml/2006/main">
            <a:srgbClr val="FFF2E8"/>
          </a:solidFill>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1275" b="0">
                <a:solidFill>
                  <a:srgbClr val="526579"/>
                </a:solidFill>
                <a:latin typeface="Microsoft YaHei"/>
                <a:ea typeface="Microsoft YaHei"/>
                <a:cs typeface="Microsoft YaHei"/>
              </a:defRPr>
            </a:pPr>
            <a:r>
              <a:rPr sz="1275" b="0">
                <a:solidFill>
                  <a:srgbClr val="526579"/>
                </a:solidFill>
                <a:latin typeface="Microsoft YaHei"/>
                <a:ea typeface="Microsoft YaHei"/>
                <a:cs typeface="Microsoft YaHei"/>
              </a:rPr>
              <a:t>当前λ=0.95，用于平衡优势估计的偏差与方差。</a:t>
            </a:r>
          </a:p>
        </p:txBody>
      </p:sp>
      <p:sp>
        <p:nvSpPr>
          <p:cNvPr id="12" name="">
            <a:extLst xmlns:a="http://schemas.openxmlformats.org/drawingml/2006/main">
              <a:ext uri="{FF2B5EF4-FFF2-40B4-BE49-F238E27FC236}">
                <a16:creationId xmlns:a16="http://schemas.microsoft.com/office/drawing/2014/main" id="{1DDF0E25-1D33-4533-9725-B31D23DAEE85}"/>
              </a:ext>
            </a:extLst>
          </p:cNvPr>
          <p:cNvSpPr>
            <a:spLocks xmlns:a="http://schemas.openxmlformats.org/drawingml/2006/main" noGrp="1"/>
          </p:cNvSpPr>
          <p:nvPr/>
        </p:nvSpPr>
        <p:spPr>
          <a:xfrm xmlns:a="http://schemas.openxmlformats.org/drawingml/2006/main">
            <a:off x="819150" y="4791075"/>
            <a:ext cx="13601700" cy="409575"/>
          </a:xfrm>
          <a:prstGeom xmlns:a="http://schemas.openxmlformats.org/drawingml/2006/main" prst="roundRect">
            <a:avLst>
              <a:gd name="adj" fmla="val 23256"/>
            </a:avLst>
          </a:prstGeom>
          <a:solidFill xmlns:a="http://schemas.openxmlformats.org/drawingml/2006/main">
            <a:srgbClr val="F4F7FA"/>
          </a:solidFill>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1125" b="0">
                <a:solidFill>
                  <a:srgbClr val="526579"/>
                </a:solidFill>
                <a:latin typeface="Cambria Math"/>
                <a:ea typeface="Cambria Math"/>
                <a:cs typeface="Cambria Math"/>
              </a:defRPr>
            </a:pPr>
            <a:r>
              <a:rPr sz="1125" b="0">
                <a:solidFill>
                  <a:srgbClr val="526579"/>
                </a:solidFill>
                <a:latin typeface="Cambria Math"/>
                <a:ea typeface="Cambria Math"/>
                <a:cs typeface="Cambria Math"/>
              </a:rPr>
              <a:t>LaTeX：\delta_k=r_k+\gamma V_\phi(s_{k+1}^G)-V_\phi(s_k^G),\quad \hat A_k=\sum_l(\gamma\lambda)^l\delta_{k+l}</a:t>
            </a:r>
          </a:p>
        </p:txBody>
      </p:sp>
      <p:sp>
        <p:nvSpPr>
          <p:cNvPr id="13" name="">
            <a:extLst xmlns:a="http://schemas.openxmlformats.org/drawingml/2006/main">
              <a:ext uri="{FF2B5EF4-FFF2-40B4-BE49-F238E27FC236}">
                <a16:creationId xmlns:a16="http://schemas.microsoft.com/office/drawing/2014/main" id="{BE495F98-38D0-4896-9B57-7A9397084EB6}"/>
              </a:ext>
            </a:extLst>
          </p:cNvPr>
          <p:cNvSpPr>
            <a:spLocks xmlns:a="http://schemas.openxmlformats.org/drawingml/2006/main" noGrp="1"/>
          </p:cNvSpPr>
          <p:nvPr/>
        </p:nvSpPr>
        <p:spPr>
          <a:xfrm xmlns:a="http://schemas.openxmlformats.org/drawingml/2006/main">
            <a:off x="819150" y="528637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14300" tIns="57150" rIns="114300" bIns="57150" anchor="ctr">
            <a:normAutofit fontScale="91667"/>
          </a:bodyPr>
          <a:lstStyle xmlns:a="http://schemas.openxmlformats.org/drawingml/2006/main"/>
          <a:p xmlns:a="http://schemas.openxmlformats.org/drawingml/2006/main">
            <a:pPr algn="l">
              <a:defRPr sz="1500" b="1">
                <a:solidFill>
                  <a:srgbClr val="E56B1F"/>
                </a:solidFill>
                <a:latin typeface="Microsoft YaHei"/>
                <a:ea typeface="Microsoft YaHei"/>
                <a:cs typeface="Microsoft YaHei"/>
              </a:defRPr>
            </a:pPr>
            <a:r>
              <a:rPr sz="1500" b="1">
                <a:solidFill>
                  <a:srgbClr val="E56B1F"/>
                </a:solidFill>
                <a:latin typeface="Microsoft YaHei"/>
                <a:ea typeface="Microsoft YaHei"/>
                <a:cs typeface="Microsoft YaHei"/>
              </a:rPr>
              <a:t>PPO裁剪目标</a:t>
            </a:r>
          </a:p>
        </p:txBody>
      </p:sp>
      <p:sp>
        <p:nvSpPr>
          <p:cNvPr id="14" name="">
            <a:extLst xmlns:a="http://schemas.openxmlformats.org/drawingml/2006/main">
              <a:ext uri="{FF2B5EF4-FFF2-40B4-BE49-F238E27FC236}">
                <a16:creationId xmlns:a16="http://schemas.microsoft.com/office/drawing/2014/main" id="{0D5DA78B-B1B2-4A19-82F1-EAE4BC012068}"/>
              </a:ext>
            </a:extLst>
          </p:cNvPr>
          <p:cNvSpPr>
            <a:spLocks xmlns:a="http://schemas.openxmlformats.org/drawingml/2006/main" noGrp="1"/>
          </p:cNvSpPr>
          <p:nvPr/>
        </p:nvSpPr>
        <p:spPr>
          <a:xfrm xmlns:a="http://schemas.openxmlformats.org/drawingml/2006/main">
            <a:off x="819150" y="5648325"/>
            <a:ext cx="10096500" cy="1019175"/>
          </a:xfrm>
          <a:prstGeom xmlns:a="http://schemas.openxmlformats.org/drawingml/2006/main" prst="roundRect">
            <a:avLst>
              <a:gd name="adj" fmla="val 9346"/>
            </a:avLst>
          </a:prstGeom>
          <a:solidFill xmlns:a="http://schemas.openxmlformats.org/drawingml/2006/main">
            <a:srgbClr val="FFFFFF"/>
          </a:solidFill>
          <a:ln xmlns:a="http://schemas.openxmlformats.org/drawingml/2006/main" w="11430">
            <a:solidFill>
              <a:srgbClr val="C8D7E5"/>
            </a:solid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ctr">
              <a:defRPr sz="2250" b="0">
                <a:solidFill>
                  <a:srgbClr val="0B2A53"/>
                </a:solidFill>
                <a:latin typeface="Cambria Math"/>
                <a:ea typeface="Cambria Math"/>
                <a:cs typeface="Cambria Math"/>
              </a:defRPr>
            </a:pPr>
            <a:r>
              <a:rPr sz="2250" b="0">
                <a:solidFill>
                  <a:srgbClr val="0B2A53"/>
                </a:solidFill>
                <a:latin typeface="Cambria Math"/>
                <a:ea typeface="Cambria Math"/>
                <a:cs typeface="Cambria Math"/>
              </a:rPr>
              <a:t>Lᶜˡⁱᵖ = 𝔼[min(rₖ(θᵢ)Âₖ, clip(rₖ(θᵢ),1−ε,1+ε)Âₖ)]</a:t>
            </a:r>
          </a:p>
        </p:txBody>
      </p:sp>
      <p:sp>
        <p:nvSpPr>
          <p:cNvPr id="15" name="">
            <a:extLst xmlns:a="http://schemas.openxmlformats.org/drawingml/2006/main">
              <a:ext uri="{FF2B5EF4-FFF2-40B4-BE49-F238E27FC236}">
                <a16:creationId xmlns:a16="http://schemas.microsoft.com/office/drawing/2014/main" id="{5A6941EE-9D46-4172-9708-B97DD41F7A45}"/>
              </a:ext>
            </a:extLst>
          </p:cNvPr>
          <p:cNvSpPr>
            <a:spLocks xmlns:a="http://schemas.openxmlformats.org/drawingml/2006/main" noGrp="1"/>
          </p:cNvSpPr>
          <p:nvPr/>
        </p:nvSpPr>
        <p:spPr>
          <a:xfrm xmlns:a="http://schemas.openxmlformats.org/drawingml/2006/main">
            <a:off x="11163300" y="5648325"/>
            <a:ext cx="3257550" cy="1019175"/>
          </a:xfrm>
          <a:prstGeom xmlns:a="http://schemas.openxmlformats.org/drawingml/2006/main" prst="roundRect">
            <a:avLst>
              <a:gd name="adj" fmla="val 9346"/>
            </a:avLst>
          </a:prstGeom>
          <a:solidFill xmlns:a="http://schemas.openxmlformats.org/drawingml/2006/main">
            <a:srgbClr val="FFF2E8"/>
          </a:solidFill>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1275" b="0">
                <a:solidFill>
                  <a:srgbClr val="526579"/>
                </a:solidFill>
                <a:latin typeface="Microsoft YaHei"/>
                <a:ea typeface="Microsoft YaHei"/>
                <a:cs typeface="Microsoft YaHei"/>
              </a:defRPr>
            </a:pPr>
            <a:r>
              <a:rPr sz="1275" b="0">
                <a:solidFill>
                  <a:srgbClr val="526579"/>
                </a:solidFill>
                <a:latin typeface="Microsoft YaHei"/>
                <a:ea typeface="Microsoft YaHei"/>
                <a:cs typeface="Microsoft YaHei"/>
              </a:rPr>
              <a:t>当前ε=0.2，限制单次策略更新幅度。</a:t>
            </a:r>
          </a:p>
        </p:txBody>
      </p:sp>
      <p:sp>
        <p:nvSpPr>
          <p:cNvPr id="16" name="">
            <a:extLst xmlns:a="http://schemas.openxmlformats.org/drawingml/2006/main">
              <a:ext uri="{FF2B5EF4-FFF2-40B4-BE49-F238E27FC236}">
                <a16:creationId xmlns:a16="http://schemas.microsoft.com/office/drawing/2014/main" id="{D0A2CC0E-A7DB-486C-BB8D-C225494EB9CA}"/>
              </a:ext>
            </a:extLst>
          </p:cNvPr>
          <p:cNvSpPr>
            <a:spLocks xmlns:a="http://schemas.openxmlformats.org/drawingml/2006/main" noGrp="1"/>
          </p:cNvSpPr>
          <p:nvPr/>
        </p:nvSpPr>
        <p:spPr>
          <a:xfrm xmlns:a="http://schemas.openxmlformats.org/drawingml/2006/main">
            <a:off x="819150" y="6743700"/>
            <a:ext cx="13601700" cy="409575"/>
          </a:xfrm>
          <a:prstGeom xmlns:a="http://schemas.openxmlformats.org/drawingml/2006/main" prst="roundRect">
            <a:avLst>
              <a:gd name="adj" fmla="val 23256"/>
            </a:avLst>
          </a:prstGeom>
          <a:solidFill xmlns:a="http://schemas.openxmlformats.org/drawingml/2006/main">
            <a:srgbClr val="F4F7FA"/>
          </a:solidFill>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1125" b="0">
                <a:solidFill>
                  <a:srgbClr val="526579"/>
                </a:solidFill>
                <a:latin typeface="Cambria Math"/>
                <a:ea typeface="Cambria Math"/>
                <a:cs typeface="Cambria Math"/>
              </a:defRPr>
            </a:pPr>
            <a:r>
              <a:rPr sz="1125" b="0">
                <a:solidFill>
                  <a:srgbClr val="526579"/>
                </a:solidFill>
                <a:latin typeface="Cambria Math"/>
                <a:ea typeface="Cambria Math"/>
                <a:cs typeface="Cambria Math"/>
              </a:rPr>
              <a:t>LaTeX：L^{clip}=\mathbb E[\min(r_k(\theta_i)\hat A_k,\operatorname{clip}(r_k(\theta_i),1-\epsilon,1+\epsilon)\hat A_k)]</a:t>
            </a:r>
          </a:p>
        </p:txBody>
      </p:sp>
    </p:spTree>
    <p:extLst>
      <p:ext uri="{BB962C8B-B14F-4D97-AF65-F5344CB8AC3E}">
        <p14:creationId xmlns:p14="http://schemas.microsoft.com/office/powerpoint/2010/main" val="881854600"/>
      </p:ext>
    </p:extLst>
  </p:cSld>
</p:sld>
</file>

<file path=ppt/slides/slide8.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51FB86B-389A-4A01-91EF-DC0808B7F651}"/>
              </a:ext>
            </a:extLst>
          </p:cNvPr>
          <p:cNvSpPr>
            <a:spLocks xmlns:a="http://schemas.openxmlformats.org/drawingml/2006/main" noGrp="1"/>
          </p:cNvSpPr>
          <p:nvPr/>
        </p:nvSpPr>
        <p:spPr>
          <a:xfrm xmlns:a="http://schemas.openxmlformats.org/drawingml/2006/main">
            <a:off x="685800" y="381000"/>
            <a:ext cx="13868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2850" b="1">
                <a:solidFill>
                  <a:srgbClr val="0B2A53"/>
                </a:solidFill>
                <a:latin typeface="Microsoft YaHei"/>
                <a:ea typeface="Microsoft YaHei"/>
                <a:cs typeface="Microsoft YaHei"/>
              </a:defRPr>
            </a:pPr>
            <a:r>
              <a:rPr sz="2850" b="1">
                <a:solidFill>
                  <a:srgbClr val="0B2A53"/>
                </a:solidFill>
                <a:latin typeface="Microsoft YaHei"/>
                <a:ea typeface="Microsoft YaHei"/>
                <a:cs typeface="Microsoft YaHei"/>
              </a:rPr>
              <a:t>上下层联合建模摘要</a:t>
            </a:r>
          </a:p>
        </p:txBody>
      </p:sp>
      <p:sp>
        <p:nvSpPr>
          <p:cNvPr id="2" name="">
            <a:extLst xmlns:a="http://schemas.openxmlformats.org/drawingml/2006/main">
              <a:ext uri="{FF2B5EF4-FFF2-40B4-BE49-F238E27FC236}">
                <a16:creationId xmlns:a16="http://schemas.microsoft.com/office/drawing/2014/main" id="{8EEA0FBB-9D18-4A22-B359-94CF35C1CC14}"/>
              </a:ext>
            </a:extLst>
          </p:cNvPr>
          <p:cNvSpPr>
            <a:spLocks xmlns:a="http://schemas.openxmlformats.org/drawingml/2006/main" noGrp="1"/>
          </p:cNvSpPr>
          <p:nvPr/>
        </p:nvSpPr>
        <p:spPr>
          <a:xfrm xmlns:a="http://schemas.openxmlformats.org/drawingml/2006/main">
            <a:off x="685800" y="1000125"/>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1275" b="1">
                <a:solidFill>
                  <a:srgbClr val="1668A9"/>
                </a:solidFill>
                <a:latin typeface="Microsoft YaHei"/>
                <a:ea typeface="Microsoft YaHei"/>
                <a:cs typeface="Microsoft YaHei"/>
              </a:defRPr>
            </a:pPr>
            <a:r>
              <a:rPr sz="1275" b="1">
                <a:solidFill>
                  <a:srgbClr val="1668A9"/>
                </a:solidFill>
                <a:latin typeface="Microsoft YaHei"/>
                <a:ea typeface="Microsoft YaHei"/>
                <a:cs typeface="Microsoft YaHei"/>
              </a:rPr>
              <a:t>分层强化学习框架</a:t>
            </a:r>
          </a:p>
        </p:txBody>
      </p:sp>
      <p:sp>
        <p:nvSpPr>
          <p:cNvPr id="3" name="">
            <a:extLst xmlns:a="http://schemas.openxmlformats.org/drawingml/2006/main">
              <a:ext uri="{FF2B5EF4-FFF2-40B4-BE49-F238E27FC236}">
                <a16:creationId xmlns:a16="http://schemas.microsoft.com/office/drawing/2014/main" id="{D48C7655-39BA-4584-9860-C24B0D1FD848}"/>
              </a:ext>
            </a:extLst>
          </p:cNvPr>
          <p:cNvSpPr>
            <a:spLocks xmlns:a="http://schemas.openxmlformats.org/drawingml/2006/main" noGrp="1"/>
          </p:cNvSpPr>
          <p:nvPr/>
        </p:nvSpPr>
        <p:spPr>
          <a:xfrm xmlns:a="http://schemas.openxmlformats.org/drawingml/2006/main">
            <a:off x="685800" y="1381125"/>
            <a:ext cx="13868400" cy="0"/>
          </a:xfrm>
          <a:prstGeom xmlns:a="http://schemas.openxmlformats.org/drawingml/2006/main" prst="line">
            <a:avLst/>
          </a:prstGeom>
          <a:noFill xmlns:a="http://schemas.openxmlformats.org/drawingml/2006/main"/>
          <a:ln xmlns:a="http://schemas.openxmlformats.org/drawingml/2006/main" w="28575">
            <a:solidFill>
              <a:srgbClr val="1668A9"/>
            </a:solidFill>
            <a:prstDash val="solid"/>
          </a:ln>
        </p:spPr>
      </p:sp>
      <p:sp>
        <p:nvSpPr>
          <p:cNvPr id="4" name="">
            <a:extLst xmlns:a="http://schemas.openxmlformats.org/drawingml/2006/main">
              <a:ext uri="{FF2B5EF4-FFF2-40B4-BE49-F238E27FC236}">
                <a16:creationId xmlns:a16="http://schemas.microsoft.com/office/drawing/2014/main" id="{F0E5F270-0D9A-44C6-B856-D5CB137F42C3}"/>
              </a:ext>
            </a:extLst>
          </p:cNvPr>
          <p:cNvSpPr>
            <a:spLocks xmlns:a="http://schemas.openxmlformats.org/drawingml/2006/main" noGrp="1"/>
          </p:cNvSpPr>
          <p:nvPr/>
        </p:nvSpPr>
        <p:spPr>
          <a:xfrm xmlns:a="http://schemas.openxmlformats.org/drawingml/2006/main">
            <a:off x="13811250" y="802005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14300" tIns="57150" rIns="114300" bIns="57150" anchor="ctr">
            <a:normAutofit fontScale="95238"/>
          </a:bodyPr>
          <a:lstStyle xmlns:a="http://schemas.openxmlformats.org/drawingml/2006/main"/>
          <a:p xmlns:a="http://schemas.openxmlformats.org/drawingml/2006/main">
            <a:pPr algn="r">
              <a:defRPr sz="1050" b="0">
                <a:solidFill>
                  <a:srgbClr val="526579"/>
                </a:solidFill>
                <a:latin typeface="Microsoft YaHei"/>
                <a:ea typeface="Microsoft YaHei"/>
                <a:cs typeface="Microsoft YaHei"/>
              </a:defRPr>
            </a:pPr>
            <a:r>
              <a:rPr sz="1050" b="0">
                <a:solidFill>
                  <a:srgbClr val="526579"/>
                </a:solidFill>
                <a:latin typeface="Microsoft YaHei"/>
                <a:ea typeface="Microsoft YaHei"/>
                <a:cs typeface="Microsoft YaHei"/>
              </a:rPr>
              <a:t>08</a:t>
            </a:r>
          </a:p>
        </p:txBody>
      </p:sp>
      <p:sp>
        <p:nvSpPr>
          <p:cNvPr id="5" name="">
            <a:extLst xmlns:a="http://schemas.openxmlformats.org/drawingml/2006/main">
              <a:ext uri="{FF2B5EF4-FFF2-40B4-BE49-F238E27FC236}">
                <a16:creationId xmlns:a16="http://schemas.microsoft.com/office/drawing/2014/main" id="{909D3F9B-7A01-46A3-9940-6C6EF709F224}"/>
              </a:ext>
            </a:extLst>
          </p:cNvPr>
          <p:cNvSpPr>
            <a:spLocks xmlns:a="http://schemas.openxmlformats.org/drawingml/2006/main" noGrp="1"/>
          </p:cNvSpPr>
          <p:nvPr/>
        </p:nvSpPr>
        <p:spPr>
          <a:xfrm xmlns:a="http://schemas.openxmlformats.org/drawingml/2006/main">
            <a:off x="838200" y="1695450"/>
            <a:ext cx="13563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2100" b="1">
                <a:solidFill>
                  <a:srgbClr val="E56B1F"/>
                </a:solidFill>
                <a:latin typeface="Microsoft YaHei"/>
                <a:ea typeface="Microsoft YaHei"/>
                <a:cs typeface="Microsoft YaHei"/>
              </a:defRPr>
            </a:pPr>
            <a:r>
              <a:rPr sz="2100" b="1">
                <a:solidFill>
                  <a:srgbClr val="E56B1F"/>
                </a:solidFill>
                <a:latin typeface="Microsoft YaHei"/>
                <a:ea typeface="Microsoft YaHei"/>
                <a:cs typeface="Microsoft YaHei"/>
              </a:rPr>
              <a:t>上层 MAPPO：时刻表规划</a:t>
            </a:r>
          </a:p>
        </p:txBody>
      </p:sp>
      <p:sp>
        <p:nvSpPr>
          <p:cNvPr id="6" name="">
            <a:extLst xmlns:a="http://schemas.openxmlformats.org/drawingml/2006/main">
              <a:ext uri="{FF2B5EF4-FFF2-40B4-BE49-F238E27FC236}">
                <a16:creationId xmlns:a16="http://schemas.microsoft.com/office/drawing/2014/main" id="{002C59EA-3128-4CF4-BEE4-1A6A10374452}"/>
              </a:ext>
            </a:extLst>
          </p:cNvPr>
          <p:cNvSpPr>
            <a:spLocks xmlns:a="http://schemas.openxmlformats.org/drawingml/2006/main" noGrp="1"/>
          </p:cNvSpPr>
          <p:nvPr/>
        </p:nvSpPr>
        <p:spPr>
          <a:xfrm xmlns:a="http://schemas.openxmlformats.org/drawingml/2006/main">
            <a:off x="838200" y="2381250"/>
            <a:ext cx="13563600" cy="952500"/>
          </a:xfrm>
          <a:prstGeom xmlns:a="http://schemas.openxmlformats.org/drawingml/2006/main" prst="roundRect">
            <a:avLst>
              <a:gd name="adj" fmla="val 10000"/>
            </a:avLst>
          </a:prstGeom>
          <a:solidFill xmlns:a="http://schemas.openxmlformats.org/drawingml/2006/main">
            <a:srgbClr val="FFF2E8"/>
          </a:solidFill>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ctr">
              <a:defRPr sz="2700" b="0">
                <a:solidFill>
                  <a:srgbClr val="0B2A53"/>
                </a:solidFill>
                <a:latin typeface="Cambria Math"/>
                <a:ea typeface="Cambria Math"/>
                <a:cs typeface="Cambria Math"/>
              </a:defRPr>
            </a:pPr>
            <a:r>
              <a:rPr sz="2700" b="0">
                <a:solidFill>
                  <a:srgbClr val="0B2A53"/>
                </a:solidFill>
                <a:latin typeface="Cambria Math"/>
                <a:ea typeface="Cambria Math"/>
                <a:cs typeface="Cambria Math"/>
              </a:rPr>
              <a:t>uᵁ → {ΔD, ΔT} → Tᵗᵃʳ</a:t>
            </a:r>
          </a:p>
        </p:txBody>
      </p:sp>
      <p:sp>
        <p:nvSpPr>
          <p:cNvPr id="7" name="">
            <a:extLst xmlns:a="http://schemas.openxmlformats.org/drawingml/2006/main">
              <a:ext uri="{FF2B5EF4-FFF2-40B4-BE49-F238E27FC236}">
                <a16:creationId xmlns:a16="http://schemas.microsoft.com/office/drawing/2014/main" id="{A44BA4D5-3BED-447A-9708-D1D9DD86C5AF}"/>
              </a:ext>
            </a:extLst>
          </p:cNvPr>
          <p:cNvSpPr>
            <a:spLocks xmlns:a="http://schemas.openxmlformats.org/drawingml/2006/main" noGrp="1"/>
          </p:cNvSpPr>
          <p:nvPr/>
        </p:nvSpPr>
        <p:spPr>
          <a:xfrm xmlns:a="http://schemas.openxmlformats.org/drawingml/2006/main">
            <a:off x="838200" y="3619500"/>
            <a:ext cx="13563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2100" b="1">
                <a:solidFill>
                  <a:srgbClr val="07867F"/>
                </a:solidFill>
                <a:latin typeface="Microsoft YaHei"/>
                <a:ea typeface="Microsoft YaHei"/>
                <a:cs typeface="Microsoft YaHei"/>
              </a:defRPr>
            </a:pPr>
            <a:r>
              <a:rPr sz="2100" b="1">
                <a:solidFill>
                  <a:srgbClr val="07867F"/>
                </a:solidFill>
                <a:latin typeface="Microsoft YaHei"/>
                <a:ea typeface="Microsoft YaHei"/>
                <a:cs typeface="Microsoft YaHei"/>
              </a:rPr>
              <a:t>下层 SAC：安全节能驾驶</a:t>
            </a:r>
          </a:p>
        </p:txBody>
      </p:sp>
      <p:sp>
        <p:nvSpPr>
          <p:cNvPr id="8" name="">
            <a:extLst xmlns:a="http://schemas.openxmlformats.org/drawingml/2006/main">
              <a:ext uri="{FF2B5EF4-FFF2-40B4-BE49-F238E27FC236}">
                <a16:creationId xmlns:a16="http://schemas.microsoft.com/office/drawing/2014/main" id="{7649A192-3F2D-470C-BDA6-E924D0A28AFA}"/>
              </a:ext>
            </a:extLst>
          </p:cNvPr>
          <p:cNvSpPr>
            <a:spLocks xmlns:a="http://schemas.openxmlformats.org/drawingml/2006/main" noGrp="1"/>
          </p:cNvSpPr>
          <p:nvPr/>
        </p:nvSpPr>
        <p:spPr>
          <a:xfrm xmlns:a="http://schemas.openxmlformats.org/drawingml/2006/main">
            <a:off x="838200" y="4305300"/>
            <a:ext cx="13563600" cy="952500"/>
          </a:xfrm>
          <a:prstGeom xmlns:a="http://schemas.openxmlformats.org/drawingml/2006/main" prst="roundRect">
            <a:avLst>
              <a:gd name="adj" fmla="val 10000"/>
            </a:avLst>
          </a:prstGeom>
          <a:solidFill xmlns:a="http://schemas.openxmlformats.org/drawingml/2006/main">
            <a:srgbClr val="E9F9F6"/>
          </a:solidFill>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ctr">
              <a:defRPr sz="2700" b="0">
                <a:solidFill>
                  <a:srgbClr val="0B2A53"/>
                </a:solidFill>
                <a:latin typeface="Cambria Math"/>
                <a:ea typeface="Cambria Math"/>
                <a:cs typeface="Cambria Math"/>
              </a:defRPr>
            </a:pPr>
            <a:r>
              <a:rPr sz="2700" b="0">
                <a:solidFill>
                  <a:srgbClr val="0B2A53"/>
                </a:solidFill>
                <a:latin typeface="Cambria Math"/>
                <a:ea typeface="Cambria Math"/>
                <a:cs typeface="Cambria Math"/>
              </a:rPr>
              <a:t>(Tᵃᶜᵗ, E, χ, 𝒳) = fθˢᴬᶜ(Tᵗᵃʳ, m, ℓ, d)</a:t>
            </a:r>
          </a:p>
        </p:txBody>
      </p:sp>
      <p:sp>
        <p:nvSpPr>
          <p:cNvPr id="9" name="">
            <a:extLst xmlns:a="http://schemas.openxmlformats.org/drawingml/2006/main">
              <a:ext uri="{FF2B5EF4-FFF2-40B4-BE49-F238E27FC236}">
                <a16:creationId xmlns:a16="http://schemas.microsoft.com/office/drawing/2014/main" id="{3629112C-294F-463B-9112-81D54E2F81C2}"/>
              </a:ext>
            </a:extLst>
          </p:cNvPr>
          <p:cNvSpPr>
            <a:spLocks xmlns:a="http://schemas.openxmlformats.org/drawingml/2006/main" noGrp="1"/>
          </p:cNvSpPr>
          <p:nvPr/>
        </p:nvSpPr>
        <p:spPr>
          <a:xfrm xmlns:a="http://schemas.openxmlformats.org/drawingml/2006/main">
            <a:off x="838200" y="5572125"/>
            <a:ext cx="13563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2100" b="1">
                <a:solidFill>
                  <a:srgbClr val="1668A9"/>
                </a:solidFill>
                <a:latin typeface="Microsoft YaHei"/>
                <a:ea typeface="Microsoft YaHei"/>
                <a:cs typeface="Microsoft YaHei"/>
              </a:defRPr>
            </a:pPr>
            <a:r>
              <a:rPr sz="2100" b="1">
                <a:solidFill>
                  <a:srgbClr val="1668A9"/>
                </a:solidFill>
                <a:latin typeface="Microsoft YaHei"/>
                <a:ea typeface="Microsoft YaHei"/>
                <a:cs typeface="Microsoft YaHei"/>
              </a:rPr>
              <a:t>联合优化目标</a:t>
            </a:r>
          </a:p>
        </p:txBody>
      </p:sp>
      <p:sp>
        <p:nvSpPr>
          <p:cNvPr id="10" name="">
            <a:extLst xmlns:a="http://schemas.openxmlformats.org/drawingml/2006/main">
              <a:ext uri="{FF2B5EF4-FFF2-40B4-BE49-F238E27FC236}">
                <a16:creationId xmlns:a16="http://schemas.microsoft.com/office/drawing/2014/main" id="{E82210F2-782E-4AE2-9FC6-753422041257}"/>
              </a:ext>
            </a:extLst>
          </p:cNvPr>
          <p:cNvSpPr>
            <a:spLocks xmlns:a="http://schemas.openxmlformats.org/drawingml/2006/main" noGrp="1"/>
          </p:cNvSpPr>
          <p:nvPr/>
        </p:nvSpPr>
        <p:spPr>
          <a:xfrm xmlns:a="http://schemas.openxmlformats.org/drawingml/2006/main">
            <a:off x="838200" y="6257925"/>
            <a:ext cx="13563600" cy="1047750"/>
          </a:xfrm>
          <a:prstGeom xmlns:a="http://schemas.openxmlformats.org/drawingml/2006/main" prst="roundRect">
            <a:avLst>
              <a:gd name="adj" fmla="val 9091"/>
            </a:avLst>
          </a:prstGeom>
          <a:solidFill xmlns:a="http://schemas.openxmlformats.org/drawingml/2006/main">
            <a:srgbClr val="EAF5FF"/>
          </a:solidFill>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ctr">
              <a:defRPr sz="2550" b="0">
                <a:solidFill>
                  <a:srgbClr val="0B2A53"/>
                </a:solidFill>
                <a:latin typeface="Cambria Math"/>
                <a:ea typeface="Cambria Math"/>
                <a:cs typeface="Cambria Math"/>
              </a:defRPr>
            </a:pPr>
            <a:r>
              <a:rPr sz="2550" b="0">
                <a:solidFill>
                  <a:srgbClr val="0B2A53"/>
                </a:solidFill>
                <a:latin typeface="Cambria Math"/>
                <a:ea typeface="Cambria Math"/>
                <a:cs typeface="Cambria Math"/>
              </a:rPr>
              <a:t>min J = wT·Jᵗⁱᵐᵉ + wE·Jᵉⁿᵉʳᵍʸ + wH·Jʰᵉᵃᵈʷᵃʸ + wS·Jˢᵃᶠᵉᵗʸ</a:t>
            </a:r>
          </a:p>
        </p:txBody>
      </p:sp>
      <p:sp>
        <p:nvSpPr>
          <p:cNvPr id="11" name="">
            <a:extLst xmlns:a="http://schemas.openxmlformats.org/drawingml/2006/main">
              <a:ext uri="{FF2B5EF4-FFF2-40B4-BE49-F238E27FC236}">
                <a16:creationId xmlns:a16="http://schemas.microsoft.com/office/drawing/2014/main" id="{A367FB3D-D35D-4874-A327-C1FE59951426}"/>
              </a:ext>
            </a:extLst>
          </p:cNvPr>
          <p:cNvSpPr>
            <a:spLocks xmlns:a="http://schemas.openxmlformats.org/drawingml/2006/main" noGrp="1"/>
          </p:cNvSpPr>
          <p:nvPr/>
        </p:nvSpPr>
        <p:spPr>
          <a:xfrm xmlns:a="http://schemas.openxmlformats.org/drawingml/2006/main">
            <a:off x="838200" y="7486650"/>
            <a:ext cx="13563600" cy="381000"/>
          </a:xfrm>
          <a:prstGeom xmlns:a="http://schemas.openxmlformats.org/drawingml/2006/main" prst="roundRect">
            <a:avLst>
              <a:gd name="adj" fmla="val 25000"/>
            </a:avLst>
          </a:prstGeom>
          <a:solidFill xmlns:a="http://schemas.openxmlformats.org/drawingml/2006/main">
            <a:srgbClr val="F4F7FA"/>
          </a:solidFill>
          <a:ln xmlns:a="http://schemas.openxmlformats.org/drawingml/2006/main" w="0">
            <a:noFill/>
            <a:prstDash val="solid"/>
          </a:ln>
        </p:spPr>
        <p:txBody>
          <a:bodyPr xmlns:a="http://schemas.openxmlformats.org/drawingml/2006/main" wrap="square" lIns="114300" tIns="57150" rIns="114300" bIns="57150" anchor="ctr">
            <a:normAutofit fontScale="100000"/>
          </a:bodyPr>
          <a:lstStyle xmlns:a="http://schemas.openxmlformats.org/drawingml/2006/main"/>
          <a:p xmlns:a="http://schemas.openxmlformats.org/drawingml/2006/main">
            <a:pPr algn="l">
              <a:defRPr sz="1125" b="0">
                <a:solidFill>
                  <a:srgbClr val="526579"/>
                </a:solidFill>
                <a:latin typeface="Cambria Math"/>
                <a:ea typeface="Cambria Math"/>
                <a:cs typeface="Cambria Math"/>
              </a:defRPr>
            </a:pPr>
            <a:r>
              <a:rPr sz="1125" b="0">
                <a:solidFill>
                  <a:srgbClr val="526579"/>
                </a:solidFill>
                <a:latin typeface="Cambria Math"/>
                <a:ea typeface="Cambria Math"/>
                <a:cs typeface="Cambria Math"/>
              </a:rPr>
              <a:t>LaTeX：\min J=w_TJ^{time}+w_EJ^{energy}+w_HJ^{headway}+w_SJ^{safety}</a:t>
            </a:r>
          </a:p>
        </p:txBody>
      </p:sp>
    </p:spTree>
    <p:extLst>
      <p:ext uri="{BB962C8B-B14F-4D97-AF65-F5344CB8AC3E}">
        <p14:creationId xmlns:p14="http://schemas.microsoft.com/office/powerpoint/2010/main" val="6701523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2026-09-27T07:50:07.7300000Z</dcterms:created>
  <dcterms:modified xsi:type="dcterms:W3CDTF">2026-09-27T07:50:07.7300000Z</dcterms:modified>
</coreProperties>
</file>