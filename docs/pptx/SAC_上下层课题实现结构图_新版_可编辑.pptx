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4e6f1b3c1b4ebf" /><Relationship Type="http://schemas.openxmlformats.org/officeDocument/2006/relationships/extended-properties" Target="/docProps/app.xml" Id="R207cb0f4c2e74cf1" /><Relationship Type="http://schemas.openxmlformats.org/officeDocument/2006/relationships/officeDocument" Target="/ppt/presentation.xml" Id="R1b61b56168094c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d806ac77574d54"/>
  </p:sldMasterIdLst>
  <p:notesMasterIdLst>
    <p:notesMasterId xmlns:r="http://schemas.openxmlformats.org/officeDocument/2006/relationships" r:id="R5e06d561b6c74bc9"/>
  </p:notesMasterIdLst>
  <p:sldIdLst>
    <p:sldId xmlns:r="http://schemas.openxmlformats.org/officeDocument/2006/relationships" id="256" r:id="R13c3976900bc491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571f07ec24485d" /><Relationship Type="http://schemas.openxmlformats.org/officeDocument/2006/relationships/slideMaster" Target="/ppt/slideMasters/slideMaster1.xml" Id="R2dd806ac77574d54" /><Relationship Type="http://schemas.openxmlformats.org/officeDocument/2006/relationships/notesMaster" Target="/ppt/notesMasters/notesMaster1.xml" Id="R5e06d561b6c74bc9" /><Relationship Type="http://schemas.openxmlformats.org/officeDocument/2006/relationships/presProps" Target="/ppt/presProps.xml" Id="R604f6eb02b3f40df" /><Relationship Type="http://schemas.openxmlformats.org/officeDocument/2006/relationships/tableStyles" Target="/ppt/tableStyles.xml" Id="R3e45066ae8dc438a" /><Relationship Type="http://schemas.openxmlformats.org/officeDocument/2006/relationships/slide" Target="/ppt/slides/slide1.xml" Id="R13c3976900bc49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1e118d43244e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e48e4a74d145ee" /><Relationship Type="http://schemas.openxmlformats.org/officeDocument/2006/relationships/notesMaster" Target="/ppt/notesMasters/notesMaster1.xml" Id="R3003f66c95b347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版结构图依据当前课题实现与用户确认内容重绘。上层采用状态、MAPPO模型、动作的统一层级；下层删除高斯采样等训练细节；阻力参数识别结果作为列车动力学模型输入。所有模块、文字和箭头均为可编辑原生PP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6cf6fa1fd49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e1e8c6324e490c" /><Relationship Type="http://schemas.openxmlformats.org/officeDocument/2006/relationships/slideLayout" Target="/ppt/slideLayouts/slideLayout1.xml" Id="R7e4298bba6e14f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4298bba6e14f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18523e4d740b7" /><Relationship Type="http://schemas.openxmlformats.org/officeDocument/2006/relationships/notesSlide" Target="/ppt/notesSlides/notesSlide1.xml" Id="R1018a4f7920f46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upper-MAPPO">
            <a:extLst xmlns:a="http://schemas.openxmlformats.org/drawingml/2006/main">
              <a:ext uri="{FF2B5EF4-FFF2-40B4-BE49-F238E27FC236}">
                <a16:creationId xmlns:a16="http://schemas.microsoft.com/office/drawing/2014/main" id="{7A1EADC5-B616-4E76-9D10-A2D522D5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1000"/>
            <a:ext cx="10572750" cy="2152650"/>
          </a:xfrm>
          <a:prstGeom xmlns:a="http://schemas.openxmlformats.org/drawingml/2006/main" prst="roundRect">
            <a:avLst>
              <a:gd name="adj" fmla="val 9735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DDEFFF"/>
              </a:gs>
            </a:gsLst>
            <a:lin ang="0"/>
          </a:gradFill>
          <a:ln xmlns:a="http://schemas.openxmlformats.org/drawingml/2006/main" w="38100">
            <a:solidFill>
              <a:srgbClr val="1368AA"/>
            </a:solidFill>
            <a:prstDash val="solid"/>
          </a:ln>
        </p:spPr>
      </p:sp>
      <p:sp>
        <p:nvSpPr>
          <p:cNvPr id="2" name="upper-header">
            <a:extLst xmlns:a="http://schemas.openxmlformats.org/drawingml/2006/main">
              <a:ext uri="{FF2B5EF4-FFF2-40B4-BE49-F238E27FC236}">
                <a16:creationId xmlns:a16="http://schemas.microsoft.com/office/drawing/2014/main" id="{687FDB2C-FA7D-4F65-9F2E-B6C6768C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19100"/>
            <a:ext cx="1049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EB68F-D459-4396-90B3-9C977E34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72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上层：多列车时刻表规划（MAPPO）</a:t>
            </a:r>
          </a:p>
        </p:txBody>
      </p:sp>
      <p:sp>
        <p:nvSpPr>
          <p:cNvPr id="4" name="上层观测状态">
            <a:extLst xmlns:a="http://schemas.openxmlformats.org/drawingml/2006/main">
              <a:ext uri="{FF2B5EF4-FFF2-40B4-BE49-F238E27FC236}">
                <a16:creationId xmlns:a16="http://schemas.microsoft.com/office/drawing/2014/main" id="{2BAB53EB-65AE-487C-9044-8435B8CE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00150"/>
            <a:ext cx="3371850" cy="1066800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5" name="上层观测状态-header">
            <a:extLst xmlns:a="http://schemas.openxmlformats.org/drawingml/2006/main">
              <a:ext uri="{FF2B5EF4-FFF2-40B4-BE49-F238E27FC236}">
                <a16:creationId xmlns:a16="http://schemas.microsoft.com/office/drawing/2014/main" id="{D670F6D3-C9DE-4C0C-A4DD-AF626056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上层观测状态-title">
            <a:extLst xmlns:a="http://schemas.openxmlformats.org/drawingml/2006/main">
              <a:ext uri="{FF2B5EF4-FFF2-40B4-BE49-F238E27FC236}">
                <a16:creationId xmlns:a16="http://schemas.microsoft.com/office/drawing/2014/main" id="{48ADA6E1-A9FC-42F5-B4DB-E7BFB9E8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219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上层观测状态</a:t>
            </a:r>
          </a:p>
        </p:txBody>
      </p:sp>
      <p:sp>
        <p:nvSpPr>
          <p:cNvPr id="7" name="上层观测状态-body">
            <a:extLst xmlns:a="http://schemas.openxmlformats.org/drawingml/2006/main">
              <a:ext uri="{FF2B5EF4-FFF2-40B4-BE49-F238E27FC236}">
                <a16:creationId xmlns:a16="http://schemas.microsoft.com/office/drawing/2014/main" id="{2CF61454-30E5-4EDF-BAC9-BCD22FB0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47825"/>
            <a:ext cx="318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8680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当前到发时刻、前后车间隔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供电分区与能量状态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上一站间运行反馈</a:t>
            </a:r>
          </a:p>
        </p:txBody>
      </p:sp>
      <p:sp>
        <p:nvSpPr>
          <p:cNvPr id="8" name="MAPPO决策模型">
            <a:extLst xmlns:a="http://schemas.openxmlformats.org/drawingml/2006/main">
              <a:ext uri="{FF2B5EF4-FFF2-40B4-BE49-F238E27FC236}">
                <a16:creationId xmlns:a16="http://schemas.microsoft.com/office/drawing/2014/main" id="{BA7B41FF-3775-444A-955D-80BE701D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00150"/>
            <a:ext cx="2381250" cy="1066800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9" name="MAPPO决策模型-header">
            <a:extLst xmlns:a="http://schemas.openxmlformats.org/drawingml/2006/main">
              <a:ext uri="{FF2B5EF4-FFF2-40B4-BE49-F238E27FC236}">
                <a16:creationId xmlns:a16="http://schemas.microsoft.com/office/drawing/2014/main" id="{6A91DB46-88BA-4AAE-A052-440CDFF0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21920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PPO决策模型-title">
            <a:extLst xmlns:a="http://schemas.openxmlformats.org/drawingml/2006/main">
              <a:ext uri="{FF2B5EF4-FFF2-40B4-BE49-F238E27FC236}">
                <a16:creationId xmlns:a16="http://schemas.microsoft.com/office/drawing/2014/main" id="{1CDAA11B-385A-4863-A5F9-1B2C5D3F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192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MAPPO决策模型</a:t>
            </a:r>
          </a:p>
        </p:txBody>
      </p:sp>
      <p:sp>
        <p:nvSpPr>
          <p:cNvPr id="11" name="MAPPO决策模型-body">
            <a:extLst xmlns:a="http://schemas.openxmlformats.org/drawingml/2006/main">
              <a:ext uri="{FF2B5EF4-FFF2-40B4-BE49-F238E27FC236}">
                <a16:creationId xmlns:a16="http://schemas.microsoft.com/office/drawing/2014/main" id="{190FDD2F-4398-4EBC-B1A8-23BDD278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478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分散 Actor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集中 Critic</a:t>
            </a:r>
          </a:p>
        </p:txBody>
      </p:sp>
      <p:sp>
        <p:nvSpPr>
          <p:cNvPr id="12" name="时刻表调整动作">
            <a:extLst xmlns:a="http://schemas.openxmlformats.org/drawingml/2006/main">
              <a:ext uri="{FF2B5EF4-FFF2-40B4-BE49-F238E27FC236}">
                <a16:creationId xmlns:a16="http://schemas.microsoft.com/office/drawing/2014/main" id="{F02C1E0B-DBF3-4865-967A-A532CEFF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200150"/>
            <a:ext cx="3333750" cy="1066800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13" name="时刻表调整动作-header">
            <a:extLst xmlns:a="http://schemas.openxmlformats.org/drawingml/2006/main">
              <a:ext uri="{FF2B5EF4-FFF2-40B4-BE49-F238E27FC236}">
                <a16:creationId xmlns:a16="http://schemas.microsoft.com/office/drawing/2014/main" id="{2F2D3676-F390-4F33-ABBA-3A2C8626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19200"/>
            <a:ext cx="3295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时刻表调整动作-title">
            <a:extLst xmlns:a="http://schemas.openxmlformats.org/drawingml/2006/main">
              <a:ext uri="{FF2B5EF4-FFF2-40B4-BE49-F238E27FC236}">
                <a16:creationId xmlns:a16="http://schemas.microsoft.com/office/drawing/2014/main" id="{FC476C9D-883D-4B0B-910C-16B178EC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1920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时刻表调整动作</a:t>
            </a:r>
          </a:p>
        </p:txBody>
      </p:sp>
      <p:sp>
        <p:nvSpPr>
          <p:cNvPr id="15" name="时刻表调整动作-body">
            <a:extLst xmlns:a="http://schemas.openxmlformats.org/drawingml/2006/main">
              <a:ext uri="{FF2B5EF4-FFF2-40B4-BE49-F238E27FC236}">
                <a16:creationId xmlns:a16="http://schemas.microsoft.com/office/drawing/2014/main" id="{FBEF6FB7-ACC5-49AB-9AA9-1C9F2E22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478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停站时间调整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形成新的发车时刻</a:t>
            </a:r>
          </a:p>
        </p:txBody>
      </p:sp>
      <p:cxnSp>
        <p:nvCxnSpPr>
          <p:cNvPr id="90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19800" y="17335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91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810625" y="17335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sp>
        <p:nvSpPr>
          <p:cNvPr id="18" name="dispatch-arrow">
            <a:extLst xmlns:a="http://schemas.openxmlformats.org/drawingml/2006/main">
              <a:ext uri="{FF2B5EF4-FFF2-40B4-BE49-F238E27FC236}">
                <a16:creationId xmlns:a16="http://schemas.microsoft.com/office/drawing/2014/main" id="{CC5F38E7-8ACE-4D77-922C-B2C6BBEC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552450" cy="1485900"/>
          </a:xfrm>
          <a:prstGeom xmlns:a="http://schemas.openxmlformats.org/drawingml/2006/main" prst="downArrow">
            <a:avLst/>
          </a:prstGeom>
          <a:gradFill xmlns:a="http://schemas.openxmlformats.org/drawingml/2006/main">
            <a:gsLst>
              <a:gs pos="0">
                <a:srgbClr val="53B8F5"/>
              </a:gs>
              <a:gs pos="100000">
                <a:srgbClr val="1B88D8"/>
              </a:gs>
            </a:gsLst>
            <a:lin ang="5400000"/>
          </a:gradFill>
          <a:ln xmlns:a="http://schemas.openxmlformats.org/drawingml/2006/main" w="9525">
            <a:gradFill>
              <a:gsLst>
                <a:gs pos="0">
                  <a:srgbClr val="53B8F5"/>
                </a:gs>
                <a:gs pos="100000">
                  <a:srgbClr val="1B88D8"/>
                </a:gs>
              </a:gsLst>
              <a:lin ang="5400000"/>
            </a:gradFill>
            <a:prstDash val="solid"/>
          </a:ln>
        </p:spPr>
      </p:sp>
      <p:sp>
        <p:nvSpPr>
          <p:cNvPr id="19" name="dispatch-label">
            <a:extLst xmlns:a="http://schemas.openxmlformats.org/drawingml/2006/main">
              <a:ext uri="{FF2B5EF4-FFF2-40B4-BE49-F238E27FC236}">
                <a16:creationId xmlns:a16="http://schemas.microsoft.com/office/drawing/2014/main" id="{BE0948BD-3758-4BB4-BDD3-CBC337D3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31051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4FAFF"/>
          </a:solidFill>
          <a:ln xmlns:a="http://schemas.openxmlformats.org/drawingml/2006/main" w="19050">
            <a:solidFill>
              <a:srgbClr val="2196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8E846-04CB-49F0-83B6-3B309E5C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81325"/>
            <a:ext cx="2876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下发</a:t>
            </a:r>
          </a:p>
          <a:p xmlns:a="http://schemas.openxmlformats.org/drawingml/2006/main">
            <a:pPr algn="l">
              <a:defRPr sz="13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目标站间运行时间、停站时间与发车约束</a:t>
            </a:r>
          </a:p>
        </p:txBody>
      </p:sp>
      <p:sp>
        <p:nvSpPr>
          <p:cNvPr id="21" name="feedback-arrow">
            <a:extLst xmlns:a="http://schemas.openxmlformats.org/drawingml/2006/main">
              <a:ext uri="{FF2B5EF4-FFF2-40B4-BE49-F238E27FC236}">
                <a16:creationId xmlns:a16="http://schemas.microsoft.com/office/drawing/2014/main" id="{D8AB2D68-CDBA-457A-9A05-F57C2B28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552450" cy="1447800"/>
          </a:xfrm>
          <a:prstGeom xmlns:a="http://schemas.openxmlformats.org/drawingml/2006/main" prst="upArrow">
            <a:avLst/>
          </a:prstGeom>
          <a:gradFill xmlns:a="http://schemas.openxmlformats.org/drawingml/2006/main">
            <a:gsLst>
              <a:gs pos="0">
                <a:srgbClr val="FFB15B"/>
              </a:gs>
              <a:gs pos="100000">
                <a:srgbClr val="F47B20"/>
              </a:gs>
            </a:gsLst>
            <a:lin ang="5400000"/>
          </a:gradFill>
          <a:ln xmlns:a="http://schemas.openxmlformats.org/drawingml/2006/main" w="9525">
            <a:gradFill>
              <a:gsLst>
                <a:gs pos="0">
                  <a:srgbClr val="FFB15B"/>
                </a:gs>
                <a:gs pos="100000">
                  <a:srgbClr val="F47B20"/>
                </a:gs>
              </a:gsLst>
              <a:lin ang="5400000"/>
            </a:gradFill>
            <a:prstDash val="solid"/>
          </a:ln>
        </p:spPr>
      </p:sp>
      <p:sp>
        <p:nvSpPr>
          <p:cNvPr id="22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17D0197D-C35C-4BC6-9631-1D38F639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31813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9050">
            <a:solidFill>
              <a:srgbClr val="F47B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48EEFD-0A3C-4968-A426-B90D4389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81325"/>
            <a:ext cx="295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  <a:p xmlns:a="http://schemas.openxmlformats.org/drawingml/2006/main">
            <a:pPr algn="l">
              <a:defRPr sz="135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实际运行时间、牵引/再生能量、可行性与安全指标</a:t>
            </a:r>
          </a:p>
        </p:txBody>
      </p:sp>
      <p:sp>
        <p:nvSpPr>
          <p:cNvPr id="24" name="lower-SAC">
            <a:extLst xmlns:a="http://schemas.openxmlformats.org/drawingml/2006/main">
              <a:ext uri="{FF2B5EF4-FFF2-40B4-BE49-F238E27FC236}">
                <a16:creationId xmlns:a16="http://schemas.microsoft.com/office/drawing/2014/main" id="{BCBE427A-766D-455B-985A-3A593005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11049000" cy="3810000"/>
          </a:xfrm>
          <a:prstGeom xmlns:a="http://schemas.openxmlformats.org/drawingml/2006/main" prst="roundRect">
            <a:avLst>
              <a:gd name="adj" fmla="val 5500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DDF8F2"/>
              </a:gs>
            </a:gsLst>
            <a:lin ang="0"/>
          </a:gradFill>
          <a:ln xmlns:a="http://schemas.openxmlformats.org/drawingml/2006/main" w="38100">
            <a:solidFill>
              <a:srgbClr val="07867F"/>
            </a:solidFill>
            <a:prstDash val="solid"/>
          </a:ln>
        </p:spPr>
      </p:sp>
      <p:sp>
        <p:nvSpPr>
          <p:cNvPr id="25" name="lower-header">
            <a:extLst xmlns:a="http://schemas.openxmlformats.org/drawingml/2006/main">
              <a:ext uri="{FF2B5EF4-FFF2-40B4-BE49-F238E27FC236}">
                <a16:creationId xmlns:a16="http://schemas.microsoft.com/office/drawing/2014/main" id="{63A2EBDF-C891-4C6E-B013-49800AD5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2435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0BCB4D-36F8-49EF-8ED2-CC1B1FF5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6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下层：共享 SAC 站间驾驶控制</a:t>
            </a:r>
          </a:p>
        </p:txBody>
      </p:sp>
      <p:sp>
        <p:nvSpPr>
          <p:cNvPr id="27" name="线路与列车环境">
            <a:extLst xmlns:a="http://schemas.openxmlformats.org/drawingml/2006/main">
              <a:ext uri="{FF2B5EF4-FFF2-40B4-BE49-F238E27FC236}">
                <a16:creationId xmlns:a16="http://schemas.microsoft.com/office/drawing/2014/main" id="{C7B736D5-D076-479C-8A92-1F320DE7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38750"/>
            <a:ext cx="1943100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28" name="线路与列车环境-header">
            <a:extLst xmlns:a="http://schemas.openxmlformats.org/drawingml/2006/main">
              <a:ext uri="{FF2B5EF4-FFF2-40B4-BE49-F238E27FC236}">
                <a16:creationId xmlns:a16="http://schemas.microsoft.com/office/drawing/2014/main" id="{C88FDB7C-F0B7-4055-9DC8-397A3E4A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5780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线路与列车环境-title">
            <a:extLst xmlns:a="http://schemas.openxmlformats.org/drawingml/2006/main">
              <a:ext uri="{FF2B5EF4-FFF2-40B4-BE49-F238E27FC236}">
                <a16:creationId xmlns:a16="http://schemas.microsoft.com/office/drawing/2014/main" id="{62F22B92-7840-4E16-975D-CB4D77F3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2578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线路与列车环境</a:t>
            </a:r>
          </a:p>
        </p:txBody>
      </p:sp>
      <p:sp>
        <p:nvSpPr>
          <p:cNvPr id="30" name="线路与列车环境-body">
            <a:extLst xmlns:a="http://schemas.openxmlformats.org/drawingml/2006/main">
              <a:ext uri="{FF2B5EF4-FFF2-40B4-BE49-F238E27FC236}">
                <a16:creationId xmlns:a16="http://schemas.microsoft.com/office/drawing/2014/main" id="{206D7179-82BD-4178-A5C4-793B5F53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05475"/>
            <a:ext cx="1752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坡度、曲线、限速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列车质量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牵引/制动特性</a:t>
            </a:r>
          </a:p>
        </p:txBody>
      </p:sp>
      <p:sp>
        <p:nvSpPr>
          <p:cNvPr id="31" name="状态空间">
            <a:extLst xmlns:a="http://schemas.openxmlformats.org/drawingml/2006/main">
              <a:ext uri="{FF2B5EF4-FFF2-40B4-BE49-F238E27FC236}">
                <a16:creationId xmlns:a16="http://schemas.microsoft.com/office/drawing/2014/main" id="{FE9DF015-27EF-42B7-B0F9-68A8757D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38750"/>
            <a:ext cx="1952625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32" name="状态空间-header">
            <a:extLst xmlns:a="http://schemas.openxmlformats.org/drawingml/2006/main">
              <a:ext uri="{FF2B5EF4-FFF2-40B4-BE49-F238E27FC236}">
                <a16:creationId xmlns:a16="http://schemas.microsoft.com/office/drawing/2014/main" id="{935260C4-74EF-4DC7-BEFE-141B4D45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57800"/>
            <a:ext cx="1914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状态空间-title">
            <a:extLst xmlns:a="http://schemas.openxmlformats.org/drawingml/2006/main">
              <a:ext uri="{FF2B5EF4-FFF2-40B4-BE49-F238E27FC236}">
                <a16:creationId xmlns:a16="http://schemas.microsoft.com/office/drawing/2014/main" id="{63A8DF78-2B0E-4BD2-A2C0-A3AF9571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257800"/>
            <a:ext cx="1819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状态空间</a:t>
            </a:r>
          </a:p>
        </p:txBody>
      </p:sp>
      <p:sp>
        <p:nvSpPr>
          <p:cNvPr id="34" name="状态空间-body">
            <a:extLst xmlns:a="http://schemas.openxmlformats.org/drawingml/2006/main">
              <a:ext uri="{FF2B5EF4-FFF2-40B4-BE49-F238E27FC236}">
                <a16:creationId xmlns:a16="http://schemas.microsoft.com/office/drawing/2014/main" id="{51FD6915-BDED-4F2D-ACCF-6763DD88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705475"/>
            <a:ext cx="1762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速度、运行时间、位置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上一时刻执行控制力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质量、所处站间</a:t>
            </a:r>
          </a:p>
        </p:txBody>
      </p:sp>
      <p:sp>
        <p:nvSpPr>
          <p:cNvPr id="35" name="SAC驾驶策略">
            <a:extLst xmlns:a="http://schemas.openxmlformats.org/drawingml/2006/main">
              <a:ext uri="{FF2B5EF4-FFF2-40B4-BE49-F238E27FC236}">
                <a16:creationId xmlns:a16="http://schemas.microsoft.com/office/drawing/2014/main" id="{5838114D-D656-4070-9DC9-53738A62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238750"/>
            <a:ext cx="2114550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36" name="SAC驾驶策略-header">
            <a:extLst xmlns:a="http://schemas.openxmlformats.org/drawingml/2006/main">
              <a:ext uri="{FF2B5EF4-FFF2-40B4-BE49-F238E27FC236}">
                <a16:creationId xmlns:a16="http://schemas.microsoft.com/office/drawing/2014/main" id="{35B72C97-8C0E-4F4F-8B75-A20E7686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578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AC驾驶策略-title">
            <a:extLst xmlns:a="http://schemas.openxmlformats.org/drawingml/2006/main">
              <a:ext uri="{FF2B5EF4-FFF2-40B4-BE49-F238E27FC236}">
                <a16:creationId xmlns:a16="http://schemas.microsoft.com/office/drawing/2014/main" id="{CF664314-46C8-4EA6-8F4F-2C17B43D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SAC驾驶策略</a:t>
            </a:r>
          </a:p>
        </p:txBody>
      </p:sp>
      <p:sp>
        <p:nvSpPr>
          <p:cNvPr id="38" name="SAC驾驶策略-body">
            <a:extLst xmlns:a="http://schemas.openxmlformats.org/drawingml/2006/main">
              <a:ext uri="{FF2B5EF4-FFF2-40B4-BE49-F238E27FC236}">
                <a16:creationId xmlns:a16="http://schemas.microsoft.com/office/drawing/2014/main" id="{09448220-225F-41C0-91D6-3D53DABF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705475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Actor</a:t>
            </a:r>
          </a:p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双 Critic</a:t>
            </a:r>
          </a:p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经验回放池</a:t>
            </a:r>
          </a:p>
        </p:txBody>
      </p:sp>
      <p:sp>
        <p:nvSpPr>
          <p:cNvPr id="39" name="连续控制动作">
            <a:extLst xmlns:a="http://schemas.openxmlformats.org/drawingml/2006/main">
              <a:ext uri="{FF2B5EF4-FFF2-40B4-BE49-F238E27FC236}">
                <a16:creationId xmlns:a16="http://schemas.microsoft.com/office/drawing/2014/main" id="{B2512BA4-0C61-4C15-8AF3-115E42E7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238750"/>
            <a:ext cx="1638300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40" name="连续控制动作-header">
            <a:extLst xmlns:a="http://schemas.openxmlformats.org/drawingml/2006/main">
              <a:ext uri="{FF2B5EF4-FFF2-40B4-BE49-F238E27FC236}">
                <a16:creationId xmlns:a16="http://schemas.microsoft.com/office/drawing/2014/main" id="{1DED4880-40F8-4D15-8FD5-5040A1C3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5780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连续控制动作-title">
            <a:extLst xmlns:a="http://schemas.openxmlformats.org/drawingml/2006/main">
              <a:ext uri="{FF2B5EF4-FFF2-40B4-BE49-F238E27FC236}">
                <a16:creationId xmlns:a16="http://schemas.microsoft.com/office/drawing/2014/main" id="{B54B9881-0EF6-4EA5-8E64-16CF73F5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578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连续控制动作</a:t>
            </a:r>
          </a:p>
        </p:txBody>
      </p:sp>
      <p:sp>
        <p:nvSpPr>
          <p:cNvPr id="42" name="连续控制动作-body">
            <a:extLst xmlns:a="http://schemas.openxmlformats.org/drawingml/2006/main">
              <a:ext uri="{FF2B5EF4-FFF2-40B4-BE49-F238E27FC236}">
                <a16:creationId xmlns:a16="http://schemas.microsoft.com/office/drawing/2014/main" id="{20FBFF83-74E0-4A8E-A2D2-D9A4FBF0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705475"/>
            <a:ext cx="144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 / 惰行 /</a:t>
            </a:r>
          </a:p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制动力比例</a:t>
            </a:r>
          </a:p>
        </p:txBody>
      </p:sp>
      <p:sp>
        <p:nvSpPr>
          <p:cNvPr id="43" name="安全执行层">
            <a:extLst xmlns:a="http://schemas.openxmlformats.org/drawingml/2006/main">
              <a:ext uri="{FF2B5EF4-FFF2-40B4-BE49-F238E27FC236}">
                <a16:creationId xmlns:a16="http://schemas.microsoft.com/office/drawing/2014/main" id="{5C16F836-3371-40B9-A353-6CC40A7F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238750"/>
            <a:ext cx="1981200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44" name="安全执行层-header">
            <a:extLst xmlns:a="http://schemas.openxmlformats.org/drawingml/2006/main">
              <a:ext uri="{FF2B5EF4-FFF2-40B4-BE49-F238E27FC236}">
                <a16:creationId xmlns:a16="http://schemas.microsoft.com/office/drawing/2014/main" id="{2E9AA07A-E706-4638-9AD7-6DD28610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52578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安全执行层-title">
            <a:extLst xmlns:a="http://schemas.openxmlformats.org/drawingml/2006/main">
              <a:ext uri="{FF2B5EF4-FFF2-40B4-BE49-F238E27FC236}">
                <a16:creationId xmlns:a16="http://schemas.microsoft.com/office/drawing/2014/main" id="{D9EE241E-CA0C-4D15-85C1-8335355C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2578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安全执行层</a:t>
            </a:r>
          </a:p>
        </p:txBody>
      </p:sp>
      <p:sp>
        <p:nvSpPr>
          <p:cNvPr id="46" name="安全执行层-body">
            <a:extLst xmlns:a="http://schemas.openxmlformats.org/drawingml/2006/main">
              <a:ext uri="{FF2B5EF4-FFF2-40B4-BE49-F238E27FC236}">
                <a16:creationId xmlns:a16="http://schemas.microsoft.com/office/drawing/2014/main" id="{447D1350-228E-4877-BAD2-FFCBBAC5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705475"/>
            <a:ext cx="1790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牵引/制动力、功率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加速度与限速约束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终点停车保护</a:t>
            </a:r>
          </a:p>
        </p:txBody>
      </p:sp>
      <p:cxnSp>
        <p:nvCxnSpPr>
          <p:cNvPr id="121" name=""/>
          <p:cNvCxnSpPr>
            <a:stCxn xmlns:a="http://schemas.openxmlformats.org/drawingml/2006/main" id="27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4286250" y="60293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867F"/>
            </a:solidFill>
            <a:prstDash val="solid"/>
            <a:tailEnd type="triangle" w="med" len="med"/>
          </a:ln>
        </p:spPr>
      </p:cxnSp>
      <p:cxnSp>
        <p:nvCxnSpPr>
          <p:cNvPr id="122" name=""/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6467475" y="60293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23" name=""/>
          <p:cNvCxnSpPr>
            <a:stCxn xmlns:a="http://schemas.openxmlformats.org/drawingml/2006/main" id="35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8810625" y="60293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24" name=""/>
          <p:cNvCxnSpPr>
            <a:stCxn xmlns:a="http://schemas.openxmlformats.org/drawingml/2006/main" id="39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0677525" y="60293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867F"/>
            </a:solidFill>
            <a:prstDash val="solid"/>
            <a:tailEnd type="triangle" w="med" len="med"/>
          </a:ln>
        </p:spPr>
      </p:cxnSp>
      <p:sp>
        <p:nvSpPr>
          <p:cNvPr id="51" name="train-dynamics">
            <a:extLst xmlns:a="http://schemas.openxmlformats.org/drawingml/2006/main">
              <a:ext uri="{FF2B5EF4-FFF2-40B4-BE49-F238E27FC236}">
                <a16:creationId xmlns:a16="http://schemas.microsoft.com/office/drawing/2014/main" id="{A0595486-5CCA-4A07-8006-1722B86E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162800"/>
            <a:ext cx="5619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4FFFC"/>
          </a:soli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BC71B2-57D7-456E-AA7A-8CFFF2BF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2009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列车纵向动力学模型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FEDE6D-47E3-4187-B006-B72AE2AB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4676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牵引/制动力 · Davis阻力 · 坡度阻力 · 曲线阻力</a:t>
            </a:r>
          </a:p>
        </p:txBody>
      </p:sp>
      <p:cxnSp>
        <p:nvCxnSpPr>
          <p:cNvPr id="128" name=""/>
          <p:cNvCxnSpPr>
            <a:stCxn xmlns:a="http://schemas.openxmlformats.org/drawingml/2006/main" id="43" idx="2"/>
            <a:endCxn xmlns:a="http://schemas.openxmlformats.org/drawingml/2006/main" id="51" idx="3"/>
          </p:cNvCxnSpPr>
          <p:nvPr/>
        </p:nvCxnSpPr>
        <p:spPr>
          <a:xfrm xmlns:a="http://schemas.openxmlformats.org/drawingml/2006/main" flipH="1">
            <a:off x="10239375" y="6819900"/>
            <a:ext cx="1657350" cy="6858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8575">
            <a:solidFill>
              <a:srgbClr val="07867F"/>
            </a:solidFill>
            <a:prstDash val="solid"/>
            <a:tailEnd type="triangle" w="med" len="med"/>
          </a:ln>
        </p:spPr>
      </p:cxnSp>
      <p:cxnSp>
        <p:nvCxnSpPr>
          <p:cNvPr id="129" name=""/>
          <p:cNvCxnSpPr>
            <a:stCxn xmlns:a="http://schemas.openxmlformats.org/drawingml/2006/main" id="51" idx="0"/>
            <a:endCxn xmlns:a="http://schemas.openxmlformats.org/drawingml/2006/main" id="31" idx="2"/>
          </p:cNvCxnSpPr>
          <p:nvPr/>
        </p:nvCxnSpPr>
        <p:spPr>
          <a:xfrm xmlns:a="http://schemas.openxmlformats.org/drawingml/2006/main" flipH="1" flipV="1">
            <a:off x="5491163" y="6819900"/>
            <a:ext cx="1938338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07867F"/>
            </a:solidFill>
            <a:prstDash val="solid"/>
            <a:tailEnd type="triangle" w="med" len="med"/>
          </a:ln>
        </p:spPr>
      </p:cxnSp>
      <p:cxnSp>
        <p:nvCxnSpPr>
          <p:cNvPr id="130" name=""/>
          <p:cNvCxnSpPr>
            <a:stCxn xmlns:a="http://schemas.openxmlformats.org/drawingml/2006/main" id="27" idx="2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3314700" y="6819900"/>
            <a:ext cx="1304925" cy="6858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07867F"/>
            </a:solidFill>
            <a:prstDash val="solid"/>
            <a:tailEnd type="triangle" w="med" len="med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A8B5FA-6CE6-4539-B940-35F827DA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267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6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867F"/>
                </a:solidFill>
                <a:latin typeface="Microsoft YaHei"/>
                <a:ea typeface="Microsoft YaHei"/>
                <a:cs typeface="Microsoft YaHei"/>
              </a:rPr>
              <a:t>更新速度、位置、时间与能耗</a:t>
            </a:r>
          </a:p>
        </p:txBody>
      </p:sp>
      <p:sp>
        <p:nvSpPr>
          <p:cNvPr id="58" name="foundation-data">
            <a:extLst xmlns:a="http://schemas.openxmlformats.org/drawingml/2006/main">
              <a:ext uri="{FF2B5EF4-FFF2-40B4-BE49-F238E27FC236}">
                <a16:creationId xmlns:a16="http://schemas.microsoft.com/office/drawing/2014/main" id="{20DDE406-B60A-446A-B0E1-1F894862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00375"/>
            <a:ext cx="1866900" cy="4857750"/>
          </a:xfrm>
          <a:prstGeom xmlns:a="http://schemas.openxmlformats.org/drawingml/2006/main" prst="roundRect">
            <a:avLst>
              <a:gd name="adj" fmla="val 8163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59" name="foundation-header">
            <a:extLst xmlns:a="http://schemas.openxmlformats.org/drawingml/2006/main">
              <a:ext uri="{FF2B5EF4-FFF2-40B4-BE49-F238E27FC236}">
                <a16:creationId xmlns:a16="http://schemas.microsoft.com/office/drawing/2014/main" id="{1E2E57AB-3AC0-43B5-B505-0E2DC98A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019425"/>
            <a:ext cx="1828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E51B729-6548-43A0-87FF-E29334EF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480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基础数据</a:t>
            </a:r>
          </a:p>
        </p:txBody>
      </p:sp>
      <p:sp>
        <p:nvSpPr>
          <p:cNvPr id="61" name="foundation-body">
            <a:extLst xmlns:a="http://schemas.openxmlformats.org/drawingml/2006/main">
              <a:ext uri="{FF2B5EF4-FFF2-40B4-BE49-F238E27FC236}">
                <a16:creationId xmlns:a16="http://schemas.microsoft.com/office/drawing/2014/main" id="{2EB525E9-844C-4776-A223-60105105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733800"/>
            <a:ext cx="1600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既有时刻表与运行数据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线路坡度、曲线、限速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列车质量与牵引/制动特性</a:t>
            </a:r>
          </a:p>
        </p:txBody>
      </p:sp>
      <p:sp>
        <p:nvSpPr>
          <p:cNvPr id="62" name="identified-resistance">
            <a:extLst xmlns:a="http://schemas.openxmlformats.org/drawingml/2006/main">
              <a:ext uri="{FF2B5EF4-FFF2-40B4-BE49-F238E27FC236}">
                <a16:creationId xmlns:a16="http://schemas.microsoft.com/office/drawing/2014/main" id="{CFD8CEA5-5171-4948-AE6C-43465ED8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74370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9050">
            <a:solidFill>
              <a:srgbClr val="F47B2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E84319-06B0-4AA7-8882-9B8588A8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800850"/>
            <a:ext cx="1485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阻力参数识别结果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04D8A8-44D6-451C-B896-8571D1C1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1247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Davis A、B、C</a:t>
            </a:r>
          </a:p>
        </p:txBody>
      </p:sp>
      <p:sp>
        <p:nvSpPr>
          <p:cNvPr id="65" name="优化结果">
            <a:extLst xmlns:a="http://schemas.openxmlformats.org/drawingml/2006/main">
              <a:ext uri="{FF2B5EF4-FFF2-40B4-BE49-F238E27FC236}">
                <a16:creationId xmlns:a16="http://schemas.microsoft.com/office/drawing/2014/main" id="{D84C30B2-B79B-4815-B722-2FECE38F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3143250"/>
            <a:ext cx="1847850" cy="2476500"/>
          </a:xfrm>
          <a:prstGeom xmlns:a="http://schemas.openxmlformats.org/drawingml/2006/main" prst="roundRect">
            <a:avLst>
              <a:gd name="adj" fmla="val 7216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66" name="优化结果-header">
            <a:extLst xmlns:a="http://schemas.openxmlformats.org/drawingml/2006/main">
              <a:ext uri="{FF2B5EF4-FFF2-40B4-BE49-F238E27FC236}">
                <a16:creationId xmlns:a16="http://schemas.microsoft.com/office/drawing/2014/main" id="{24DA486C-8E65-4A95-AFF4-4A854B10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1623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优化结果-title">
            <a:extLst xmlns:a="http://schemas.openxmlformats.org/drawingml/2006/main">
              <a:ext uri="{FF2B5EF4-FFF2-40B4-BE49-F238E27FC236}">
                <a16:creationId xmlns:a16="http://schemas.microsoft.com/office/drawing/2014/main" id="{62B0D2D9-D938-4AA8-BE1D-36FE7155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31623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优化结果</a:t>
            </a:r>
          </a:p>
        </p:txBody>
      </p:sp>
      <p:sp>
        <p:nvSpPr>
          <p:cNvPr id="68" name="优化结果-body">
            <a:extLst xmlns:a="http://schemas.openxmlformats.org/drawingml/2006/main">
              <a:ext uri="{FF2B5EF4-FFF2-40B4-BE49-F238E27FC236}">
                <a16:creationId xmlns:a16="http://schemas.microsoft.com/office/drawing/2014/main" id="{7650E576-3A89-4823-960F-864F72CD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686175"/>
            <a:ext cx="1657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优化时刻表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（发车时间）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牵引能耗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再生制动利用率</a:t>
            </a:r>
          </a:p>
        </p:txBody>
      </p:sp>
      <p:cxnSp>
        <p:nvCxnSpPr>
          <p:cNvPr id="143" name=""/>
          <p:cNvCxnSpPr>
            <a:stCxn xmlns:a="http://schemas.openxmlformats.org/drawingml/2006/main" id="58" idx="0"/>
            <a:endCxn xmlns:a="http://schemas.openxmlformats.org/drawingml/2006/main" id="1" idx="1"/>
          </p:cNvCxnSpPr>
          <p:nvPr/>
        </p:nvCxnSpPr>
        <p:spPr>
          <a:xfrm xmlns:a="http://schemas.openxmlformats.org/drawingml/2006/main" flipV="1">
            <a:off x="1028700" y="1457325"/>
            <a:ext cx="1304925" cy="1543050"/>
          </a:xfrm>
          <a:prstGeom xmlns:a="http://schemas.openxmlformats.org/drawingml/2006/main" prst="bentConnector5">
            <a:avLst>
              <a:gd name="adj1" fmla="val 0"/>
              <a:gd name="adj2" fmla="val 14815"/>
              <a:gd name="adj3" fmla="val 82482"/>
            </a:avLst>
          </a:prstGeom>
          <a:ln xmlns:a="http://schemas.openxmlformats.org/drawingml/2006/main" w="38100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44" name=""/>
          <p:cNvCxnSpPr>
            <a:stCxn xmlns:a="http://schemas.openxmlformats.org/drawingml/2006/main" id="58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962150" y="5429250"/>
            <a:ext cx="38100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45" name=""/>
          <p:cNvCxnSpPr>
            <a:stCxn xmlns:a="http://schemas.openxmlformats.org/drawingml/2006/main" id="62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1838325" y="7181850"/>
            <a:ext cx="27813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7B20"/>
            </a:solidFill>
            <a:prstDash val="solid"/>
            <a:tailEnd type="triangle" w="med" len="me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8213DD-A41F-4025-87BD-024A212A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9342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识别参数输入动力学模型</a:t>
            </a:r>
          </a:p>
        </p:txBody>
      </p:sp>
      <p:cxnSp>
        <p:nvCxnSpPr>
          <p:cNvPr id="147" name=""/>
          <p:cNvCxnSpPr>
            <a:stCxn xmlns:a="http://schemas.openxmlformats.org/drawingml/2006/main" id="1" idx="3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12906375" y="1457325"/>
            <a:ext cx="1295400" cy="1685925"/>
          </a:xfrm>
          <a:prstGeom xmlns:a="http://schemas.openxmlformats.org/drawingml/2006/main" prst="bentConnector2">
            <a:avLst/>
          </a:prstGeom>
          <a:ln xmlns:a="http://schemas.openxmlformats.org/drawingml/2006/main" w="38100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48" name=""/>
          <p:cNvCxnSpPr>
            <a:stCxn xmlns:a="http://schemas.openxmlformats.org/drawingml/2006/main" id="51" idx="3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10239375" y="5619750"/>
            <a:ext cx="3962400" cy="1885950"/>
          </a:xfrm>
          <a:prstGeom xmlns:a="http://schemas.openxmlformats.org/drawingml/2006/main" prst="bentConnector2">
            <a:avLst/>
          </a:prstGeom>
          <a:ln xmlns:a="http://schemas.openxmlformats.org/drawingml/2006/main" w="38100">
            <a:solidFill>
              <a:srgbClr val="1368AA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68458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2026-09-27T09:22:38.9710000Z</dcterms:created>
  <dcterms:modified xsi:type="dcterms:W3CDTF">2026-09-27T09:22:38.9710000Z</dcterms:modified>
</coreProperties>
</file>