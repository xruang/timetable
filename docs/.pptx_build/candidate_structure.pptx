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c760216d304262" /><Relationship Type="http://schemas.openxmlformats.org/officeDocument/2006/relationships/extended-properties" Target="/docProps/app.xml" Id="R84167caec61b4869" /><Relationship Type="http://schemas.openxmlformats.org/officeDocument/2006/relationships/officeDocument" Target="/ppt/presentation.xml" Id="Ra4a047fae61f49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01f6803bce4ef4"/>
  </p:sldMasterIdLst>
  <p:notesMasterIdLst>
    <p:notesMasterId xmlns:r="http://schemas.openxmlformats.org/officeDocument/2006/relationships" r:id="Rcae163b8c2e340c1"/>
  </p:notesMasterIdLst>
  <p:sldIdLst>
    <p:sldId xmlns:r="http://schemas.openxmlformats.org/officeDocument/2006/relationships" id="256" r:id="R091f5a0c368c491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750f876d54438a" /><Relationship Type="http://schemas.openxmlformats.org/officeDocument/2006/relationships/slideMaster" Target="/ppt/slideMasters/slideMaster1.xml" Id="Rb301f6803bce4ef4" /><Relationship Type="http://schemas.openxmlformats.org/officeDocument/2006/relationships/notesMaster" Target="/ppt/notesMasters/notesMaster1.xml" Id="Rcae163b8c2e340c1" /><Relationship Type="http://schemas.openxmlformats.org/officeDocument/2006/relationships/presProps" Target="/ppt/presProps.xml" Id="R53cd2991240f41d2" /><Relationship Type="http://schemas.openxmlformats.org/officeDocument/2006/relationships/tableStyles" Target="/ppt/tableStyles.xml" Id="R8f6f2e8e131342bd" /><Relationship Type="http://schemas.openxmlformats.org/officeDocument/2006/relationships/slide" Target="/ppt/slides/slide1.xml" Id="R091f5a0c368c49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683854eea34c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a85aa3cbb94b73" /><Relationship Type="http://schemas.openxmlformats.org/officeDocument/2006/relationships/notesMaster" Target="/ppt/notesMasters/notesMaster1.xml" Id="R50131b7be20d4d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根据用户提供的 SAC_上下层课题实现结构图.png 重建。所有模块、文字和箭头均为可编辑原生PPT对象。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efcd68c5f147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63dcc0a9d4427c" /><Relationship Type="http://schemas.openxmlformats.org/officeDocument/2006/relationships/slideLayout" Target="/ppt/slideLayouts/slideLayout1.xml" Id="R74f52e6bd2be46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f52e6bd2be46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040434c6b4108" /><Relationship Type="http://schemas.openxmlformats.org/officeDocument/2006/relationships/notesSlide" Target="/ppt/notesSlides/notesSlide1.xml" Id="R182bb1b8938545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upper-MAPPO">
            <a:extLst xmlns:a="http://schemas.openxmlformats.org/drawingml/2006/main">
              <a:ext uri="{FF2B5EF4-FFF2-40B4-BE49-F238E27FC236}">
                <a16:creationId xmlns:a16="http://schemas.microsoft.com/office/drawing/2014/main" id="{808F591F-2EB0-44B6-8323-55CF6716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"/>
            <a:ext cx="10287000" cy="2095500"/>
          </a:xfrm>
          <a:prstGeom xmlns:a="http://schemas.openxmlformats.org/drawingml/2006/main" prst="roundRect">
            <a:avLst>
              <a:gd name="adj" fmla="val 10000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DDEFFF"/>
              </a:gs>
            </a:gsLst>
            <a:lin ang="0"/>
          </a:gradFill>
          <a:ln xmlns:a="http://schemas.openxmlformats.org/drawingml/2006/main" w="38100">
            <a:solidFill>
              <a:srgbClr val="1368AA"/>
            </a:solidFill>
            <a:prstDash val="solid"/>
          </a:ln>
        </p:spPr>
      </p:sp>
      <p:sp>
        <p:nvSpPr>
          <p:cNvPr id="2" name="upper-header">
            <a:extLst xmlns:a="http://schemas.openxmlformats.org/drawingml/2006/main">
              <a:ext uri="{FF2B5EF4-FFF2-40B4-BE49-F238E27FC236}">
                <a16:creationId xmlns:a16="http://schemas.microsoft.com/office/drawing/2014/main" id="{2156134C-B85B-41D2-849F-22A2F1BC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3400"/>
            <a:ext cx="10210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3767C-352C-4688-BF9E-7F8FFB22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15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上层：多列车时刻表规划（MAPPO）</a:t>
            </a:r>
          </a:p>
        </p:txBody>
      </p:sp>
      <p:sp>
        <p:nvSpPr>
          <p:cNvPr id="4" name="多列车智能体">
            <a:extLst xmlns:a="http://schemas.openxmlformats.org/drawingml/2006/main">
              <a:ext uri="{FF2B5EF4-FFF2-40B4-BE49-F238E27FC236}">
                <a16:creationId xmlns:a16="http://schemas.microsoft.com/office/drawing/2014/main" id="{4A4A1AE8-7E11-4E64-BC53-1BE24B2D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304925"/>
            <a:ext cx="2724150" cy="990600"/>
          </a:xfrm>
          <a:prstGeom xmlns:a="http://schemas.openxmlformats.org/drawingml/2006/main" prst="roundRect">
            <a:avLst>
              <a:gd name="adj" fmla="val 13462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5" name="多列车智能体-header">
            <a:extLst xmlns:a="http://schemas.openxmlformats.org/drawingml/2006/main">
              <a:ext uri="{FF2B5EF4-FFF2-40B4-BE49-F238E27FC236}">
                <a16:creationId xmlns:a16="http://schemas.microsoft.com/office/drawing/2014/main" id="{00FCDFA8-F4F4-4E55-87E0-ABF6526C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23975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多列车智能体-title">
            <a:extLst xmlns:a="http://schemas.openxmlformats.org/drawingml/2006/main">
              <a:ext uri="{FF2B5EF4-FFF2-40B4-BE49-F238E27FC236}">
                <a16:creationId xmlns:a16="http://schemas.microsoft.com/office/drawing/2014/main" id="{382D15C3-DEEE-47F2-8D1A-92BE8F02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3239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多列车智能体</a:t>
            </a:r>
          </a:p>
        </p:txBody>
      </p:sp>
      <p:sp>
        <p:nvSpPr>
          <p:cNvPr id="7" name="多列车智能体-body">
            <a:extLst xmlns:a="http://schemas.openxmlformats.org/drawingml/2006/main">
              <a:ext uri="{FF2B5EF4-FFF2-40B4-BE49-F238E27FC236}">
                <a16:creationId xmlns:a16="http://schemas.microsoft.com/office/drawing/2014/main" id="{9A27F8FC-F5A1-441A-BA8E-DF9B620E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7165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独立 Actor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集中 Critic</a:t>
            </a:r>
          </a:p>
        </p:txBody>
      </p:sp>
      <p:sp>
        <p:nvSpPr>
          <p:cNvPr id="8" name="时刻表状态">
            <a:extLst xmlns:a="http://schemas.openxmlformats.org/drawingml/2006/main">
              <a:ext uri="{FF2B5EF4-FFF2-40B4-BE49-F238E27FC236}">
                <a16:creationId xmlns:a16="http://schemas.microsoft.com/office/drawing/2014/main" id="{2BA8E5C2-CA79-4C92-8333-C341C272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304925"/>
            <a:ext cx="3429000" cy="990600"/>
          </a:xfrm>
          <a:prstGeom xmlns:a="http://schemas.openxmlformats.org/drawingml/2006/main" prst="roundRect">
            <a:avLst>
              <a:gd name="adj" fmla="val 13462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9" name="时刻表状态-header">
            <a:extLst xmlns:a="http://schemas.openxmlformats.org/drawingml/2006/main">
              <a:ext uri="{FF2B5EF4-FFF2-40B4-BE49-F238E27FC236}">
                <a16:creationId xmlns:a16="http://schemas.microsoft.com/office/drawing/2014/main" id="{D26364FB-E772-4D4C-9E34-BA7828E7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323975"/>
            <a:ext cx="3390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时刻表状态-title">
            <a:extLst xmlns:a="http://schemas.openxmlformats.org/drawingml/2006/main">
              <a:ext uri="{FF2B5EF4-FFF2-40B4-BE49-F238E27FC236}">
                <a16:creationId xmlns:a16="http://schemas.microsoft.com/office/drawing/2014/main" id="{03CDE110-1E67-496A-91A1-64B5A644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323975"/>
            <a:ext cx="3295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时刻表状态</a:t>
            </a:r>
          </a:p>
        </p:txBody>
      </p:sp>
      <p:sp>
        <p:nvSpPr>
          <p:cNvPr id="11" name="时刻表状态-body">
            <a:extLst xmlns:a="http://schemas.openxmlformats.org/drawingml/2006/main">
              <a:ext uri="{FF2B5EF4-FFF2-40B4-BE49-F238E27FC236}">
                <a16:creationId xmlns:a16="http://schemas.microsoft.com/office/drawing/2014/main" id="{8E869A91-5816-4785-9413-73D38EE2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77165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发车 / 到达 / 追踪间隔 / 供电分区</a:t>
            </a:r>
          </a:p>
        </p:txBody>
      </p:sp>
      <p:sp>
        <p:nvSpPr>
          <p:cNvPr id="12" name="上层动作">
            <a:extLst xmlns:a="http://schemas.openxmlformats.org/drawingml/2006/main">
              <a:ext uri="{FF2B5EF4-FFF2-40B4-BE49-F238E27FC236}">
                <a16:creationId xmlns:a16="http://schemas.microsoft.com/office/drawing/2014/main" id="{1C4ECE51-3E89-4B9F-99CB-EC99B226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04925"/>
            <a:ext cx="3048000" cy="990600"/>
          </a:xfrm>
          <a:prstGeom xmlns:a="http://schemas.openxmlformats.org/drawingml/2006/main" prst="roundRect">
            <a:avLst>
              <a:gd name="adj" fmla="val 13462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13" name="上层动作-header">
            <a:extLst xmlns:a="http://schemas.openxmlformats.org/drawingml/2006/main">
              <a:ext uri="{FF2B5EF4-FFF2-40B4-BE49-F238E27FC236}">
                <a16:creationId xmlns:a16="http://schemas.microsoft.com/office/drawing/2014/main" id="{19E84163-BCDB-496A-89F8-69FE666D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323975"/>
            <a:ext cx="3009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上层动作-title">
            <a:extLst xmlns:a="http://schemas.openxmlformats.org/drawingml/2006/main">
              <a:ext uri="{FF2B5EF4-FFF2-40B4-BE49-F238E27FC236}">
                <a16:creationId xmlns:a16="http://schemas.microsoft.com/office/drawing/2014/main" id="{A4387D34-1FB5-4656-BD6A-CDFAD5CA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32397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上层动作</a:t>
            </a:r>
          </a:p>
        </p:txBody>
      </p:sp>
      <p:sp>
        <p:nvSpPr>
          <p:cNvPr id="15" name="上层动作-body">
            <a:extLst xmlns:a="http://schemas.openxmlformats.org/drawingml/2006/main">
              <a:ext uri="{FF2B5EF4-FFF2-40B4-BE49-F238E27FC236}">
                <a16:creationId xmlns:a16="http://schemas.microsoft.com/office/drawing/2014/main" id="{6293046F-B422-4DE4-AAE8-A67C19AE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7165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站间运行时间调整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停站时间调整</a:t>
            </a:r>
          </a:p>
        </p:txBody>
      </p:sp>
      <p:sp>
        <p:nvSpPr>
          <p:cNvPr id="16" name="dispatch-arrow">
            <a:extLst xmlns:a="http://schemas.openxmlformats.org/drawingml/2006/main">
              <a:ext uri="{FF2B5EF4-FFF2-40B4-BE49-F238E27FC236}">
                <a16:creationId xmlns:a16="http://schemas.microsoft.com/office/drawing/2014/main" id="{052F733A-B744-45B9-AB28-347F7B67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24150"/>
            <a:ext cx="571500" cy="1562100"/>
          </a:xfrm>
          <a:prstGeom xmlns:a="http://schemas.openxmlformats.org/drawingml/2006/main" prst="downArrow">
            <a:avLst/>
          </a:prstGeom>
          <a:gradFill xmlns:a="http://schemas.openxmlformats.org/drawingml/2006/main">
            <a:gsLst>
              <a:gs pos="0">
                <a:srgbClr val="53B8F5"/>
              </a:gs>
              <a:gs pos="100000">
                <a:srgbClr val="1B88D8"/>
              </a:gs>
            </a:gsLst>
            <a:lin ang="5400000"/>
          </a:gradFill>
          <a:ln xmlns:a="http://schemas.openxmlformats.org/drawingml/2006/main" w="9525">
            <a:gradFill>
              <a:gsLst>
                <a:gs pos="0">
                  <a:srgbClr val="53B8F5"/>
                </a:gs>
                <a:gs pos="100000">
                  <a:srgbClr val="1B88D8"/>
                </a:gs>
              </a:gsLst>
              <a:lin ang="5400000"/>
            </a:gradFill>
            <a:prstDash val="solid"/>
          </a:ln>
        </p:spPr>
      </p:sp>
      <p:sp>
        <p:nvSpPr>
          <p:cNvPr id="17" name="dispatch-label">
            <a:extLst xmlns:a="http://schemas.openxmlformats.org/drawingml/2006/main">
              <a:ext uri="{FF2B5EF4-FFF2-40B4-BE49-F238E27FC236}">
                <a16:creationId xmlns:a16="http://schemas.microsoft.com/office/drawing/2014/main" id="{E339B1AB-B7C2-4FA5-B1A9-D3728F01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09900"/>
            <a:ext cx="2952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4FAFF"/>
          </a:solidFill>
          <a:ln xmlns:a="http://schemas.openxmlformats.org/drawingml/2006/main" w="19050">
            <a:solidFill>
              <a:srgbClr val="2196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94BAAA-9F4D-49D7-B055-0111FBCE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86100"/>
            <a:ext cx="276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950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下发</a:t>
            </a:r>
          </a:p>
          <a:p xmlns:a="http://schemas.openxmlformats.org/drawingml/2006/main">
            <a:pPr algn="l">
              <a:defRPr sz="14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目标站间运行时间、停站时间、发车约束</a:t>
            </a:r>
          </a:p>
        </p:txBody>
      </p:sp>
      <p:sp>
        <p:nvSpPr>
          <p:cNvPr id="19" name="feedback-arrow">
            <a:extLst xmlns:a="http://schemas.openxmlformats.org/drawingml/2006/main">
              <a:ext uri="{FF2B5EF4-FFF2-40B4-BE49-F238E27FC236}">
                <a16:creationId xmlns:a16="http://schemas.microsoft.com/office/drawing/2014/main" id="{98A62A4B-FDC9-4D85-A31C-114748BF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571500" cy="1504950"/>
          </a:xfrm>
          <a:prstGeom xmlns:a="http://schemas.openxmlformats.org/drawingml/2006/main" prst="upArrow">
            <a:avLst/>
          </a:prstGeom>
          <a:gradFill xmlns:a="http://schemas.openxmlformats.org/drawingml/2006/main">
            <a:gsLst>
              <a:gs pos="0">
                <a:srgbClr val="FFB15B"/>
              </a:gs>
              <a:gs pos="100000">
                <a:srgbClr val="F47B20"/>
              </a:gs>
            </a:gsLst>
            <a:lin ang="5400000"/>
          </a:gradFill>
          <a:ln xmlns:a="http://schemas.openxmlformats.org/drawingml/2006/main" w="9525">
            <a:gradFill>
              <a:gsLst>
                <a:gs pos="0">
                  <a:srgbClr val="FFB15B"/>
                </a:gs>
                <a:gs pos="100000">
                  <a:srgbClr val="F47B20"/>
                </a:gs>
              </a:gsLst>
              <a:lin ang="5400000"/>
            </a:gradFill>
            <a:prstDash val="solid"/>
          </a:ln>
        </p:spPr>
      </p:sp>
      <p:sp>
        <p:nvSpPr>
          <p:cNvPr id="20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A289409A-77D4-40AA-B6E3-7AAB820F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09900"/>
            <a:ext cx="2952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9050">
            <a:solidFill>
              <a:srgbClr val="F47B2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8E43F9-DC46-42C8-8274-DF15E3BE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86100"/>
            <a:ext cx="276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950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  <a:p xmlns:a="http://schemas.openxmlformats.org/drawingml/2006/main">
            <a:pPr algn="l">
              <a:defRPr sz="142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实际运行时间、能耗、可行性、安全指标</a:t>
            </a:r>
          </a:p>
        </p:txBody>
      </p:sp>
      <p:sp>
        <p:nvSpPr>
          <p:cNvPr id="22" name="lower-SAC">
            <a:extLst xmlns:a="http://schemas.openxmlformats.org/drawingml/2006/main">
              <a:ext uri="{FF2B5EF4-FFF2-40B4-BE49-F238E27FC236}">
                <a16:creationId xmlns:a16="http://schemas.microsoft.com/office/drawing/2014/main" id="{ED56137D-9D54-46F7-B732-1A0C8CCE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19600"/>
            <a:ext cx="10668000" cy="3562350"/>
          </a:xfrm>
          <a:prstGeom xmlns:a="http://schemas.openxmlformats.org/drawingml/2006/main" prst="roundRect">
            <a:avLst>
              <a:gd name="adj" fmla="val 5882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DDF8F2"/>
              </a:gs>
            </a:gsLst>
            <a:lin ang="0"/>
          </a:gradFill>
          <a:ln xmlns:a="http://schemas.openxmlformats.org/drawingml/2006/main" w="38100">
            <a:solidFill>
              <a:srgbClr val="07867F"/>
            </a:solidFill>
            <a:prstDash val="solid"/>
          </a:ln>
        </p:spPr>
      </p:sp>
      <p:sp>
        <p:nvSpPr>
          <p:cNvPr id="23" name="lower-header">
            <a:extLst xmlns:a="http://schemas.openxmlformats.org/drawingml/2006/main">
              <a:ext uri="{FF2B5EF4-FFF2-40B4-BE49-F238E27FC236}">
                <a16:creationId xmlns:a16="http://schemas.microsoft.com/office/drawing/2014/main" id="{C93F31F7-E391-4C43-B1CB-FDCA891D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57700"/>
            <a:ext cx="10591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A9F68A-3B16-4793-B329-CE48B753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958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下层：共享 SAC 站间驾驶控制</a:t>
            </a:r>
          </a:p>
        </p:txBody>
      </p:sp>
      <p:sp>
        <p:nvSpPr>
          <p:cNvPr id="25" name="16维状态">
            <a:extLst xmlns:a="http://schemas.openxmlformats.org/drawingml/2006/main">
              <a:ext uri="{FF2B5EF4-FFF2-40B4-BE49-F238E27FC236}">
                <a16:creationId xmlns:a16="http://schemas.microsoft.com/office/drawing/2014/main" id="{25046D65-AAE4-4976-9F66-E14E0F9D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314950"/>
            <a:ext cx="1857375" cy="1581150"/>
          </a:xfrm>
          <a:prstGeom xmlns:a="http://schemas.openxmlformats.org/drawingml/2006/main" prst="roundRect">
            <a:avLst>
              <a:gd name="adj" fmla="val 843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AF7"/>
              </a:gs>
            </a:gsLst>
            <a:lin ang="0"/>
          </a:gradFill>
          <a:ln xmlns:a="http://schemas.openxmlformats.org/drawingml/2006/main" w="19050">
            <a:solidFill>
              <a:srgbClr val="07867F"/>
            </a:solidFill>
            <a:prstDash val="solid"/>
          </a:ln>
        </p:spPr>
      </p:sp>
      <p:sp>
        <p:nvSpPr>
          <p:cNvPr id="26" name="16维状态-header">
            <a:extLst xmlns:a="http://schemas.openxmlformats.org/drawingml/2006/main">
              <a:ext uri="{FF2B5EF4-FFF2-40B4-BE49-F238E27FC236}">
                <a16:creationId xmlns:a16="http://schemas.microsoft.com/office/drawing/2014/main" id="{02FEFBBB-632E-49F7-B834-B49954E8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34000"/>
            <a:ext cx="18192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16维状态-title">
            <a:extLst xmlns:a="http://schemas.openxmlformats.org/drawingml/2006/main">
              <a:ext uri="{FF2B5EF4-FFF2-40B4-BE49-F238E27FC236}">
                <a16:creationId xmlns:a16="http://schemas.microsoft.com/office/drawing/2014/main" id="{E350DC7B-8CAA-403E-A6DB-C3E238CB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334000"/>
            <a:ext cx="1724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16维状态</a:t>
            </a:r>
          </a:p>
        </p:txBody>
      </p:sp>
      <p:sp>
        <p:nvSpPr>
          <p:cNvPr id="28" name="16维状态-body">
            <a:extLst xmlns:a="http://schemas.openxmlformats.org/drawingml/2006/main">
              <a:ext uri="{FF2B5EF4-FFF2-40B4-BE49-F238E27FC236}">
                <a16:creationId xmlns:a16="http://schemas.microsoft.com/office/drawing/2014/main" id="{49B33336-C64D-4530-89C7-F37087FE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800725"/>
            <a:ext cx="16287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速度、位置、时刻偏差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载重、坡度、限速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方向、站间编号</a:t>
            </a:r>
          </a:p>
        </p:txBody>
      </p:sp>
      <p:sp>
        <p:nvSpPr>
          <p:cNvPr id="29" name="SAC Actor">
            <a:extLst xmlns:a="http://schemas.openxmlformats.org/drawingml/2006/main">
              <a:ext uri="{FF2B5EF4-FFF2-40B4-BE49-F238E27FC236}">
                <a16:creationId xmlns:a16="http://schemas.microsoft.com/office/drawing/2014/main" id="{4CA9835F-0372-47C1-BABA-75BF6C14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314950"/>
            <a:ext cx="2133600" cy="1581150"/>
          </a:xfrm>
          <a:prstGeom xmlns:a="http://schemas.openxmlformats.org/drawingml/2006/main" prst="roundRect">
            <a:avLst>
              <a:gd name="adj" fmla="val 843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30" name="SAC Actor-header">
            <a:extLst xmlns:a="http://schemas.openxmlformats.org/drawingml/2006/main">
              <a:ext uri="{FF2B5EF4-FFF2-40B4-BE49-F238E27FC236}">
                <a16:creationId xmlns:a16="http://schemas.microsoft.com/office/drawing/2014/main" id="{B65E1944-8CB7-4D4A-8135-6F061734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3340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AC Actor-title">
            <a:extLst xmlns:a="http://schemas.openxmlformats.org/drawingml/2006/main">
              <a:ext uri="{FF2B5EF4-FFF2-40B4-BE49-F238E27FC236}">
                <a16:creationId xmlns:a16="http://schemas.microsoft.com/office/drawing/2014/main" id="{CBD252BC-33D2-4253-911A-5B028C5F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3340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SAC Actor</a:t>
            </a:r>
          </a:p>
        </p:txBody>
      </p:sp>
      <p:sp>
        <p:nvSpPr>
          <p:cNvPr id="32" name="SAC Actor-body">
            <a:extLst xmlns:a="http://schemas.openxmlformats.org/drawingml/2006/main">
              <a:ext uri="{FF2B5EF4-FFF2-40B4-BE49-F238E27FC236}">
                <a16:creationId xmlns:a16="http://schemas.microsoft.com/office/drawing/2014/main" id="{826ECF06-7792-46AA-B6F2-3B79FEC6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800725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95092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训练：高斯分布采样 μ, 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评估：策略均值 tanh(μ)</a:t>
            </a:r>
          </a:p>
        </p:txBody>
      </p:sp>
      <p:sp>
        <p:nvSpPr>
          <p:cNvPr id="33" name="连续动作">
            <a:extLst xmlns:a="http://schemas.openxmlformats.org/drawingml/2006/main">
              <a:ext uri="{FF2B5EF4-FFF2-40B4-BE49-F238E27FC236}">
                <a16:creationId xmlns:a16="http://schemas.microsoft.com/office/drawing/2014/main" id="{D577FDB1-E72B-4FAD-AE00-6EA00A6A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14950"/>
            <a:ext cx="1619250" cy="1581150"/>
          </a:xfrm>
          <a:prstGeom xmlns:a="http://schemas.openxmlformats.org/drawingml/2006/main" prst="roundRect">
            <a:avLst>
              <a:gd name="adj" fmla="val 843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AF7"/>
              </a:gs>
            </a:gsLst>
            <a:lin ang="0"/>
          </a:gradFill>
          <a:ln xmlns:a="http://schemas.openxmlformats.org/drawingml/2006/main" w="19050">
            <a:solidFill>
              <a:srgbClr val="07867F"/>
            </a:solidFill>
            <a:prstDash val="solid"/>
          </a:ln>
        </p:spPr>
      </p:sp>
      <p:sp>
        <p:nvSpPr>
          <p:cNvPr id="34" name="连续动作-header">
            <a:extLst xmlns:a="http://schemas.openxmlformats.org/drawingml/2006/main">
              <a:ext uri="{FF2B5EF4-FFF2-40B4-BE49-F238E27FC236}">
                <a16:creationId xmlns:a16="http://schemas.microsoft.com/office/drawing/2014/main" id="{5A376963-7F98-4EE5-8B34-7AE5DE41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34000"/>
            <a:ext cx="1581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连续动作-title">
            <a:extLst xmlns:a="http://schemas.openxmlformats.org/drawingml/2006/main">
              <a:ext uri="{FF2B5EF4-FFF2-40B4-BE49-F238E27FC236}">
                <a16:creationId xmlns:a16="http://schemas.microsoft.com/office/drawing/2014/main" id="{61DEA131-219C-4048-B711-02F5AF0C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3340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连续动作</a:t>
            </a:r>
          </a:p>
        </p:txBody>
      </p:sp>
      <p:sp>
        <p:nvSpPr>
          <p:cNvPr id="36" name="连续动作-body">
            <a:extLst xmlns:a="http://schemas.openxmlformats.org/drawingml/2006/main">
              <a:ext uri="{FF2B5EF4-FFF2-40B4-BE49-F238E27FC236}">
                <a16:creationId xmlns:a16="http://schemas.microsoft.com/office/drawing/2014/main" id="{DCE5FAC1-D24E-44AD-A790-A2FE0A4D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800725"/>
            <a:ext cx="1390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牵引 / 制动比例</a:t>
            </a:r>
          </a:p>
        </p:txBody>
      </p:sp>
      <p:sp>
        <p:nvSpPr>
          <p:cNvPr id="37" name="安全执行层">
            <a:extLst xmlns:a="http://schemas.openxmlformats.org/drawingml/2006/main">
              <a:ext uri="{FF2B5EF4-FFF2-40B4-BE49-F238E27FC236}">
                <a16:creationId xmlns:a16="http://schemas.microsoft.com/office/drawing/2014/main" id="{16DF0989-742C-465C-A914-44AD0A56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14950"/>
            <a:ext cx="2000250" cy="2000250"/>
          </a:xfrm>
          <a:prstGeom xmlns:a="http://schemas.openxmlformats.org/drawingml/2006/main" prst="roundRect">
            <a:avLst>
              <a:gd name="adj" fmla="val 6667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AF7"/>
              </a:gs>
            </a:gsLst>
            <a:lin ang="0"/>
          </a:gradFill>
          <a:ln xmlns:a="http://schemas.openxmlformats.org/drawingml/2006/main" w="19050">
            <a:solidFill>
              <a:srgbClr val="07867F"/>
            </a:solidFill>
            <a:prstDash val="solid"/>
          </a:ln>
        </p:spPr>
      </p:sp>
      <p:sp>
        <p:nvSpPr>
          <p:cNvPr id="38" name="安全执行层-header">
            <a:extLst xmlns:a="http://schemas.openxmlformats.org/drawingml/2006/main">
              <a:ext uri="{FF2B5EF4-FFF2-40B4-BE49-F238E27FC236}">
                <a16:creationId xmlns:a16="http://schemas.microsoft.com/office/drawing/2014/main" id="{5AEE818F-6CF8-4A14-B6DF-B4752DE4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0"/>
            <a:ext cx="1962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安全执行层-title">
            <a:extLst xmlns:a="http://schemas.openxmlformats.org/drawingml/2006/main">
              <a:ext uri="{FF2B5EF4-FFF2-40B4-BE49-F238E27FC236}">
                <a16:creationId xmlns:a16="http://schemas.microsoft.com/office/drawing/2014/main" id="{8252742B-D263-4227-B3F6-24FBEA40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3340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安全执行层</a:t>
            </a:r>
          </a:p>
        </p:txBody>
      </p:sp>
      <p:sp>
        <p:nvSpPr>
          <p:cNvPr id="40" name="安全执行层-body">
            <a:extLst xmlns:a="http://schemas.openxmlformats.org/drawingml/2006/main">
              <a:ext uri="{FF2B5EF4-FFF2-40B4-BE49-F238E27FC236}">
                <a16:creationId xmlns:a16="http://schemas.microsoft.com/office/drawing/2014/main" id="{5106F401-8E3E-4311-8C5D-956D40EC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800725"/>
            <a:ext cx="17716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牵引、功率、制动力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及加速度硬约束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预测超速时最小安全投影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终点停车保护</a:t>
            </a:r>
          </a:p>
        </p:txBody>
      </p:sp>
      <p:sp>
        <p:nvSpPr>
          <p:cNvPr id="41" name="列车与线路环境">
            <a:extLst xmlns:a="http://schemas.openxmlformats.org/drawingml/2006/main">
              <a:ext uri="{FF2B5EF4-FFF2-40B4-BE49-F238E27FC236}">
                <a16:creationId xmlns:a16="http://schemas.microsoft.com/office/drawing/2014/main" id="{CB019EBE-DC7B-4031-99AF-27080FD2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314950"/>
            <a:ext cx="1676400" cy="1581150"/>
          </a:xfrm>
          <a:prstGeom xmlns:a="http://schemas.openxmlformats.org/drawingml/2006/main" prst="roundRect">
            <a:avLst>
              <a:gd name="adj" fmla="val 843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AF7"/>
              </a:gs>
            </a:gsLst>
            <a:lin ang="0"/>
          </a:gradFill>
          <a:ln xmlns:a="http://schemas.openxmlformats.org/drawingml/2006/main" w="19050">
            <a:solidFill>
              <a:srgbClr val="07867F"/>
            </a:solidFill>
            <a:prstDash val="solid"/>
          </a:ln>
        </p:spPr>
      </p:sp>
      <p:sp>
        <p:nvSpPr>
          <p:cNvPr id="42" name="列车与线路环境-header">
            <a:extLst xmlns:a="http://schemas.openxmlformats.org/drawingml/2006/main">
              <a:ext uri="{FF2B5EF4-FFF2-40B4-BE49-F238E27FC236}">
                <a16:creationId xmlns:a16="http://schemas.microsoft.com/office/drawing/2014/main" id="{2482A2E4-1191-4CEE-8F99-5E6CF4DB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5334000"/>
            <a:ext cx="1638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列车与线路环境-title">
            <a:extLst xmlns:a="http://schemas.openxmlformats.org/drawingml/2006/main">
              <a:ext uri="{FF2B5EF4-FFF2-40B4-BE49-F238E27FC236}">
                <a16:creationId xmlns:a16="http://schemas.microsoft.com/office/drawing/2014/main" id="{4C7FFAB6-A88F-49BB-BB42-5744EC8A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53340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列车与线路环境</a:t>
            </a:r>
          </a:p>
        </p:txBody>
      </p:sp>
      <p:sp>
        <p:nvSpPr>
          <p:cNvPr id="44" name="列车与线路环境-body">
            <a:extLst xmlns:a="http://schemas.openxmlformats.org/drawingml/2006/main">
              <a:ext uri="{FF2B5EF4-FFF2-40B4-BE49-F238E27FC236}">
                <a16:creationId xmlns:a16="http://schemas.microsoft.com/office/drawing/2014/main" id="{2B50CBC5-79E4-4CA9-9AD9-26D10224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80072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Davis阻力、坡度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曲线、限速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纵向动力学</a:t>
            </a:r>
          </a:p>
        </p:txBody>
      </p:sp>
      <p:sp>
        <p:nvSpPr>
          <p:cNvPr id="45" name="critic-replay">
            <a:extLst xmlns:a="http://schemas.openxmlformats.org/drawingml/2006/main">
              <a:ext uri="{FF2B5EF4-FFF2-40B4-BE49-F238E27FC236}">
                <a16:creationId xmlns:a16="http://schemas.microsoft.com/office/drawing/2014/main" id="{EA59D0A5-BD82-4FDF-899E-82E2EFA8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181850"/>
            <a:ext cx="2190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6F2FF"/>
          </a:soli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D098FB-4872-45DE-B650-944E42E6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72485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9456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双 Critic + 经验回放池</a:t>
            </a:r>
          </a:p>
        </p:txBody>
      </p:sp>
      <p:cxnSp>
        <p:nvCxnSpPr>
          <p:cNvPr id="112" name=""/>
          <p:cNvCxnSpPr>
            <a:stCxn xmlns:a="http://schemas.openxmlformats.org/drawingml/2006/main" id="2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4352925" y="61055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68AA"/>
            </a:solidFill>
            <a:prstDash val="solid"/>
            <a:tailEnd type="triangle" w="med" len="med"/>
          </a:ln>
        </p:spPr>
      </p:cxnSp>
      <p:cxnSp>
        <p:nvCxnSpPr>
          <p:cNvPr id="113" name=""/>
          <p:cNvCxnSpPr>
            <a:stCxn xmlns:a="http://schemas.openxmlformats.org/drawingml/2006/main" id="29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6724650" y="6105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68AA"/>
            </a:solidFill>
            <a:prstDash val="solid"/>
            <a:tailEnd type="triangle" w="med" len="med"/>
          </a:ln>
        </p:spPr>
      </p:cxnSp>
      <p:cxnSp>
        <p:nvCxnSpPr>
          <p:cNvPr id="114" name=""/>
          <p:cNvCxnSpPr>
            <a:stCxn xmlns:a="http://schemas.openxmlformats.org/drawingml/2006/main" id="33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8591550" y="6105525"/>
            <a:ext cx="24765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68AA"/>
            </a:solidFill>
            <a:prstDash val="solid"/>
            <a:tailEnd type="triangle" w="med" len="med"/>
          </a:ln>
        </p:spPr>
      </p:cxnSp>
      <p:cxnSp>
        <p:nvCxnSpPr>
          <p:cNvPr id="115" name=""/>
          <p:cNvCxnSpPr>
            <a:stCxn xmlns:a="http://schemas.openxmlformats.org/drawingml/2006/main" id="37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V="1">
            <a:off x="10839450" y="6105525"/>
            <a:ext cx="24765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68AA"/>
            </a:solidFill>
            <a:prstDash val="solid"/>
            <a:tailEnd type="triangle" w="med" len="med"/>
          </a:ln>
        </p:spPr>
      </p:cxnSp>
      <p:cxnSp>
        <p:nvCxnSpPr>
          <p:cNvPr id="116" name=""/>
          <p:cNvCxnSpPr>
            <a:stCxn xmlns:a="http://schemas.openxmlformats.org/drawingml/2006/main" id="29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5657850" y="6896100"/>
            <a:ext cx="9525" cy="285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1368AA"/>
            </a:solidFill>
            <a:prstDash val="solid"/>
            <a:tailEnd type="triangle" w="med" len="med"/>
          </a:ln>
        </p:spPr>
      </p:cxnSp>
      <p:cxnSp>
        <p:nvCxnSpPr>
          <p:cNvPr id="117" name=""/>
          <p:cNvCxnSpPr>
            <a:stCxn xmlns:a="http://schemas.openxmlformats.org/drawingml/2006/main" id="45" idx="0"/>
            <a:endCxn xmlns:a="http://schemas.openxmlformats.org/drawingml/2006/main" id="29" idx="2"/>
          </p:cNvCxnSpPr>
          <p:nvPr/>
        </p:nvCxnSpPr>
        <p:spPr>
          <a:xfrm xmlns:a="http://schemas.openxmlformats.org/drawingml/2006/main" flipH="1" flipV="1">
            <a:off x="5657850" y="6896100"/>
            <a:ext cx="9525" cy="285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1368AA"/>
            </a:solidFill>
            <a:prstDash val="solid"/>
            <a:tailEnd type="triangle" w="med" len="me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AD52E34-4C1A-4B4F-9655-047D0737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98182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Q值估计与策略更新</a:t>
            </a:r>
          </a:p>
        </p:txBody>
      </p:sp>
      <p:sp>
        <p:nvSpPr>
          <p:cNvPr id="54" name="基础数据">
            <a:extLst xmlns:a="http://schemas.openxmlformats.org/drawingml/2006/main">
              <a:ext uri="{FF2B5EF4-FFF2-40B4-BE49-F238E27FC236}">
                <a16:creationId xmlns:a16="http://schemas.microsoft.com/office/drawing/2014/main" id="{47FBBC3D-FB04-4DA3-B790-5BB2F44C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3257550"/>
            <a:ext cx="2000250" cy="1943100"/>
          </a:xfrm>
          <a:prstGeom xmlns:a="http://schemas.openxmlformats.org/drawingml/2006/main" prst="roundRect">
            <a:avLst>
              <a:gd name="adj" fmla="val 6863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55" name="基础数据-header">
            <a:extLst xmlns:a="http://schemas.openxmlformats.org/drawingml/2006/main">
              <a:ext uri="{FF2B5EF4-FFF2-40B4-BE49-F238E27FC236}">
                <a16:creationId xmlns:a16="http://schemas.microsoft.com/office/drawing/2014/main" id="{4915EDBA-A393-4E30-B2BA-248DFCBD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276600"/>
            <a:ext cx="196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基础数据-title">
            <a:extLst xmlns:a="http://schemas.openxmlformats.org/drawingml/2006/main">
              <a:ext uri="{FF2B5EF4-FFF2-40B4-BE49-F238E27FC236}">
                <a16:creationId xmlns:a16="http://schemas.microsoft.com/office/drawing/2014/main" id="{18DFDB3A-1274-44A1-BC27-36A7C189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327660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基础数据</a:t>
            </a:r>
          </a:p>
        </p:txBody>
      </p:sp>
      <p:sp>
        <p:nvSpPr>
          <p:cNvPr id="57" name="基础数据-body">
            <a:extLst xmlns:a="http://schemas.openxmlformats.org/drawingml/2006/main">
              <a:ext uri="{FF2B5EF4-FFF2-40B4-BE49-F238E27FC236}">
                <a16:creationId xmlns:a16="http://schemas.microsoft.com/office/drawing/2014/main" id="{A9DA9347-13CE-4C47-8DAF-BB19F61A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00475"/>
            <a:ext cx="17716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真实时刻表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线路坡度 / 曲线 / 限速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列车质量与牵引特性</a:t>
            </a:r>
          </a:p>
        </p:txBody>
      </p:sp>
      <p:sp>
        <p:nvSpPr>
          <p:cNvPr id="58" name="结果">
            <a:extLst xmlns:a="http://schemas.openxmlformats.org/drawingml/2006/main">
              <a:ext uri="{FF2B5EF4-FFF2-40B4-BE49-F238E27FC236}">
                <a16:creationId xmlns:a16="http://schemas.microsoft.com/office/drawing/2014/main" id="{6204427A-540F-4637-815B-4E6F58A4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295650"/>
            <a:ext cx="1981200" cy="2266950"/>
          </a:xfrm>
          <a:prstGeom xmlns:a="http://schemas.openxmlformats.org/drawingml/2006/main" prst="roundRect">
            <a:avLst>
              <a:gd name="adj" fmla="val 6731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8F4FF"/>
              </a:gs>
            </a:gsLst>
            <a:lin ang="0"/>
          </a:gradFill>
          <a:ln xmlns:a="http://schemas.openxmlformats.org/drawingml/2006/main" w="19050">
            <a:solidFill>
              <a:srgbClr val="1368AA"/>
            </a:solidFill>
            <a:prstDash val="solid"/>
          </a:ln>
        </p:spPr>
      </p:sp>
      <p:sp>
        <p:nvSpPr>
          <p:cNvPr id="59" name="结果-header">
            <a:extLst xmlns:a="http://schemas.openxmlformats.org/drawingml/2006/main">
              <a:ext uri="{FF2B5EF4-FFF2-40B4-BE49-F238E27FC236}">
                <a16:creationId xmlns:a16="http://schemas.microsoft.com/office/drawing/2014/main" id="{B3BB9288-9612-4A65-A8BA-C8CD52F9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3314700"/>
            <a:ext cx="1943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结果-title">
            <a:extLst xmlns:a="http://schemas.openxmlformats.org/drawingml/2006/main">
              <a:ext uri="{FF2B5EF4-FFF2-40B4-BE49-F238E27FC236}">
                <a16:creationId xmlns:a16="http://schemas.microsoft.com/office/drawing/2014/main" id="{15D261EC-D53C-4A73-8F23-7F865B3E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175" y="33147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61" name="结果-body">
            <a:extLst xmlns:a="http://schemas.openxmlformats.org/drawingml/2006/main">
              <a:ext uri="{FF2B5EF4-FFF2-40B4-BE49-F238E27FC236}">
                <a16:creationId xmlns:a16="http://schemas.microsoft.com/office/drawing/2014/main" id="{2B5A9A84-B84F-486A-B823-32716548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3838575"/>
            <a:ext cx="17526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优化时刻表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速度轨迹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牵引 / 制动力曲线</a:t>
            </a:r>
          </a:p>
          <a:p xmlns:a="http://schemas.openxmlformats.org/drawingml/2006/main">
            <a:pPr algn="ctr">
              <a:def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能耗与可行率</a:t>
            </a:r>
          </a:p>
        </p:txBody>
      </p:sp>
      <p:cxnSp>
        <p:nvCxnSpPr>
          <p:cNvPr id="127" name=""/>
          <p:cNvCxnSpPr>
            <a:stCxn xmlns:a="http://schemas.openxmlformats.org/drawingml/2006/main" id="54" idx="0"/>
            <a:endCxn xmlns:a="http://schemas.openxmlformats.org/drawingml/2006/main" id="1" idx="1"/>
          </p:cNvCxnSpPr>
          <p:nvPr/>
        </p:nvCxnSpPr>
        <p:spPr>
          <a:xfrm xmlns:a="http://schemas.openxmlformats.org/drawingml/2006/main" flipV="1">
            <a:off x="1114425" y="1543050"/>
            <a:ext cx="1362075" cy="1714500"/>
          </a:xfrm>
          <a:prstGeom xmlns:a="http://schemas.openxmlformats.org/drawingml/2006/main" prst="bentConnector5">
            <a:avLst>
              <a:gd name="adj1" fmla="val 0"/>
              <a:gd name="adj2" fmla="val 13333"/>
              <a:gd name="adj3" fmla="val 83217"/>
            </a:avLst>
          </a:prstGeom>
          <a:ln xmlns:a="http://schemas.openxmlformats.org/drawingml/2006/main" w="38100">
            <a:solidFill>
              <a:srgbClr val="1368AA"/>
            </a:solidFill>
            <a:prstDash val="solid"/>
            <a:tailEnd type="triangle" w="med" len="med"/>
          </a:ln>
        </p:spPr>
      </p:cxnSp>
      <p:cxnSp>
        <p:nvCxnSpPr>
          <p:cNvPr id="128" name=""/>
          <p:cNvCxnSpPr>
            <a:stCxn xmlns:a="http://schemas.openxmlformats.org/drawingml/2006/main" id="54" idx="2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114425" y="5200650"/>
            <a:ext cx="1381125" cy="9048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38100">
            <a:solidFill>
              <a:srgbClr val="1368AA"/>
            </a:solidFill>
            <a:prstDash val="solid"/>
            <a:tailEnd type="triangle" w="med" len="med"/>
          </a:ln>
        </p:spPr>
      </p:cxnSp>
      <p:cxnSp>
        <p:nvCxnSpPr>
          <p:cNvPr id="129" name=""/>
          <p:cNvCxnSpPr>
            <a:stCxn xmlns:a="http://schemas.openxmlformats.org/drawingml/2006/main" id="1" idx="3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12763500" y="1543050"/>
            <a:ext cx="1371600" cy="1752600"/>
          </a:xfrm>
          <a:prstGeom xmlns:a="http://schemas.openxmlformats.org/drawingml/2006/main" prst="bentConnector2">
            <a:avLst/>
          </a:prstGeom>
          <a:ln xmlns:a="http://schemas.openxmlformats.org/drawingml/2006/main" w="38100">
            <a:solidFill>
              <a:srgbClr val="1368AA"/>
            </a:solidFill>
            <a:prstDash val="solid"/>
            <a:tailEnd type="triangle" w="med" len="med"/>
          </a:ln>
        </p:spPr>
      </p:cxnSp>
      <p:cxnSp>
        <p:nvCxnSpPr>
          <p:cNvPr id="130" name=""/>
          <p:cNvCxnSpPr>
            <a:stCxn xmlns:a="http://schemas.openxmlformats.org/drawingml/2006/main" id="41" idx="3"/>
            <a:endCxn xmlns:a="http://schemas.openxmlformats.org/drawingml/2006/main" id="58" idx="2"/>
          </p:cNvCxnSpPr>
          <p:nvPr/>
        </p:nvCxnSpPr>
        <p:spPr>
          <a:xfrm xmlns:a="http://schemas.openxmlformats.org/drawingml/2006/main" flipV="1">
            <a:off x="12763500" y="5562600"/>
            <a:ext cx="1371600" cy="542925"/>
          </a:xfrm>
          <a:prstGeom xmlns:a="http://schemas.openxmlformats.org/drawingml/2006/main" prst="bentConnector2">
            <a:avLst/>
          </a:prstGeom>
          <a:ln xmlns:a="http://schemas.openxmlformats.org/drawingml/2006/main" w="38100">
            <a:solidFill>
              <a:srgbClr val="1368AA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915775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2026-09-27T07:37:59.1050000Z</dcterms:created>
  <dcterms:modified xsi:type="dcterms:W3CDTF">2026-09-27T07:37:59.1050000Z</dcterms:modified>
</coreProperties>
</file>